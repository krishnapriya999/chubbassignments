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0"/>
  </p:notesMasterIdLst>
  <p:handoutMasterIdLst>
    <p:handoutMasterId r:id="rId31"/>
  </p:handoutMasterIdLst>
  <p:sldIdLst>
    <p:sldId id="257" r:id="rId5"/>
    <p:sldId id="258" r:id="rId6"/>
    <p:sldId id="259" r:id="rId7"/>
    <p:sldId id="260" r:id="rId8"/>
    <p:sldId id="267" r:id="rId9"/>
    <p:sldId id="261" r:id="rId10"/>
    <p:sldId id="268" r:id="rId11"/>
    <p:sldId id="281" r:id="rId12"/>
    <p:sldId id="269" r:id="rId13"/>
    <p:sldId id="282" r:id="rId14"/>
    <p:sldId id="263" r:id="rId15"/>
    <p:sldId id="270" r:id="rId16"/>
    <p:sldId id="265" r:id="rId17"/>
    <p:sldId id="271" r:id="rId18"/>
    <p:sldId id="272" r:id="rId19"/>
    <p:sldId id="279" r:id="rId20"/>
    <p:sldId id="280" r:id="rId21"/>
    <p:sldId id="273" r:id="rId22"/>
    <p:sldId id="276" r:id="rId23"/>
    <p:sldId id="277" r:id="rId24"/>
    <p:sldId id="278" r:id="rId25"/>
    <p:sldId id="275" r:id="rId26"/>
    <p:sldId id="283" r:id="rId27"/>
    <p:sldId id="274" r:id="rId28"/>
    <p:sldId id="26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3840" userDrawn="1">
          <p15:clr>
            <a:srgbClr val="A4A3A4"/>
          </p15:clr>
        </p15:guide>
        <p15:guide id="3" pos="456" userDrawn="1">
          <p15:clr>
            <a:srgbClr val="A4A3A4"/>
          </p15:clr>
        </p15:guide>
        <p15:guide id="4" pos="720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3ADA"/>
    <a:srgbClr val="7BEBD8"/>
    <a:srgbClr val="8335E5"/>
    <a:srgbClr val="6B8DE1"/>
    <a:srgbClr val="6C92E1"/>
    <a:srgbClr val="6313DC"/>
    <a:srgbClr val="030553"/>
    <a:srgbClr val="7D4BC9"/>
    <a:srgbClr val="16286E"/>
    <a:srgbClr val="6524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94AED4-FFA6-4008-9CC0-BF9AED8AA9BE}" v="3299" dt="2026-01-04T11:02:33.6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52" autoAdjust="0"/>
  </p:normalViewPr>
  <p:slideViewPr>
    <p:cSldViewPr snapToGrid="0" showGuides="1">
      <p:cViewPr varScale="1">
        <p:scale>
          <a:sx n="84" d="100"/>
          <a:sy n="84" d="100"/>
        </p:scale>
        <p:origin x="566" y="77"/>
      </p:cViewPr>
      <p:guideLst>
        <p:guide orient="horz" pos="2064"/>
        <p:guide pos="3840"/>
        <p:guide pos="456"/>
        <p:guide pos="7200"/>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60" d="100"/>
          <a:sy n="60" d="100"/>
        </p:scale>
        <p:origin x="3187" y="43"/>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2AF506F9-91AB-457B-A321-BA32DFC452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EE71BC67-B9B6-41AE-BB4E-51234F2098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19C063D-436A-410C-A490-190D73BB5D3E}" type="datetimeFigureOut">
              <a:rPr lang="en-US" smtClean="0"/>
              <a:t>06/01/2026</a:t>
            </a:fld>
            <a:endParaRPr lang="en-US" dirty="0"/>
          </a:p>
        </p:txBody>
      </p:sp>
      <p:sp>
        <p:nvSpPr>
          <p:cNvPr id="4" name="Footer Placeholder 3">
            <a:extLst>
              <a:ext uri="{FF2B5EF4-FFF2-40B4-BE49-F238E27FC236}">
                <a16:creationId xmlns:a16="http://schemas.microsoft.com/office/drawing/2014/main" xmlns="" id="{A0E2BB79-F5ED-4C7F-A869-D9A323F2CA0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A40207CB-184F-4400-BBE4-E0B71DE0626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28996C-DF1E-45F4-80FD-86472FDB10B8}" type="slidenum">
              <a:rPr lang="en-US" smtClean="0"/>
              <a:t>‹#›</a:t>
            </a:fld>
            <a:endParaRPr lang="en-US" dirty="0"/>
          </a:p>
        </p:txBody>
      </p:sp>
    </p:spTree>
    <p:extLst>
      <p:ext uri="{BB962C8B-B14F-4D97-AF65-F5344CB8AC3E}">
        <p14:creationId xmlns:p14="http://schemas.microsoft.com/office/powerpoint/2010/main" val="1401684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B8BDD7-4F37-46AB-9A13-BF4D77EDD71D}" type="datetimeFigureOut">
              <a:rPr lang="en-US" smtClean="0"/>
              <a:t>06/01/2026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F8F48A-6110-47DA-8521-A1D1FFD22FEF}" type="slidenum">
              <a:rPr lang="en-US" smtClean="0"/>
              <a:t>‹#›</a:t>
            </a:fld>
            <a:endParaRPr lang="en-US" dirty="0"/>
          </a:p>
        </p:txBody>
      </p:sp>
    </p:spTree>
    <p:extLst>
      <p:ext uri="{BB962C8B-B14F-4D97-AF65-F5344CB8AC3E}">
        <p14:creationId xmlns:p14="http://schemas.microsoft.com/office/powerpoint/2010/main" val="3451491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1</a:t>
            </a:fld>
            <a:endParaRPr lang="en-US" dirty="0"/>
          </a:p>
        </p:txBody>
      </p:sp>
    </p:spTree>
    <p:extLst>
      <p:ext uri="{BB962C8B-B14F-4D97-AF65-F5344CB8AC3E}">
        <p14:creationId xmlns:p14="http://schemas.microsoft.com/office/powerpoint/2010/main" val="4679097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a:r>
          </a:p>
        </p:txBody>
      </p:sp>
      <p:sp>
        <p:nvSpPr>
          <p:cNvPr id="4" name="Slide Number Placeholder 3"/>
          <p:cNvSpPr>
            <a:spLocks noGrp="1"/>
          </p:cNvSpPr>
          <p:nvPr>
            <p:ph type="sldNum" sz="quarter" idx="10"/>
          </p:nvPr>
        </p:nvSpPr>
        <p:spPr/>
        <p:txBody>
          <a:bodyPr/>
          <a:lstStyle/>
          <a:p>
            <a:fld id="{6DF8F48A-6110-47DA-8521-A1D1FFD22FEF}" type="slidenum">
              <a:rPr lang="en-US" smtClean="0"/>
              <a:t>2</a:t>
            </a:fld>
            <a:endParaRPr lang="en-US"/>
          </a:p>
        </p:txBody>
      </p:sp>
    </p:spTree>
    <p:extLst>
      <p:ext uri="{BB962C8B-B14F-4D97-AF65-F5344CB8AC3E}">
        <p14:creationId xmlns:p14="http://schemas.microsoft.com/office/powerpoint/2010/main" val="204202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3</a:t>
            </a:fld>
            <a:endParaRPr lang="en-US" dirty="0"/>
          </a:p>
        </p:txBody>
      </p:sp>
    </p:spTree>
    <p:extLst>
      <p:ext uri="{BB962C8B-B14F-4D97-AF65-F5344CB8AC3E}">
        <p14:creationId xmlns:p14="http://schemas.microsoft.com/office/powerpoint/2010/main" val="671800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4</a:t>
            </a:fld>
            <a:endParaRPr lang="en-US" dirty="0"/>
          </a:p>
        </p:txBody>
      </p:sp>
    </p:spTree>
    <p:extLst>
      <p:ext uri="{BB962C8B-B14F-4D97-AF65-F5344CB8AC3E}">
        <p14:creationId xmlns:p14="http://schemas.microsoft.com/office/powerpoint/2010/main" val="2369867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F8C8859-37C0-B830-F590-B4BEFFA8A4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61D73B43-02E0-D9A2-7E56-6B71A92C4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4143B4ED-9036-38DC-2076-FF2929107E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499FA407-09A8-9A53-11FF-EB8D52CE20A9}"/>
              </a:ext>
            </a:extLst>
          </p:cNvPr>
          <p:cNvSpPr>
            <a:spLocks noGrp="1"/>
          </p:cNvSpPr>
          <p:nvPr>
            <p:ph type="sldNum" sz="quarter" idx="5"/>
          </p:nvPr>
        </p:nvSpPr>
        <p:spPr/>
        <p:txBody>
          <a:bodyPr/>
          <a:lstStyle/>
          <a:p>
            <a:fld id="{6DF8F48A-6110-47DA-8521-A1D1FFD22FEF}" type="slidenum">
              <a:rPr lang="en-US" smtClean="0"/>
              <a:t>5</a:t>
            </a:fld>
            <a:endParaRPr lang="en-US" dirty="0"/>
          </a:p>
        </p:txBody>
      </p:sp>
    </p:spTree>
    <p:extLst>
      <p:ext uri="{BB962C8B-B14F-4D97-AF65-F5344CB8AC3E}">
        <p14:creationId xmlns:p14="http://schemas.microsoft.com/office/powerpoint/2010/main" val="1559039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6</a:t>
            </a:fld>
            <a:endParaRPr lang="en-US" dirty="0"/>
          </a:p>
        </p:txBody>
      </p:sp>
    </p:spTree>
    <p:extLst>
      <p:ext uri="{BB962C8B-B14F-4D97-AF65-F5344CB8AC3E}">
        <p14:creationId xmlns:p14="http://schemas.microsoft.com/office/powerpoint/2010/main" val="3708814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11</a:t>
            </a:fld>
            <a:endParaRPr lang="en-US" dirty="0"/>
          </a:p>
        </p:txBody>
      </p:sp>
    </p:spTree>
    <p:extLst>
      <p:ext uri="{BB962C8B-B14F-4D97-AF65-F5344CB8AC3E}">
        <p14:creationId xmlns:p14="http://schemas.microsoft.com/office/powerpoint/2010/main" val="3090774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DF8F48A-6110-47DA-8521-A1D1FFD22FEF}" type="slidenum">
              <a:rPr lang="en-US" smtClean="0"/>
              <a:t>13</a:t>
            </a:fld>
            <a:endParaRPr lang="en-US" dirty="0"/>
          </a:p>
        </p:txBody>
      </p:sp>
    </p:spTree>
    <p:extLst>
      <p:ext uri="{BB962C8B-B14F-4D97-AF65-F5344CB8AC3E}">
        <p14:creationId xmlns:p14="http://schemas.microsoft.com/office/powerpoint/2010/main" val="18578855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86F305A-9BDA-2F15-F841-1DB92A0C54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CD3252A3-BB38-AF40-CD75-F84B37339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D3E10362-18E0-551B-FFD5-422A8C7B05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63E02EDD-5311-42D2-8F43-2B0B65AA5FE6}"/>
              </a:ext>
            </a:extLst>
          </p:cNvPr>
          <p:cNvSpPr>
            <a:spLocks noGrp="1"/>
          </p:cNvSpPr>
          <p:nvPr>
            <p:ph type="sldNum" sz="quarter" idx="10"/>
          </p:nvPr>
        </p:nvSpPr>
        <p:spPr/>
        <p:txBody>
          <a:bodyPr/>
          <a:lstStyle/>
          <a:p>
            <a:fld id="{6DF8F48A-6110-47DA-8521-A1D1FFD22FEF}" type="slidenum">
              <a:rPr lang="en-US" smtClean="0"/>
              <a:t>14</a:t>
            </a:fld>
            <a:endParaRPr lang="en-US" dirty="0"/>
          </a:p>
        </p:txBody>
      </p:sp>
    </p:spTree>
    <p:extLst>
      <p:ext uri="{BB962C8B-B14F-4D97-AF65-F5344CB8AC3E}">
        <p14:creationId xmlns:p14="http://schemas.microsoft.com/office/powerpoint/2010/main" val="1415928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F8F48A-6110-47DA-8521-A1D1FFD22FEF}" type="slidenum">
              <a:rPr lang="en-US" smtClean="0"/>
              <a:t>25</a:t>
            </a:fld>
            <a:endParaRPr lang="en-US" dirty="0"/>
          </a:p>
        </p:txBody>
      </p:sp>
    </p:spTree>
    <p:extLst>
      <p:ext uri="{BB962C8B-B14F-4D97-AF65-F5344CB8AC3E}">
        <p14:creationId xmlns:p14="http://schemas.microsoft.com/office/powerpoint/2010/main" val="4262007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B0BBB5-FEB0-47AD-A01D-A9D3462038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xmlns="" id="{58207C41-C17D-4E84-B9CC-CA142B94C1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xmlns="" id="{7245F25D-6082-47DE-9B2C-675944DD1812}"/>
              </a:ext>
            </a:extLst>
          </p:cNvPr>
          <p:cNvSpPr>
            <a:spLocks noGrp="1"/>
          </p:cNvSpPr>
          <p:nvPr>
            <p:ph type="dt" sz="half" idx="10"/>
          </p:nvPr>
        </p:nvSpPr>
        <p:spPr/>
        <p:txBody>
          <a:bodyPr/>
          <a:lstStyle/>
          <a:p>
            <a:fld id="{9294036C-9E7C-4FFC-99FA-414B61E345DD}" type="datetimeFigureOut">
              <a:rPr lang="en-US" smtClean="0"/>
              <a:t>06/01/2026</a:t>
            </a:fld>
            <a:endParaRPr lang="en-US" dirty="0"/>
          </a:p>
        </p:txBody>
      </p:sp>
      <p:sp>
        <p:nvSpPr>
          <p:cNvPr id="5" name="Footer Placeholder 4">
            <a:extLst>
              <a:ext uri="{FF2B5EF4-FFF2-40B4-BE49-F238E27FC236}">
                <a16:creationId xmlns:a16="http://schemas.microsoft.com/office/drawing/2014/main" xmlns="" id="{5E24B0FF-3B25-4E5C-A0A7-4E163636215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09377007-1A01-499B-ACAD-C9F9C20B76F8}"/>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169962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DADCE2-978E-4923-B0E9-4C966B6798C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6CEB0BD6-F012-4C6D-BDAD-9E90ED25A3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EE2F9E5-192C-4E88-9147-D263893B1842}"/>
              </a:ext>
            </a:extLst>
          </p:cNvPr>
          <p:cNvSpPr>
            <a:spLocks noGrp="1"/>
          </p:cNvSpPr>
          <p:nvPr>
            <p:ph type="dt" sz="half" idx="10"/>
          </p:nvPr>
        </p:nvSpPr>
        <p:spPr/>
        <p:txBody>
          <a:bodyPr/>
          <a:lstStyle/>
          <a:p>
            <a:fld id="{9294036C-9E7C-4FFC-99FA-414B61E345DD}" type="datetimeFigureOut">
              <a:rPr lang="en-US" smtClean="0"/>
              <a:t>06/01/2026</a:t>
            </a:fld>
            <a:endParaRPr lang="en-US" dirty="0"/>
          </a:p>
        </p:txBody>
      </p:sp>
      <p:sp>
        <p:nvSpPr>
          <p:cNvPr id="5" name="Footer Placeholder 4">
            <a:extLst>
              <a:ext uri="{FF2B5EF4-FFF2-40B4-BE49-F238E27FC236}">
                <a16:creationId xmlns:a16="http://schemas.microsoft.com/office/drawing/2014/main" xmlns="" id="{794A7138-3EAF-4C9D-903E-55D9BC04027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F8DB0B82-496D-45C3-A682-7AF9AFFB9693}"/>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515126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93DAD0-5F6F-47DA-A010-1C4A30C88A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AC8EFA6E-A768-42A8-B2C3-F100D82609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A2F46640-E89E-47CE-984D-0C0ECF7CF529}"/>
              </a:ext>
            </a:extLst>
          </p:cNvPr>
          <p:cNvSpPr>
            <a:spLocks noGrp="1"/>
          </p:cNvSpPr>
          <p:nvPr>
            <p:ph type="dt" sz="half" idx="10"/>
          </p:nvPr>
        </p:nvSpPr>
        <p:spPr/>
        <p:txBody>
          <a:bodyPr/>
          <a:lstStyle/>
          <a:p>
            <a:fld id="{9294036C-9E7C-4FFC-99FA-414B61E345DD}" type="datetimeFigureOut">
              <a:rPr lang="en-US" smtClean="0"/>
              <a:t>06/01/2026</a:t>
            </a:fld>
            <a:endParaRPr lang="en-US" dirty="0"/>
          </a:p>
        </p:txBody>
      </p:sp>
      <p:sp>
        <p:nvSpPr>
          <p:cNvPr id="5" name="Footer Placeholder 4">
            <a:extLst>
              <a:ext uri="{FF2B5EF4-FFF2-40B4-BE49-F238E27FC236}">
                <a16:creationId xmlns:a16="http://schemas.microsoft.com/office/drawing/2014/main" xmlns="" id="{F4177A8F-F167-4C43-AEE7-45067080142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EA1DA754-ED79-4909-833D-55BF9A5D80BB}"/>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160087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9AA026-BFE6-4D2A-9ABF-C593B56665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214747E8-A36B-4B4A-B2A4-B5283152AB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D6C6B59D-87BD-4F32-B9BC-31F9B1A5D7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85C49B47-0C41-4DCC-9902-126916D9C448}"/>
              </a:ext>
            </a:extLst>
          </p:cNvPr>
          <p:cNvSpPr>
            <a:spLocks noGrp="1"/>
          </p:cNvSpPr>
          <p:nvPr>
            <p:ph type="dt" sz="half" idx="10"/>
          </p:nvPr>
        </p:nvSpPr>
        <p:spPr/>
        <p:txBody>
          <a:bodyPr/>
          <a:lstStyle/>
          <a:p>
            <a:fld id="{9294036C-9E7C-4FFC-99FA-414B61E345DD}" type="datetimeFigureOut">
              <a:rPr lang="en-US" smtClean="0"/>
              <a:t>06/01/2026</a:t>
            </a:fld>
            <a:endParaRPr lang="en-US" dirty="0"/>
          </a:p>
        </p:txBody>
      </p:sp>
      <p:sp>
        <p:nvSpPr>
          <p:cNvPr id="6" name="Footer Placeholder 5">
            <a:extLst>
              <a:ext uri="{FF2B5EF4-FFF2-40B4-BE49-F238E27FC236}">
                <a16:creationId xmlns:a16="http://schemas.microsoft.com/office/drawing/2014/main" xmlns="" id="{B7CD28B7-2F2D-4E80-A107-C1F266C6306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835D650A-4D0F-46AE-A132-267FCD921E82}"/>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219876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64C6F9-F6F6-4EA1-98AA-81B84F7CC0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31B8B83E-B37C-46C9-8284-D6EBA0033C9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19A150B8-0288-44AC-9CE7-E7BD9FB32E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DCF5DCAE-6027-49B9-A818-F45FADE27B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684FAE16-DBCB-4A42-BFFC-053F2D529A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46E8C038-E6A1-499D-9E24-FA5980421C81}"/>
              </a:ext>
            </a:extLst>
          </p:cNvPr>
          <p:cNvSpPr>
            <a:spLocks noGrp="1"/>
          </p:cNvSpPr>
          <p:nvPr>
            <p:ph type="dt" sz="half" idx="10"/>
          </p:nvPr>
        </p:nvSpPr>
        <p:spPr/>
        <p:txBody>
          <a:bodyPr/>
          <a:lstStyle/>
          <a:p>
            <a:fld id="{9294036C-9E7C-4FFC-99FA-414B61E345DD}" type="datetimeFigureOut">
              <a:rPr lang="en-US" smtClean="0"/>
              <a:t>06/01/2026</a:t>
            </a:fld>
            <a:endParaRPr lang="en-US" dirty="0"/>
          </a:p>
        </p:txBody>
      </p:sp>
      <p:sp>
        <p:nvSpPr>
          <p:cNvPr id="8" name="Footer Placeholder 7">
            <a:extLst>
              <a:ext uri="{FF2B5EF4-FFF2-40B4-BE49-F238E27FC236}">
                <a16:creationId xmlns:a16="http://schemas.microsoft.com/office/drawing/2014/main" xmlns="" id="{F9F911B6-A759-487E-8CB6-CF9EF737F07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xmlns="" id="{EA906EC0-369D-4138-8D70-148CFDEE55EE}"/>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8245543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E02F8A-97AC-456C-B9E3-45A7D520C5D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8340F483-F2B9-47A3-9B5C-8C264B7016BD}"/>
              </a:ext>
            </a:extLst>
          </p:cNvPr>
          <p:cNvSpPr>
            <a:spLocks noGrp="1"/>
          </p:cNvSpPr>
          <p:nvPr>
            <p:ph type="dt" sz="half" idx="10"/>
          </p:nvPr>
        </p:nvSpPr>
        <p:spPr/>
        <p:txBody>
          <a:bodyPr/>
          <a:lstStyle/>
          <a:p>
            <a:fld id="{9294036C-9E7C-4FFC-99FA-414B61E345DD}" type="datetimeFigureOut">
              <a:rPr lang="en-US" smtClean="0"/>
              <a:t>06/01/2026</a:t>
            </a:fld>
            <a:endParaRPr lang="en-US" dirty="0"/>
          </a:p>
        </p:txBody>
      </p:sp>
      <p:sp>
        <p:nvSpPr>
          <p:cNvPr id="4" name="Footer Placeholder 3">
            <a:extLst>
              <a:ext uri="{FF2B5EF4-FFF2-40B4-BE49-F238E27FC236}">
                <a16:creationId xmlns:a16="http://schemas.microsoft.com/office/drawing/2014/main" xmlns="" id="{25849874-9D9B-4597-B20D-33D6F58BCA3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xmlns="" id="{5B35894C-9062-435A-9758-82ED9C6D787E}"/>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6817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96A3F6AD-4D61-4238-AB7D-613625BFF81F}"/>
              </a:ext>
            </a:extLst>
          </p:cNvPr>
          <p:cNvSpPr>
            <a:spLocks noGrp="1"/>
          </p:cNvSpPr>
          <p:nvPr>
            <p:ph type="dt" sz="half" idx="10"/>
          </p:nvPr>
        </p:nvSpPr>
        <p:spPr/>
        <p:txBody>
          <a:bodyPr/>
          <a:lstStyle/>
          <a:p>
            <a:fld id="{9294036C-9E7C-4FFC-99FA-414B61E345DD}" type="datetimeFigureOut">
              <a:rPr lang="en-US" smtClean="0"/>
              <a:t>06/01/2026</a:t>
            </a:fld>
            <a:endParaRPr lang="en-US" dirty="0"/>
          </a:p>
        </p:txBody>
      </p:sp>
      <p:sp>
        <p:nvSpPr>
          <p:cNvPr id="3" name="Footer Placeholder 2">
            <a:extLst>
              <a:ext uri="{FF2B5EF4-FFF2-40B4-BE49-F238E27FC236}">
                <a16:creationId xmlns:a16="http://schemas.microsoft.com/office/drawing/2014/main" xmlns="" id="{D8AACDC9-944D-47C6-B286-82C86AD94318}"/>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xmlns="" id="{E4EAAC43-3846-4080-B764-AB2DB308C58A}"/>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821370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6F4779-0336-4AFA-B9A7-259EE8BEC1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DB82F449-DDC3-4694-81E5-91A4B8F433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CF00A2C4-3B2E-46AC-9605-73F5B2CC1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6909769-F5A5-4635-BD0C-D6049DEB9632}"/>
              </a:ext>
            </a:extLst>
          </p:cNvPr>
          <p:cNvSpPr>
            <a:spLocks noGrp="1"/>
          </p:cNvSpPr>
          <p:nvPr>
            <p:ph type="dt" sz="half" idx="10"/>
          </p:nvPr>
        </p:nvSpPr>
        <p:spPr/>
        <p:txBody>
          <a:bodyPr/>
          <a:lstStyle/>
          <a:p>
            <a:fld id="{9294036C-9E7C-4FFC-99FA-414B61E345DD}" type="datetimeFigureOut">
              <a:rPr lang="en-US" smtClean="0"/>
              <a:t>06/01/2026</a:t>
            </a:fld>
            <a:endParaRPr lang="en-US" dirty="0"/>
          </a:p>
        </p:txBody>
      </p:sp>
      <p:sp>
        <p:nvSpPr>
          <p:cNvPr id="6" name="Footer Placeholder 5">
            <a:extLst>
              <a:ext uri="{FF2B5EF4-FFF2-40B4-BE49-F238E27FC236}">
                <a16:creationId xmlns:a16="http://schemas.microsoft.com/office/drawing/2014/main" xmlns="" id="{F9252DC3-D3D7-446F-A866-D7820B7BF87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471CDB00-5218-4567-902B-845073BE8753}"/>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17761285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8F661E4-9FF7-494B-A1C9-C9A1DD7052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5D245657-DA21-4769-84F8-88DC644508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xmlns="" id="{A167B310-6692-4981-9CB8-FE79A091F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7DA2C9E-A9AD-4BB9-A691-90BB84F58CE9}"/>
              </a:ext>
            </a:extLst>
          </p:cNvPr>
          <p:cNvSpPr>
            <a:spLocks noGrp="1"/>
          </p:cNvSpPr>
          <p:nvPr>
            <p:ph type="dt" sz="half" idx="10"/>
          </p:nvPr>
        </p:nvSpPr>
        <p:spPr/>
        <p:txBody>
          <a:bodyPr/>
          <a:lstStyle/>
          <a:p>
            <a:fld id="{9294036C-9E7C-4FFC-99FA-414B61E345DD}" type="datetimeFigureOut">
              <a:rPr lang="en-US" smtClean="0"/>
              <a:t>06/01/2026</a:t>
            </a:fld>
            <a:endParaRPr lang="en-US" dirty="0"/>
          </a:p>
        </p:txBody>
      </p:sp>
      <p:sp>
        <p:nvSpPr>
          <p:cNvPr id="6" name="Footer Placeholder 5">
            <a:extLst>
              <a:ext uri="{FF2B5EF4-FFF2-40B4-BE49-F238E27FC236}">
                <a16:creationId xmlns:a16="http://schemas.microsoft.com/office/drawing/2014/main" xmlns="" id="{F4B3D45D-C826-4846-BBFC-A0D98B7E7A2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xmlns="" id="{93516961-40DC-443E-9DB8-3A987DF499A9}"/>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2631333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081C24-32F4-4208-B651-CDCBFCD031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48B74779-B577-461F-A409-71F6A5A11A0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9B044BD-4FA0-432C-95D7-517D2DE8C4B6}"/>
              </a:ext>
            </a:extLst>
          </p:cNvPr>
          <p:cNvSpPr>
            <a:spLocks noGrp="1"/>
          </p:cNvSpPr>
          <p:nvPr>
            <p:ph type="dt" sz="half" idx="10"/>
          </p:nvPr>
        </p:nvSpPr>
        <p:spPr/>
        <p:txBody>
          <a:bodyPr/>
          <a:lstStyle/>
          <a:p>
            <a:fld id="{9294036C-9E7C-4FFC-99FA-414B61E345DD}" type="datetimeFigureOut">
              <a:rPr lang="en-US" smtClean="0"/>
              <a:t>06/01/2026</a:t>
            </a:fld>
            <a:endParaRPr lang="en-US" dirty="0"/>
          </a:p>
        </p:txBody>
      </p:sp>
      <p:sp>
        <p:nvSpPr>
          <p:cNvPr id="5" name="Footer Placeholder 4">
            <a:extLst>
              <a:ext uri="{FF2B5EF4-FFF2-40B4-BE49-F238E27FC236}">
                <a16:creationId xmlns:a16="http://schemas.microsoft.com/office/drawing/2014/main" xmlns="" id="{AD17F283-FE61-4C9A-9E39-74D429C582C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69F9B807-6FE9-4E47-846B-BCB39B7AE2D5}"/>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103985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D42594DD-FFD4-4AA9-BCDA-0BA87C1463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B79C2B6E-24EB-42CE-8B4D-3178D08C7EB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4C92C56-63F3-4246-AAEE-2FBC89E80248}"/>
              </a:ext>
            </a:extLst>
          </p:cNvPr>
          <p:cNvSpPr>
            <a:spLocks noGrp="1"/>
          </p:cNvSpPr>
          <p:nvPr>
            <p:ph type="dt" sz="half" idx="10"/>
          </p:nvPr>
        </p:nvSpPr>
        <p:spPr/>
        <p:txBody>
          <a:bodyPr/>
          <a:lstStyle/>
          <a:p>
            <a:fld id="{9294036C-9E7C-4FFC-99FA-414B61E345DD}" type="datetimeFigureOut">
              <a:rPr lang="en-US" smtClean="0"/>
              <a:t>06/01/2026</a:t>
            </a:fld>
            <a:endParaRPr lang="en-US" dirty="0"/>
          </a:p>
        </p:txBody>
      </p:sp>
      <p:sp>
        <p:nvSpPr>
          <p:cNvPr id="5" name="Footer Placeholder 4">
            <a:extLst>
              <a:ext uri="{FF2B5EF4-FFF2-40B4-BE49-F238E27FC236}">
                <a16:creationId xmlns:a16="http://schemas.microsoft.com/office/drawing/2014/main" xmlns="" id="{35C10319-C816-40EC-B1D0-FD9748E41D7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xmlns="" id="{3854E9AB-6952-407A-9F06-2EB917172FBD}"/>
              </a:ext>
            </a:extLst>
          </p:cNvPr>
          <p:cNvSpPr>
            <a:spLocks noGrp="1"/>
          </p:cNvSpPr>
          <p:nvPr>
            <p:ph type="sldNum" sz="quarter" idx="12"/>
          </p:nvPr>
        </p:nvSpPr>
        <p:spPr/>
        <p:txBody>
          <a:bodyPr/>
          <a:lstStyle/>
          <a:p>
            <a:fld id="{ED6580AB-5C3C-4B4F-8E2A-8B7A0A8CE695}" type="slidenum">
              <a:rPr lang="en-US" smtClean="0"/>
              <a:t>‹#›</a:t>
            </a:fld>
            <a:endParaRPr lang="en-US" dirty="0"/>
          </a:p>
        </p:txBody>
      </p:sp>
    </p:spTree>
    <p:extLst>
      <p:ext uri="{BB962C8B-B14F-4D97-AF65-F5344CB8AC3E}">
        <p14:creationId xmlns:p14="http://schemas.microsoft.com/office/powerpoint/2010/main" val="360371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E341CFC-63B9-4A19-A8AB-62B9E452AE5E}"/>
              </a:ext>
            </a:extLst>
          </p:cNvPr>
          <p:cNvSpPr>
            <a:spLocks noGrp="1"/>
          </p:cNvSpPr>
          <p:nvPr>
            <p:ph type="title"/>
          </p:nvPr>
        </p:nvSpPr>
        <p:spPr>
          <a:xfrm>
            <a:off x="838200" y="365125"/>
            <a:ext cx="10515600" cy="1325563"/>
          </a:xfrm>
          <a:prstGeom prst="rect">
            <a:avLst/>
          </a:prstGeom>
        </p:spPr>
        <p:txBody>
          <a:bodyPr vert="horz" lIns="0" tIns="0" rIns="0" bIns="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115A838B-134E-40B6-A7E3-1119BB8BF5BD}"/>
              </a:ext>
            </a:extLst>
          </p:cNvPr>
          <p:cNvSpPr>
            <a:spLocks noGrp="1"/>
          </p:cNvSpPr>
          <p:nvPr>
            <p:ph type="body" idx="1"/>
          </p:nvPr>
        </p:nvSpPr>
        <p:spPr>
          <a:xfrm>
            <a:off x="838200" y="1825625"/>
            <a:ext cx="10515600"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E8943BB-9EAD-4CBC-9CA2-75F70C6B58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94036C-9E7C-4FFC-99FA-414B61E345DD}" type="datetimeFigureOut">
              <a:rPr lang="en-US" smtClean="0"/>
              <a:t>06/01/2026</a:t>
            </a:fld>
            <a:endParaRPr lang="en-US" dirty="0"/>
          </a:p>
        </p:txBody>
      </p:sp>
      <p:sp>
        <p:nvSpPr>
          <p:cNvPr id="5" name="Footer Placeholder 4">
            <a:extLst>
              <a:ext uri="{FF2B5EF4-FFF2-40B4-BE49-F238E27FC236}">
                <a16:creationId xmlns:a16="http://schemas.microsoft.com/office/drawing/2014/main" xmlns="" id="{F204E537-5CBA-4B86-9D30-577B9F741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xmlns="" id="{66E79E72-0F12-4646-BCDF-4C9EAA89C2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6580AB-5C3C-4B4F-8E2A-8B7A0A8CE695}" type="slidenum">
              <a:rPr lang="en-US" smtClean="0"/>
              <a:t>‹#›</a:t>
            </a:fld>
            <a:endParaRPr lang="en-US" dirty="0"/>
          </a:p>
        </p:txBody>
      </p:sp>
    </p:spTree>
    <p:extLst>
      <p:ext uri="{BB962C8B-B14F-4D97-AF65-F5344CB8AC3E}">
        <p14:creationId xmlns:p14="http://schemas.microsoft.com/office/powerpoint/2010/main" val="5543780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hidden="1">
            <a:extLst>
              <a:ext uri="{FF2B5EF4-FFF2-40B4-BE49-F238E27FC236}">
                <a16:creationId xmlns:a16="http://schemas.microsoft.com/office/drawing/2014/main" xmlns="" id="{016C325E-5B69-4D07-BBFB-7DB217A69D48}"/>
              </a:ext>
            </a:extLst>
          </p:cNvPr>
          <p:cNvSpPr>
            <a:spLocks noGrp="1"/>
          </p:cNvSpPr>
          <p:nvPr>
            <p:ph type="ctrTitle"/>
          </p:nvPr>
        </p:nvSpPr>
        <p:spPr/>
        <p:txBody>
          <a:bodyPr/>
          <a:lstStyle/>
          <a:p>
            <a:r>
              <a:rPr lang="en-US" dirty="0"/>
              <a:t>Human resources slide 1</a:t>
            </a:r>
          </a:p>
        </p:txBody>
      </p:sp>
      <p:grpSp>
        <p:nvGrpSpPr>
          <p:cNvPr id="56" name="Group 55" descr="This image is an icon of three connected human figures. ">
            <a:extLst>
              <a:ext uri="{FF2B5EF4-FFF2-40B4-BE49-F238E27FC236}">
                <a16:creationId xmlns:a16="http://schemas.microsoft.com/office/drawing/2014/main" xmlns="" id="{E56C5C06-BE0B-4D3E-8B77-1A2F0B930590}"/>
              </a:ext>
            </a:extLst>
          </p:cNvPr>
          <p:cNvGrpSpPr/>
          <p:nvPr/>
        </p:nvGrpSpPr>
        <p:grpSpPr>
          <a:xfrm>
            <a:off x="734679" y="1000769"/>
            <a:ext cx="569186" cy="530997"/>
            <a:chOff x="-27444701" y="-10180638"/>
            <a:chExt cx="10883901" cy="10153650"/>
          </a:xfrm>
          <a:solidFill>
            <a:schemeClr val="bg1">
              <a:lumMod val="50000"/>
            </a:schemeClr>
          </a:solidFill>
        </p:grpSpPr>
        <p:sp>
          <p:nvSpPr>
            <p:cNvPr id="57" name="Freeform 35">
              <a:extLst>
                <a:ext uri="{FF2B5EF4-FFF2-40B4-BE49-F238E27FC236}">
                  <a16:creationId xmlns:a16="http://schemas.microsoft.com/office/drawing/2014/main" xmlns="" id="{D07CC084-C9D4-47CF-9EAD-4A7517F975DF}"/>
                </a:ext>
              </a:extLst>
            </p:cNvPr>
            <p:cNvSpPr>
              <a:spLocks/>
            </p:cNvSpPr>
            <p:nvPr/>
          </p:nvSpPr>
          <p:spPr bwMode="auto">
            <a:xfrm>
              <a:off x="-22969538" y="-10180638"/>
              <a:ext cx="1906588" cy="1978025"/>
            </a:xfrm>
            <a:custGeom>
              <a:avLst/>
              <a:gdLst>
                <a:gd name="T0" fmla="*/ 554 w 639"/>
                <a:gd name="T1" fmla="*/ 327 h 664"/>
                <a:gd name="T2" fmla="*/ 438 w 639"/>
                <a:gd name="T3" fmla="*/ 526 h 664"/>
                <a:gd name="T4" fmla="*/ 204 w 639"/>
                <a:gd name="T5" fmla="*/ 521 h 664"/>
                <a:gd name="T6" fmla="*/ 97 w 639"/>
                <a:gd name="T7" fmla="*/ 316 h 664"/>
                <a:gd name="T8" fmla="*/ 222 w 639"/>
                <a:gd name="T9" fmla="*/ 123 h 664"/>
                <a:gd name="T10" fmla="*/ 447 w 639"/>
                <a:gd name="T11" fmla="*/ 133 h 664"/>
                <a:gd name="T12" fmla="*/ 554 w 639"/>
                <a:gd name="T13" fmla="*/ 327 h 664"/>
                <a:gd name="T14" fmla="*/ 638 w 639"/>
                <a:gd name="T15" fmla="*/ 327 h 664"/>
                <a:gd name="T16" fmla="*/ 519 w 639"/>
                <a:gd name="T17" fmla="*/ 82 h 664"/>
                <a:gd name="T18" fmla="*/ 244 w 639"/>
                <a:gd name="T19" fmla="*/ 25 h 664"/>
                <a:gd name="T20" fmla="*/ 39 w 639"/>
                <a:gd name="T21" fmla="*/ 200 h 664"/>
                <a:gd name="T22" fmla="*/ 53 w 639"/>
                <a:gd name="T23" fmla="*/ 482 h 664"/>
                <a:gd name="T24" fmla="*/ 407 w 639"/>
                <a:gd name="T25" fmla="*/ 629 h 664"/>
                <a:gd name="T26" fmla="*/ 638 w 639"/>
                <a:gd name="T27" fmla="*/ 327 h 664"/>
                <a:gd name="T28" fmla="*/ 554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4" y="327"/>
                  </a:moveTo>
                  <a:cubicBezTo>
                    <a:pt x="553" y="410"/>
                    <a:pt x="510" y="485"/>
                    <a:pt x="438" y="526"/>
                  </a:cubicBezTo>
                  <a:cubicBezTo>
                    <a:pt x="365" y="569"/>
                    <a:pt x="275" y="564"/>
                    <a:pt x="204" y="521"/>
                  </a:cubicBezTo>
                  <a:cubicBezTo>
                    <a:pt x="133" y="478"/>
                    <a:pt x="94" y="398"/>
                    <a:pt x="97" y="316"/>
                  </a:cubicBezTo>
                  <a:cubicBezTo>
                    <a:pt x="99" y="234"/>
                    <a:pt x="150" y="161"/>
                    <a:pt x="222" y="123"/>
                  </a:cubicBezTo>
                  <a:cubicBezTo>
                    <a:pt x="292" y="85"/>
                    <a:pt x="379" y="92"/>
                    <a:pt x="447" y="133"/>
                  </a:cubicBezTo>
                  <a:cubicBezTo>
                    <a:pt x="514" y="174"/>
                    <a:pt x="553" y="249"/>
                    <a:pt x="554" y="327"/>
                  </a:cubicBezTo>
                  <a:cubicBezTo>
                    <a:pt x="555" y="381"/>
                    <a:pt x="639" y="381"/>
                    <a:pt x="638" y="327"/>
                  </a:cubicBezTo>
                  <a:cubicBezTo>
                    <a:pt x="637" y="232"/>
                    <a:pt x="594" y="141"/>
                    <a:pt x="519" y="82"/>
                  </a:cubicBezTo>
                  <a:cubicBezTo>
                    <a:pt x="441" y="21"/>
                    <a:pt x="340" y="0"/>
                    <a:pt x="244" y="25"/>
                  </a:cubicBezTo>
                  <a:cubicBezTo>
                    <a:pt x="154" y="48"/>
                    <a:pt x="76" y="116"/>
                    <a:pt x="39" y="200"/>
                  </a:cubicBezTo>
                  <a:cubicBezTo>
                    <a:pt x="0" y="292"/>
                    <a:pt x="5" y="395"/>
                    <a:pt x="53" y="482"/>
                  </a:cubicBezTo>
                  <a:cubicBezTo>
                    <a:pt x="122" y="606"/>
                    <a:pt x="271" y="664"/>
                    <a:pt x="407" y="629"/>
                  </a:cubicBezTo>
                  <a:cubicBezTo>
                    <a:pt x="543" y="594"/>
                    <a:pt x="637" y="466"/>
                    <a:pt x="638" y="327"/>
                  </a:cubicBezTo>
                  <a:cubicBezTo>
                    <a:pt x="639" y="273"/>
                    <a:pt x="555"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58" name="Freeform 36">
              <a:extLst>
                <a:ext uri="{FF2B5EF4-FFF2-40B4-BE49-F238E27FC236}">
                  <a16:creationId xmlns:a16="http://schemas.microsoft.com/office/drawing/2014/main" xmlns="" id="{CCAAF87D-704F-4EAD-856F-6E1E38EF6161}"/>
                </a:ext>
              </a:extLst>
            </p:cNvPr>
            <p:cNvSpPr>
              <a:spLocks/>
            </p:cNvSpPr>
            <p:nvPr/>
          </p:nvSpPr>
          <p:spPr bwMode="auto">
            <a:xfrm>
              <a:off x="-23596600" y="-8610601"/>
              <a:ext cx="3186113" cy="2139950"/>
            </a:xfrm>
            <a:custGeom>
              <a:avLst/>
              <a:gdLst>
                <a:gd name="T0" fmla="*/ 846 w 1068"/>
                <a:gd name="T1" fmla="*/ 102 h 718"/>
                <a:gd name="T2" fmla="*/ 981 w 1068"/>
                <a:gd name="T3" fmla="*/ 330 h 718"/>
                <a:gd name="T4" fmla="*/ 981 w 1068"/>
                <a:gd name="T5" fmla="*/ 480 h 718"/>
                <a:gd name="T6" fmla="*/ 981 w 1068"/>
                <a:gd name="T7" fmla="*/ 559 h 718"/>
                <a:gd name="T8" fmla="*/ 961 w 1068"/>
                <a:gd name="T9" fmla="*/ 618 h 718"/>
                <a:gd name="T10" fmla="*/ 882 w 1068"/>
                <a:gd name="T11" fmla="*/ 634 h 718"/>
                <a:gd name="T12" fmla="*/ 214 w 1068"/>
                <a:gd name="T13" fmla="*/ 634 h 718"/>
                <a:gd name="T14" fmla="*/ 152 w 1068"/>
                <a:gd name="T15" fmla="*/ 634 h 718"/>
                <a:gd name="T16" fmla="*/ 90 w 1068"/>
                <a:gd name="T17" fmla="*/ 571 h 718"/>
                <a:gd name="T18" fmla="*/ 90 w 1068"/>
                <a:gd name="T19" fmla="*/ 524 h 718"/>
                <a:gd name="T20" fmla="*/ 90 w 1068"/>
                <a:gd name="T21" fmla="*/ 355 h 718"/>
                <a:gd name="T22" fmla="*/ 173 w 1068"/>
                <a:gd name="T23" fmla="*/ 144 h 718"/>
                <a:gd name="T24" fmla="*/ 222 w 1068"/>
                <a:gd name="T25" fmla="*/ 104 h 718"/>
                <a:gd name="T26" fmla="*/ 180 w 1068"/>
                <a:gd name="T27" fmla="*/ 31 h 718"/>
                <a:gd name="T28" fmla="*/ 13 w 1068"/>
                <a:gd name="T29" fmla="*/ 277 h 718"/>
                <a:gd name="T30" fmla="*/ 6 w 1068"/>
                <a:gd name="T31" fmla="*/ 448 h 718"/>
                <a:gd name="T32" fmla="*/ 9 w 1068"/>
                <a:gd name="T33" fmla="*/ 604 h 718"/>
                <a:gd name="T34" fmla="*/ 161 w 1068"/>
                <a:gd name="T35" fmla="*/ 718 h 718"/>
                <a:gd name="T36" fmla="*/ 805 w 1068"/>
                <a:gd name="T37" fmla="*/ 718 h 718"/>
                <a:gd name="T38" fmla="*/ 908 w 1068"/>
                <a:gd name="T39" fmla="*/ 718 h 718"/>
                <a:gd name="T40" fmla="*/ 1059 w 1068"/>
                <a:gd name="T41" fmla="*/ 615 h 718"/>
                <a:gd name="T42" fmla="*/ 1065 w 1068"/>
                <a:gd name="T43" fmla="*/ 545 h 718"/>
                <a:gd name="T44" fmla="*/ 1065 w 1068"/>
                <a:gd name="T45" fmla="*/ 456 h 718"/>
                <a:gd name="T46" fmla="*/ 1060 w 1068"/>
                <a:gd name="T47" fmla="*/ 288 h 718"/>
                <a:gd name="T48" fmla="*/ 888 w 1068"/>
                <a:gd name="T49" fmla="*/ 30 h 718"/>
                <a:gd name="T50" fmla="*/ 846 w 1068"/>
                <a:gd name="T51" fmla="*/ 102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8">
                  <a:moveTo>
                    <a:pt x="846" y="102"/>
                  </a:moveTo>
                  <a:cubicBezTo>
                    <a:pt x="924" y="152"/>
                    <a:pt x="975" y="237"/>
                    <a:pt x="981" y="330"/>
                  </a:cubicBezTo>
                  <a:cubicBezTo>
                    <a:pt x="984" y="379"/>
                    <a:pt x="981" y="430"/>
                    <a:pt x="981" y="480"/>
                  </a:cubicBezTo>
                  <a:cubicBezTo>
                    <a:pt x="981" y="506"/>
                    <a:pt x="981" y="533"/>
                    <a:pt x="981" y="559"/>
                  </a:cubicBezTo>
                  <a:cubicBezTo>
                    <a:pt x="981" y="583"/>
                    <a:pt x="978" y="601"/>
                    <a:pt x="961" y="618"/>
                  </a:cubicBezTo>
                  <a:cubicBezTo>
                    <a:pt x="941" y="638"/>
                    <a:pt x="910" y="634"/>
                    <a:pt x="882" y="634"/>
                  </a:cubicBezTo>
                  <a:cubicBezTo>
                    <a:pt x="659" y="634"/>
                    <a:pt x="436" y="634"/>
                    <a:pt x="214" y="634"/>
                  </a:cubicBezTo>
                  <a:cubicBezTo>
                    <a:pt x="193" y="634"/>
                    <a:pt x="173" y="634"/>
                    <a:pt x="152" y="634"/>
                  </a:cubicBezTo>
                  <a:cubicBezTo>
                    <a:pt x="117" y="634"/>
                    <a:pt x="90" y="606"/>
                    <a:pt x="90" y="571"/>
                  </a:cubicBezTo>
                  <a:cubicBezTo>
                    <a:pt x="89" y="556"/>
                    <a:pt x="90" y="540"/>
                    <a:pt x="90" y="524"/>
                  </a:cubicBezTo>
                  <a:cubicBezTo>
                    <a:pt x="90" y="468"/>
                    <a:pt x="90" y="412"/>
                    <a:pt x="90" y="355"/>
                  </a:cubicBezTo>
                  <a:cubicBezTo>
                    <a:pt x="90" y="276"/>
                    <a:pt x="117" y="202"/>
                    <a:pt x="173" y="144"/>
                  </a:cubicBezTo>
                  <a:cubicBezTo>
                    <a:pt x="188" y="129"/>
                    <a:pt x="204" y="116"/>
                    <a:pt x="222" y="104"/>
                  </a:cubicBezTo>
                  <a:cubicBezTo>
                    <a:pt x="267" y="74"/>
                    <a:pt x="225" y="2"/>
                    <a:pt x="180" y="31"/>
                  </a:cubicBezTo>
                  <a:cubicBezTo>
                    <a:pt x="94" y="88"/>
                    <a:pt x="32" y="175"/>
                    <a:pt x="13" y="277"/>
                  </a:cubicBezTo>
                  <a:cubicBezTo>
                    <a:pt x="2" y="333"/>
                    <a:pt x="6" y="391"/>
                    <a:pt x="6" y="448"/>
                  </a:cubicBezTo>
                  <a:cubicBezTo>
                    <a:pt x="6" y="499"/>
                    <a:pt x="0" y="554"/>
                    <a:pt x="9" y="604"/>
                  </a:cubicBezTo>
                  <a:cubicBezTo>
                    <a:pt x="23" y="676"/>
                    <a:pt x="92" y="718"/>
                    <a:pt x="161" y="718"/>
                  </a:cubicBezTo>
                  <a:cubicBezTo>
                    <a:pt x="375" y="718"/>
                    <a:pt x="590" y="718"/>
                    <a:pt x="805" y="718"/>
                  </a:cubicBezTo>
                  <a:cubicBezTo>
                    <a:pt x="839" y="718"/>
                    <a:pt x="873" y="718"/>
                    <a:pt x="908" y="718"/>
                  </a:cubicBezTo>
                  <a:cubicBezTo>
                    <a:pt x="977" y="718"/>
                    <a:pt x="1035" y="682"/>
                    <a:pt x="1059" y="615"/>
                  </a:cubicBezTo>
                  <a:cubicBezTo>
                    <a:pt x="1066" y="593"/>
                    <a:pt x="1065" y="568"/>
                    <a:pt x="1065" y="545"/>
                  </a:cubicBezTo>
                  <a:cubicBezTo>
                    <a:pt x="1065" y="515"/>
                    <a:pt x="1065" y="486"/>
                    <a:pt x="1065" y="456"/>
                  </a:cubicBezTo>
                  <a:cubicBezTo>
                    <a:pt x="1065" y="400"/>
                    <a:pt x="1068" y="344"/>
                    <a:pt x="1060" y="288"/>
                  </a:cubicBezTo>
                  <a:cubicBezTo>
                    <a:pt x="1045" y="182"/>
                    <a:pt x="978" y="87"/>
                    <a:pt x="888" y="30"/>
                  </a:cubicBezTo>
                  <a:cubicBezTo>
                    <a:pt x="843" y="0"/>
                    <a:pt x="801" y="73"/>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59" name="Freeform 37">
              <a:extLst>
                <a:ext uri="{FF2B5EF4-FFF2-40B4-BE49-F238E27FC236}">
                  <a16:creationId xmlns:a16="http://schemas.microsoft.com/office/drawing/2014/main" xmlns="" id="{1CD5CE15-C404-4DA1-AC79-7FCD7E387701}"/>
                </a:ext>
              </a:extLst>
            </p:cNvPr>
            <p:cNvSpPr>
              <a:spLocks/>
            </p:cNvSpPr>
            <p:nvPr/>
          </p:nvSpPr>
          <p:spPr bwMode="auto">
            <a:xfrm>
              <a:off x="-26819225" y="-3736976"/>
              <a:ext cx="1903413" cy="1978025"/>
            </a:xfrm>
            <a:custGeom>
              <a:avLst/>
              <a:gdLst>
                <a:gd name="T0" fmla="*/ 554 w 638"/>
                <a:gd name="T1" fmla="*/ 327 h 664"/>
                <a:gd name="T2" fmla="*/ 437 w 638"/>
                <a:gd name="T3" fmla="*/ 527 h 664"/>
                <a:gd name="T4" fmla="*/ 203 w 638"/>
                <a:gd name="T5" fmla="*/ 521 h 664"/>
                <a:gd name="T6" fmla="*/ 96 w 638"/>
                <a:gd name="T7" fmla="*/ 316 h 664"/>
                <a:gd name="T8" fmla="*/ 222 w 638"/>
                <a:gd name="T9" fmla="*/ 123 h 664"/>
                <a:gd name="T10" fmla="*/ 446 w 638"/>
                <a:gd name="T11" fmla="*/ 133 h 664"/>
                <a:gd name="T12" fmla="*/ 554 w 638"/>
                <a:gd name="T13" fmla="*/ 327 h 664"/>
                <a:gd name="T14" fmla="*/ 638 w 638"/>
                <a:gd name="T15" fmla="*/ 327 h 664"/>
                <a:gd name="T16" fmla="*/ 519 w 638"/>
                <a:gd name="T17" fmla="*/ 82 h 664"/>
                <a:gd name="T18" fmla="*/ 244 w 638"/>
                <a:gd name="T19" fmla="*/ 25 h 664"/>
                <a:gd name="T20" fmla="*/ 39 w 638"/>
                <a:gd name="T21" fmla="*/ 201 h 664"/>
                <a:gd name="T22" fmla="*/ 53 w 638"/>
                <a:gd name="T23" fmla="*/ 482 h 664"/>
                <a:gd name="T24" fmla="*/ 406 w 638"/>
                <a:gd name="T25" fmla="*/ 630 h 664"/>
                <a:gd name="T26" fmla="*/ 638 w 638"/>
                <a:gd name="T27" fmla="*/ 327 h 664"/>
                <a:gd name="T28" fmla="*/ 554 w 638"/>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8" h="664">
                  <a:moveTo>
                    <a:pt x="554" y="327"/>
                  </a:moveTo>
                  <a:cubicBezTo>
                    <a:pt x="553" y="410"/>
                    <a:pt x="509" y="485"/>
                    <a:pt x="437" y="527"/>
                  </a:cubicBezTo>
                  <a:cubicBezTo>
                    <a:pt x="365" y="569"/>
                    <a:pt x="274" y="564"/>
                    <a:pt x="203" y="521"/>
                  </a:cubicBezTo>
                  <a:cubicBezTo>
                    <a:pt x="133" y="478"/>
                    <a:pt x="94" y="398"/>
                    <a:pt x="96" y="316"/>
                  </a:cubicBezTo>
                  <a:cubicBezTo>
                    <a:pt x="99" y="234"/>
                    <a:pt x="150" y="161"/>
                    <a:pt x="222" y="123"/>
                  </a:cubicBezTo>
                  <a:cubicBezTo>
                    <a:pt x="292" y="86"/>
                    <a:pt x="379" y="92"/>
                    <a:pt x="446" y="133"/>
                  </a:cubicBezTo>
                  <a:cubicBezTo>
                    <a:pt x="514" y="174"/>
                    <a:pt x="553" y="250"/>
                    <a:pt x="554" y="327"/>
                  </a:cubicBezTo>
                  <a:cubicBezTo>
                    <a:pt x="554" y="381"/>
                    <a:pt x="638" y="382"/>
                    <a:pt x="638" y="327"/>
                  </a:cubicBezTo>
                  <a:cubicBezTo>
                    <a:pt x="637" y="232"/>
                    <a:pt x="594" y="141"/>
                    <a:pt x="519" y="82"/>
                  </a:cubicBezTo>
                  <a:cubicBezTo>
                    <a:pt x="441" y="21"/>
                    <a:pt x="340" y="0"/>
                    <a:pt x="244" y="25"/>
                  </a:cubicBezTo>
                  <a:cubicBezTo>
                    <a:pt x="154" y="48"/>
                    <a:pt x="76" y="116"/>
                    <a:pt x="39" y="201"/>
                  </a:cubicBezTo>
                  <a:cubicBezTo>
                    <a:pt x="0" y="292"/>
                    <a:pt x="5" y="395"/>
                    <a:pt x="53" y="482"/>
                  </a:cubicBezTo>
                  <a:cubicBezTo>
                    <a:pt x="122" y="606"/>
                    <a:pt x="271" y="664"/>
                    <a:pt x="406" y="630"/>
                  </a:cubicBezTo>
                  <a:cubicBezTo>
                    <a:pt x="542" y="595"/>
                    <a:pt x="636" y="466"/>
                    <a:pt x="638" y="327"/>
                  </a:cubicBezTo>
                  <a:cubicBezTo>
                    <a:pt x="638" y="273"/>
                    <a:pt x="554"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60" name="Freeform 38">
              <a:extLst>
                <a:ext uri="{FF2B5EF4-FFF2-40B4-BE49-F238E27FC236}">
                  <a16:creationId xmlns:a16="http://schemas.microsoft.com/office/drawing/2014/main" xmlns="" id="{B3EDC5DA-BD5A-4D94-9EF8-995AD67F8144}"/>
                </a:ext>
              </a:extLst>
            </p:cNvPr>
            <p:cNvSpPr>
              <a:spLocks/>
            </p:cNvSpPr>
            <p:nvPr/>
          </p:nvSpPr>
          <p:spPr bwMode="auto">
            <a:xfrm>
              <a:off x="-27444701" y="-2163763"/>
              <a:ext cx="3182938" cy="2136775"/>
            </a:xfrm>
            <a:custGeom>
              <a:avLst/>
              <a:gdLst>
                <a:gd name="T0" fmla="*/ 846 w 1067"/>
                <a:gd name="T1" fmla="*/ 102 h 717"/>
                <a:gd name="T2" fmla="*/ 980 w 1067"/>
                <a:gd name="T3" fmla="*/ 329 h 717"/>
                <a:gd name="T4" fmla="*/ 981 w 1067"/>
                <a:gd name="T5" fmla="*/ 479 h 717"/>
                <a:gd name="T6" fmla="*/ 981 w 1067"/>
                <a:gd name="T7" fmla="*/ 558 h 717"/>
                <a:gd name="T8" fmla="*/ 961 w 1067"/>
                <a:gd name="T9" fmla="*/ 617 h 717"/>
                <a:gd name="T10" fmla="*/ 882 w 1067"/>
                <a:gd name="T11" fmla="*/ 633 h 717"/>
                <a:gd name="T12" fmla="*/ 213 w 1067"/>
                <a:gd name="T13" fmla="*/ 633 h 717"/>
                <a:gd name="T14" fmla="*/ 152 w 1067"/>
                <a:gd name="T15" fmla="*/ 633 h 717"/>
                <a:gd name="T16" fmla="*/ 89 w 1067"/>
                <a:gd name="T17" fmla="*/ 571 h 717"/>
                <a:gd name="T18" fmla="*/ 89 w 1067"/>
                <a:gd name="T19" fmla="*/ 523 h 717"/>
                <a:gd name="T20" fmla="*/ 89 w 1067"/>
                <a:gd name="T21" fmla="*/ 355 h 717"/>
                <a:gd name="T22" fmla="*/ 172 w 1067"/>
                <a:gd name="T23" fmla="*/ 144 h 717"/>
                <a:gd name="T24" fmla="*/ 222 w 1067"/>
                <a:gd name="T25" fmla="*/ 103 h 717"/>
                <a:gd name="T26" fmla="*/ 179 w 1067"/>
                <a:gd name="T27" fmla="*/ 31 h 717"/>
                <a:gd name="T28" fmla="*/ 12 w 1067"/>
                <a:gd name="T29" fmla="*/ 276 h 717"/>
                <a:gd name="T30" fmla="*/ 5 w 1067"/>
                <a:gd name="T31" fmla="*/ 447 h 717"/>
                <a:gd name="T32" fmla="*/ 9 w 1067"/>
                <a:gd name="T33" fmla="*/ 604 h 717"/>
                <a:gd name="T34" fmla="*/ 161 w 1067"/>
                <a:gd name="T35" fmla="*/ 717 h 717"/>
                <a:gd name="T36" fmla="*/ 804 w 1067"/>
                <a:gd name="T37" fmla="*/ 717 h 717"/>
                <a:gd name="T38" fmla="*/ 907 w 1067"/>
                <a:gd name="T39" fmla="*/ 717 h 717"/>
                <a:gd name="T40" fmla="*/ 1058 w 1067"/>
                <a:gd name="T41" fmla="*/ 614 h 717"/>
                <a:gd name="T42" fmla="*/ 1065 w 1067"/>
                <a:gd name="T43" fmla="*/ 544 h 717"/>
                <a:gd name="T44" fmla="*/ 1065 w 1067"/>
                <a:gd name="T45" fmla="*/ 455 h 717"/>
                <a:gd name="T46" fmla="*/ 1060 w 1067"/>
                <a:gd name="T47" fmla="*/ 287 h 717"/>
                <a:gd name="T48" fmla="*/ 888 w 1067"/>
                <a:gd name="T49" fmla="*/ 29 h 717"/>
                <a:gd name="T50" fmla="*/ 846 w 1067"/>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7" h="717">
                  <a:moveTo>
                    <a:pt x="846" y="102"/>
                  </a:moveTo>
                  <a:cubicBezTo>
                    <a:pt x="924" y="152"/>
                    <a:pt x="974" y="236"/>
                    <a:pt x="980" y="329"/>
                  </a:cubicBezTo>
                  <a:cubicBezTo>
                    <a:pt x="983" y="379"/>
                    <a:pt x="981" y="429"/>
                    <a:pt x="981" y="479"/>
                  </a:cubicBezTo>
                  <a:cubicBezTo>
                    <a:pt x="981" y="505"/>
                    <a:pt x="981" y="532"/>
                    <a:pt x="981" y="558"/>
                  </a:cubicBezTo>
                  <a:cubicBezTo>
                    <a:pt x="981" y="582"/>
                    <a:pt x="978" y="600"/>
                    <a:pt x="961" y="617"/>
                  </a:cubicBezTo>
                  <a:cubicBezTo>
                    <a:pt x="940" y="637"/>
                    <a:pt x="910" y="633"/>
                    <a:pt x="882" y="633"/>
                  </a:cubicBezTo>
                  <a:cubicBezTo>
                    <a:pt x="659" y="633"/>
                    <a:pt x="436" y="633"/>
                    <a:pt x="213" y="633"/>
                  </a:cubicBezTo>
                  <a:cubicBezTo>
                    <a:pt x="193" y="633"/>
                    <a:pt x="172" y="633"/>
                    <a:pt x="152" y="633"/>
                  </a:cubicBezTo>
                  <a:cubicBezTo>
                    <a:pt x="117" y="633"/>
                    <a:pt x="90" y="605"/>
                    <a:pt x="89" y="571"/>
                  </a:cubicBezTo>
                  <a:cubicBezTo>
                    <a:pt x="89" y="555"/>
                    <a:pt x="89" y="539"/>
                    <a:pt x="89" y="523"/>
                  </a:cubicBezTo>
                  <a:cubicBezTo>
                    <a:pt x="89" y="467"/>
                    <a:pt x="89" y="411"/>
                    <a:pt x="89" y="355"/>
                  </a:cubicBezTo>
                  <a:cubicBezTo>
                    <a:pt x="89" y="275"/>
                    <a:pt x="117" y="201"/>
                    <a:pt x="172" y="144"/>
                  </a:cubicBezTo>
                  <a:cubicBezTo>
                    <a:pt x="187" y="128"/>
                    <a:pt x="204" y="115"/>
                    <a:pt x="222" y="103"/>
                  </a:cubicBezTo>
                  <a:cubicBezTo>
                    <a:pt x="267" y="74"/>
                    <a:pt x="225" y="1"/>
                    <a:pt x="179" y="31"/>
                  </a:cubicBezTo>
                  <a:cubicBezTo>
                    <a:pt x="93" y="87"/>
                    <a:pt x="32" y="174"/>
                    <a:pt x="12" y="276"/>
                  </a:cubicBezTo>
                  <a:cubicBezTo>
                    <a:pt x="1" y="332"/>
                    <a:pt x="5" y="391"/>
                    <a:pt x="5" y="447"/>
                  </a:cubicBezTo>
                  <a:cubicBezTo>
                    <a:pt x="5" y="498"/>
                    <a:pt x="0" y="553"/>
                    <a:pt x="9" y="604"/>
                  </a:cubicBezTo>
                  <a:cubicBezTo>
                    <a:pt x="22" y="675"/>
                    <a:pt x="92" y="717"/>
                    <a:pt x="161" y="717"/>
                  </a:cubicBezTo>
                  <a:cubicBezTo>
                    <a:pt x="375" y="717"/>
                    <a:pt x="590" y="717"/>
                    <a:pt x="804" y="717"/>
                  </a:cubicBezTo>
                  <a:cubicBezTo>
                    <a:pt x="839" y="717"/>
                    <a:pt x="873" y="717"/>
                    <a:pt x="907" y="717"/>
                  </a:cubicBezTo>
                  <a:cubicBezTo>
                    <a:pt x="977" y="717"/>
                    <a:pt x="1035" y="681"/>
                    <a:pt x="1058" y="614"/>
                  </a:cubicBezTo>
                  <a:cubicBezTo>
                    <a:pt x="1066" y="592"/>
                    <a:pt x="1065" y="568"/>
                    <a:pt x="1065" y="544"/>
                  </a:cubicBezTo>
                  <a:cubicBezTo>
                    <a:pt x="1065" y="515"/>
                    <a:pt x="1065" y="485"/>
                    <a:pt x="1065" y="455"/>
                  </a:cubicBezTo>
                  <a:cubicBezTo>
                    <a:pt x="1065" y="399"/>
                    <a:pt x="1067" y="343"/>
                    <a:pt x="1060" y="287"/>
                  </a:cubicBezTo>
                  <a:cubicBezTo>
                    <a:pt x="1045" y="181"/>
                    <a:pt x="977" y="86"/>
                    <a:pt x="888" y="29"/>
                  </a:cubicBezTo>
                  <a:cubicBezTo>
                    <a:pt x="842" y="0"/>
                    <a:pt x="800"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4" name="Freeform 39">
              <a:extLst>
                <a:ext uri="{FF2B5EF4-FFF2-40B4-BE49-F238E27FC236}">
                  <a16:creationId xmlns:a16="http://schemas.microsoft.com/office/drawing/2014/main" xmlns="" id="{F9DCB288-7675-41B6-9E88-9068BFDC0277}"/>
                </a:ext>
              </a:extLst>
            </p:cNvPr>
            <p:cNvSpPr>
              <a:spLocks/>
            </p:cNvSpPr>
            <p:nvPr/>
          </p:nvSpPr>
          <p:spPr bwMode="auto">
            <a:xfrm>
              <a:off x="-19121438" y="-3736976"/>
              <a:ext cx="1906588" cy="1978025"/>
            </a:xfrm>
            <a:custGeom>
              <a:avLst/>
              <a:gdLst>
                <a:gd name="T0" fmla="*/ 555 w 639"/>
                <a:gd name="T1" fmla="*/ 327 h 664"/>
                <a:gd name="T2" fmla="*/ 438 w 639"/>
                <a:gd name="T3" fmla="*/ 527 h 664"/>
                <a:gd name="T4" fmla="*/ 204 w 639"/>
                <a:gd name="T5" fmla="*/ 521 h 664"/>
                <a:gd name="T6" fmla="*/ 97 w 639"/>
                <a:gd name="T7" fmla="*/ 316 h 664"/>
                <a:gd name="T8" fmla="*/ 222 w 639"/>
                <a:gd name="T9" fmla="*/ 123 h 664"/>
                <a:gd name="T10" fmla="*/ 447 w 639"/>
                <a:gd name="T11" fmla="*/ 133 h 664"/>
                <a:gd name="T12" fmla="*/ 555 w 639"/>
                <a:gd name="T13" fmla="*/ 327 h 664"/>
                <a:gd name="T14" fmla="*/ 639 w 639"/>
                <a:gd name="T15" fmla="*/ 327 h 664"/>
                <a:gd name="T16" fmla="*/ 519 w 639"/>
                <a:gd name="T17" fmla="*/ 82 h 664"/>
                <a:gd name="T18" fmla="*/ 244 w 639"/>
                <a:gd name="T19" fmla="*/ 25 h 664"/>
                <a:gd name="T20" fmla="*/ 40 w 639"/>
                <a:gd name="T21" fmla="*/ 201 h 664"/>
                <a:gd name="T22" fmla="*/ 54 w 639"/>
                <a:gd name="T23" fmla="*/ 482 h 664"/>
                <a:gd name="T24" fmla="*/ 407 w 639"/>
                <a:gd name="T25" fmla="*/ 630 h 664"/>
                <a:gd name="T26" fmla="*/ 639 w 639"/>
                <a:gd name="T27" fmla="*/ 327 h 664"/>
                <a:gd name="T28" fmla="*/ 555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5" y="327"/>
                  </a:moveTo>
                  <a:cubicBezTo>
                    <a:pt x="554" y="410"/>
                    <a:pt x="510" y="485"/>
                    <a:pt x="438" y="527"/>
                  </a:cubicBezTo>
                  <a:cubicBezTo>
                    <a:pt x="366" y="569"/>
                    <a:pt x="275" y="564"/>
                    <a:pt x="204" y="521"/>
                  </a:cubicBezTo>
                  <a:cubicBezTo>
                    <a:pt x="133" y="478"/>
                    <a:pt x="95" y="398"/>
                    <a:pt x="97" y="316"/>
                  </a:cubicBezTo>
                  <a:cubicBezTo>
                    <a:pt x="100" y="234"/>
                    <a:pt x="151" y="161"/>
                    <a:pt x="222" y="123"/>
                  </a:cubicBezTo>
                  <a:cubicBezTo>
                    <a:pt x="293" y="86"/>
                    <a:pt x="380" y="92"/>
                    <a:pt x="447" y="133"/>
                  </a:cubicBezTo>
                  <a:cubicBezTo>
                    <a:pt x="514" y="174"/>
                    <a:pt x="554" y="250"/>
                    <a:pt x="555" y="327"/>
                  </a:cubicBezTo>
                  <a:cubicBezTo>
                    <a:pt x="555" y="381"/>
                    <a:pt x="639" y="382"/>
                    <a:pt x="639" y="327"/>
                  </a:cubicBezTo>
                  <a:cubicBezTo>
                    <a:pt x="638" y="232"/>
                    <a:pt x="595" y="141"/>
                    <a:pt x="519" y="82"/>
                  </a:cubicBezTo>
                  <a:cubicBezTo>
                    <a:pt x="441" y="21"/>
                    <a:pt x="340" y="0"/>
                    <a:pt x="244" y="25"/>
                  </a:cubicBezTo>
                  <a:cubicBezTo>
                    <a:pt x="154" y="48"/>
                    <a:pt x="77" y="116"/>
                    <a:pt x="40" y="201"/>
                  </a:cubicBezTo>
                  <a:cubicBezTo>
                    <a:pt x="0" y="292"/>
                    <a:pt x="5" y="395"/>
                    <a:pt x="54" y="482"/>
                  </a:cubicBezTo>
                  <a:cubicBezTo>
                    <a:pt x="123" y="606"/>
                    <a:pt x="272" y="664"/>
                    <a:pt x="407" y="630"/>
                  </a:cubicBezTo>
                  <a:cubicBezTo>
                    <a:pt x="543" y="595"/>
                    <a:pt x="637" y="466"/>
                    <a:pt x="639" y="327"/>
                  </a:cubicBezTo>
                  <a:cubicBezTo>
                    <a:pt x="639" y="273"/>
                    <a:pt x="555" y="273"/>
                    <a:pt x="555"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5" name="Freeform 40">
              <a:extLst>
                <a:ext uri="{FF2B5EF4-FFF2-40B4-BE49-F238E27FC236}">
                  <a16:creationId xmlns:a16="http://schemas.microsoft.com/office/drawing/2014/main" xmlns="" id="{9ABAA1E3-5A43-4715-8E36-58674814BC24}"/>
                </a:ext>
              </a:extLst>
            </p:cNvPr>
            <p:cNvSpPr>
              <a:spLocks/>
            </p:cNvSpPr>
            <p:nvPr/>
          </p:nvSpPr>
          <p:spPr bwMode="auto">
            <a:xfrm>
              <a:off x="-19746913" y="-2163763"/>
              <a:ext cx="3186113" cy="2136775"/>
            </a:xfrm>
            <a:custGeom>
              <a:avLst/>
              <a:gdLst>
                <a:gd name="T0" fmla="*/ 846 w 1068"/>
                <a:gd name="T1" fmla="*/ 102 h 717"/>
                <a:gd name="T2" fmla="*/ 981 w 1068"/>
                <a:gd name="T3" fmla="*/ 329 h 717"/>
                <a:gd name="T4" fmla="*/ 981 w 1068"/>
                <a:gd name="T5" fmla="*/ 479 h 717"/>
                <a:gd name="T6" fmla="*/ 981 w 1068"/>
                <a:gd name="T7" fmla="*/ 558 h 717"/>
                <a:gd name="T8" fmla="*/ 961 w 1068"/>
                <a:gd name="T9" fmla="*/ 617 h 717"/>
                <a:gd name="T10" fmla="*/ 882 w 1068"/>
                <a:gd name="T11" fmla="*/ 633 h 717"/>
                <a:gd name="T12" fmla="*/ 214 w 1068"/>
                <a:gd name="T13" fmla="*/ 633 h 717"/>
                <a:gd name="T14" fmla="*/ 153 w 1068"/>
                <a:gd name="T15" fmla="*/ 633 h 717"/>
                <a:gd name="T16" fmla="*/ 90 w 1068"/>
                <a:gd name="T17" fmla="*/ 571 h 717"/>
                <a:gd name="T18" fmla="*/ 90 w 1068"/>
                <a:gd name="T19" fmla="*/ 523 h 717"/>
                <a:gd name="T20" fmla="*/ 90 w 1068"/>
                <a:gd name="T21" fmla="*/ 355 h 717"/>
                <a:gd name="T22" fmla="*/ 173 w 1068"/>
                <a:gd name="T23" fmla="*/ 144 h 717"/>
                <a:gd name="T24" fmla="*/ 222 w 1068"/>
                <a:gd name="T25" fmla="*/ 103 h 717"/>
                <a:gd name="T26" fmla="*/ 180 w 1068"/>
                <a:gd name="T27" fmla="*/ 31 h 717"/>
                <a:gd name="T28" fmla="*/ 13 w 1068"/>
                <a:gd name="T29" fmla="*/ 276 h 717"/>
                <a:gd name="T30" fmla="*/ 6 w 1068"/>
                <a:gd name="T31" fmla="*/ 447 h 717"/>
                <a:gd name="T32" fmla="*/ 10 w 1068"/>
                <a:gd name="T33" fmla="*/ 604 h 717"/>
                <a:gd name="T34" fmla="*/ 161 w 1068"/>
                <a:gd name="T35" fmla="*/ 717 h 717"/>
                <a:gd name="T36" fmla="*/ 805 w 1068"/>
                <a:gd name="T37" fmla="*/ 717 h 717"/>
                <a:gd name="T38" fmla="*/ 908 w 1068"/>
                <a:gd name="T39" fmla="*/ 717 h 717"/>
                <a:gd name="T40" fmla="*/ 1059 w 1068"/>
                <a:gd name="T41" fmla="*/ 614 h 717"/>
                <a:gd name="T42" fmla="*/ 1065 w 1068"/>
                <a:gd name="T43" fmla="*/ 544 h 717"/>
                <a:gd name="T44" fmla="*/ 1065 w 1068"/>
                <a:gd name="T45" fmla="*/ 455 h 717"/>
                <a:gd name="T46" fmla="*/ 1060 w 1068"/>
                <a:gd name="T47" fmla="*/ 287 h 717"/>
                <a:gd name="T48" fmla="*/ 889 w 1068"/>
                <a:gd name="T49" fmla="*/ 29 h 717"/>
                <a:gd name="T50" fmla="*/ 846 w 1068"/>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7">
                  <a:moveTo>
                    <a:pt x="846" y="102"/>
                  </a:moveTo>
                  <a:cubicBezTo>
                    <a:pt x="924" y="152"/>
                    <a:pt x="975" y="236"/>
                    <a:pt x="981" y="329"/>
                  </a:cubicBezTo>
                  <a:cubicBezTo>
                    <a:pt x="984" y="379"/>
                    <a:pt x="981" y="429"/>
                    <a:pt x="981" y="479"/>
                  </a:cubicBezTo>
                  <a:cubicBezTo>
                    <a:pt x="981" y="505"/>
                    <a:pt x="981" y="532"/>
                    <a:pt x="981" y="558"/>
                  </a:cubicBezTo>
                  <a:cubicBezTo>
                    <a:pt x="981" y="582"/>
                    <a:pt x="978" y="600"/>
                    <a:pt x="961" y="617"/>
                  </a:cubicBezTo>
                  <a:cubicBezTo>
                    <a:pt x="941" y="637"/>
                    <a:pt x="911" y="633"/>
                    <a:pt x="882" y="633"/>
                  </a:cubicBezTo>
                  <a:cubicBezTo>
                    <a:pt x="659" y="633"/>
                    <a:pt x="437" y="633"/>
                    <a:pt x="214" y="633"/>
                  </a:cubicBezTo>
                  <a:cubicBezTo>
                    <a:pt x="193" y="633"/>
                    <a:pt x="173" y="633"/>
                    <a:pt x="153" y="633"/>
                  </a:cubicBezTo>
                  <a:cubicBezTo>
                    <a:pt x="118" y="633"/>
                    <a:pt x="91" y="605"/>
                    <a:pt x="90" y="571"/>
                  </a:cubicBezTo>
                  <a:cubicBezTo>
                    <a:pt x="89" y="555"/>
                    <a:pt x="90" y="539"/>
                    <a:pt x="90" y="523"/>
                  </a:cubicBezTo>
                  <a:cubicBezTo>
                    <a:pt x="90" y="467"/>
                    <a:pt x="90" y="411"/>
                    <a:pt x="90" y="355"/>
                  </a:cubicBezTo>
                  <a:cubicBezTo>
                    <a:pt x="90" y="275"/>
                    <a:pt x="117" y="201"/>
                    <a:pt x="173" y="144"/>
                  </a:cubicBezTo>
                  <a:cubicBezTo>
                    <a:pt x="188" y="128"/>
                    <a:pt x="204" y="115"/>
                    <a:pt x="222" y="103"/>
                  </a:cubicBezTo>
                  <a:cubicBezTo>
                    <a:pt x="267" y="74"/>
                    <a:pt x="225" y="1"/>
                    <a:pt x="180" y="31"/>
                  </a:cubicBezTo>
                  <a:cubicBezTo>
                    <a:pt x="94" y="87"/>
                    <a:pt x="32" y="174"/>
                    <a:pt x="13" y="276"/>
                  </a:cubicBezTo>
                  <a:cubicBezTo>
                    <a:pt x="2" y="332"/>
                    <a:pt x="6" y="391"/>
                    <a:pt x="6" y="447"/>
                  </a:cubicBezTo>
                  <a:cubicBezTo>
                    <a:pt x="6" y="498"/>
                    <a:pt x="0" y="553"/>
                    <a:pt x="10" y="604"/>
                  </a:cubicBezTo>
                  <a:cubicBezTo>
                    <a:pt x="23" y="675"/>
                    <a:pt x="93" y="717"/>
                    <a:pt x="161" y="717"/>
                  </a:cubicBezTo>
                  <a:cubicBezTo>
                    <a:pt x="376" y="717"/>
                    <a:pt x="590" y="717"/>
                    <a:pt x="805" y="717"/>
                  </a:cubicBezTo>
                  <a:cubicBezTo>
                    <a:pt x="839" y="717"/>
                    <a:pt x="874" y="717"/>
                    <a:pt x="908" y="717"/>
                  </a:cubicBezTo>
                  <a:cubicBezTo>
                    <a:pt x="978" y="717"/>
                    <a:pt x="1036" y="681"/>
                    <a:pt x="1059" y="614"/>
                  </a:cubicBezTo>
                  <a:cubicBezTo>
                    <a:pt x="1067" y="592"/>
                    <a:pt x="1065" y="568"/>
                    <a:pt x="1065" y="544"/>
                  </a:cubicBezTo>
                  <a:cubicBezTo>
                    <a:pt x="1065" y="515"/>
                    <a:pt x="1065" y="485"/>
                    <a:pt x="1065" y="455"/>
                  </a:cubicBezTo>
                  <a:cubicBezTo>
                    <a:pt x="1065" y="399"/>
                    <a:pt x="1068" y="343"/>
                    <a:pt x="1060" y="287"/>
                  </a:cubicBezTo>
                  <a:cubicBezTo>
                    <a:pt x="1046" y="181"/>
                    <a:pt x="978" y="86"/>
                    <a:pt x="889" y="29"/>
                  </a:cubicBezTo>
                  <a:cubicBezTo>
                    <a:pt x="843" y="0"/>
                    <a:pt x="801"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6" name="Freeform 41">
              <a:extLst>
                <a:ext uri="{FF2B5EF4-FFF2-40B4-BE49-F238E27FC236}">
                  <a16:creationId xmlns:a16="http://schemas.microsoft.com/office/drawing/2014/main" xmlns="" id="{EA6EC370-AE96-4357-86E0-93B6C20D2269}"/>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7" name="Freeform 42">
              <a:extLst>
                <a:ext uri="{FF2B5EF4-FFF2-40B4-BE49-F238E27FC236}">
                  <a16:creationId xmlns:a16="http://schemas.microsoft.com/office/drawing/2014/main" xmlns="" id="{5368DFC5-02C5-4946-A452-2652C5D14973}"/>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8" name="Freeform 43">
              <a:extLst>
                <a:ext uri="{FF2B5EF4-FFF2-40B4-BE49-F238E27FC236}">
                  <a16:creationId xmlns:a16="http://schemas.microsoft.com/office/drawing/2014/main" xmlns="" id="{8580222D-9DD6-41E9-912C-179A6E1059FD}"/>
                </a:ext>
              </a:extLst>
            </p:cNvPr>
            <p:cNvSpPr>
              <a:spLocks/>
            </p:cNvSpPr>
            <p:nvPr/>
          </p:nvSpPr>
          <p:spPr bwMode="auto">
            <a:xfrm>
              <a:off x="-22191663" y="-4017963"/>
              <a:ext cx="1946275" cy="1266825"/>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sp>
        <p:nvSpPr>
          <p:cNvPr id="24" name="TextBox 23">
            <a:extLst>
              <a:ext uri="{FF2B5EF4-FFF2-40B4-BE49-F238E27FC236}">
                <a16:creationId xmlns:a16="http://schemas.microsoft.com/office/drawing/2014/main" xmlns="" id="{C1165547-DF3A-4694-9097-2BDAF2003713}"/>
              </a:ext>
            </a:extLst>
          </p:cNvPr>
          <p:cNvSpPr txBox="1"/>
          <p:nvPr/>
        </p:nvSpPr>
        <p:spPr>
          <a:xfrm>
            <a:off x="733193" y="1632255"/>
            <a:ext cx="10386231" cy="3323987"/>
          </a:xfrm>
          <a:prstGeom prst="rect">
            <a:avLst/>
          </a:prstGeom>
          <a:noFill/>
        </p:spPr>
        <p:txBody>
          <a:bodyPr wrap="square" lIns="0" tIns="0" rIns="0" bIns="0" rtlCol="0" anchor="t">
            <a:spAutoFit/>
          </a:bodyPr>
          <a:lstStyle/>
          <a:p>
            <a:r>
              <a:rPr lang="en-US" sz="5400" b="1" dirty="0">
                <a:solidFill>
                  <a:srgbClr val="002060"/>
                </a:solidFill>
                <a:latin typeface="Segoe UI"/>
                <a:ea typeface="Calibri"/>
                <a:cs typeface="Segoe UI"/>
              </a:rPr>
              <a:t>POPULATION CENSUS </a:t>
            </a:r>
            <a:endParaRPr lang="en-US">
              <a:solidFill>
                <a:srgbClr val="000000"/>
              </a:solidFill>
              <a:latin typeface="Calibri" panose="020F0502020204030204"/>
              <a:ea typeface="Calibri"/>
              <a:cs typeface="Calibri" panose="020F0502020204030204"/>
            </a:endParaRPr>
          </a:p>
          <a:p>
            <a:r>
              <a:rPr lang="en-US" sz="5400" b="1" dirty="0">
                <a:solidFill>
                  <a:srgbClr val="002060"/>
                </a:solidFill>
                <a:latin typeface="Segoe UI"/>
                <a:ea typeface="Calibri"/>
                <a:cs typeface="Segoe UI"/>
              </a:rPr>
              <a:t>AND </a:t>
            </a:r>
            <a:endParaRPr lang="en-US" dirty="0">
              <a:solidFill>
                <a:srgbClr val="000000"/>
              </a:solidFill>
              <a:latin typeface="Calibri" panose="020F0502020204030204"/>
              <a:ea typeface="Calibri"/>
              <a:cs typeface="Calibri"/>
            </a:endParaRPr>
          </a:p>
          <a:p>
            <a:r>
              <a:rPr lang="en-US" sz="5400" b="1" dirty="0">
                <a:solidFill>
                  <a:srgbClr val="002060"/>
                </a:solidFill>
                <a:latin typeface="Segoe UI"/>
                <a:ea typeface="Calibri"/>
                <a:cs typeface="Segoe UI"/>
              </a:rPr>
              <a:t>DEMOGRAPHIC INSIGHTS</a:t>
            </a:r>
          </a:p>
          <a:p>
            <a:r>
              <a:rPr lang="en-US" sz="5400" b="1" dirty="0">
                <a:solidFill>
                  <a:srgbClr val="002060"/>
                </a:solidFill>
                <a:latin typeface="Segoe UI"/>
                <a:ea typeface="Calibri"/>
                <a:cs typeface="Segoe UI"/>
              </a:rPr>
              <a:t>ANALYTICS SYSTEM</a:t>
            </a:r>
          </a:p>
        </p:txBody>
      </p:sp>
      <p:sp>
        <p:nvSpPr>
          <p:cNvPr id="55" name="Rectangle 54">
            <a:extLst>
              <a:ext uri="{FF2B5EF4-FFF2-40B4-BE49-F238E27FC236}">
                <a16:creationId xmlns:a16="http://schemas.microsoft.com/office/drawing/2014/main" xmlns="" id="{6BBBCB2E-F413-4381-8378-02FDC20EA4F6}"/>
              </a:ext>
            </a:extLst>
          </p:cNvPr>
          <p:cNvSpPr/>
          <p:nvPr/>
        </p:nvSpPr>
        <p:spPr>
          <a:xfrm>
            <a:off x="733192" y="5087779"/>
            <a:ext cx="3536195" cy="246221"/>
          </a:xfrm>
          <a:prstGeom prst="rect">
            <a:avLst/>
          </a:prstGeom>
        </p:spPr>
        <p:txBody>
          <a:bodyPr wrap="square" lIns="0" tIns="0" rIns="0" bIns="0" anchor="t">
            <a:spAutoFit/>
          </a:bodyPr>
          <a:lstStyle/>
          <a:p>
            <a:r>
              <a:rPr lang="en-US" sz="1600" i="1" dirty="0">
                <a:solidFill>
                  <a:srgbClr val="002060"/>
                </a:solidFill>
                <a:latin typeface="+mj-lt"/>
                <a:ea typeface="Calibri Light"/>
                <a:cs typeface="Segoe UI"/>
              </a:rPr>
              <a:t>An End-to-End Data Analytics Pipeline</a:t>
            </a:r>
            <a:endParaRPr lang="en-US" sz="1600" i="1" dirty="0">
              <a:solidFill>
                <a:srgbClr val="002060"/>
              </a:solidFill>
              <a:latin typeface="+mj-lt"/>
              <a:ea typeface="Calibri Light"/>
              <a:cs typeface="Segoe UI" panose="020B0502040204020203" pitchFamily="34" charset="0"/>
            </a:endParaRPr>
          </a:p>
        </p:txBody>
      </p:sp>
      <p:grpSp>
        <p:nvGrpSpPr>
          <p:cNvPr id="2" name="Group 1">
            <a:extLst>
              <a:ext uri="{FF2B5EF4-FFF2-40B4-BE49-F238E27FC236}">
                <a16:creationId xmlns:a16="http://schemas.microsoft.com/office/drawing/2014/main" xmlns="" id="{8E504344-8563-476C-9EF9-4200B272FDC1}"/>
              </a:ext>
              <a:ext uri="{C183D7F6-B498-43B3-948B-1728B52AA6E4}">
                <adec:decorative xmlns:adec="http://schemas.microsoft.com/office/drawing/2017/decorative" xmlns="" val="1"/>
              </a:ext>
            </a:extLst>
          </p:cNvPr>
          <p:cNvGrpSpPr/>
          <p:nvPr/>
        </p:nvGrpSpPr>
        <p:grpSpPr>
          <a:xfrm>
            <a:off x="7448177" y="-3873203"/>
            <a:ext cx="8948964" cy="12105059"/>
            <a:chOff x="4855953" y="-2833465"/>
            <a:chExt cx="8948964" cy="12105059"/>
          </a:xfrm>
        </p:grpSpPr>
        <p:sp>
          <p:nvSpPr>
            <p:cNvPr id="18" name="Freeform 10">
              <a:extLst>
                <a:ext uri="{FF2B5EF4-FFF2-40B4-BE49-F238E27FC236}">
                  <a16:creationId xmlns:a16="http://schemas.microsoft.com/office/drawing/2014/main" xmlns="" id="{73D22BE5-D5D5-4BF2-A935-5C4AB588B458}"/>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1">
              <a:extLst>
                <a:ext uri="{FF2B5EF4-FFF2-40B4-BE49-F238E27FC236}">
                  <a16:creationId xmlns:a16="http://schemas.microsoft.com/office/drawing/2014/main" xmlns="" id="{C42C174B-303A-45F6-8FF1-93001A3AAFC1}"/>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2">
              <a:extLst>
                <a:ext uri="{FF2B5EF4-FFF2-40B4-BE49-F238E27FC236}">
                  <a16:creationId xmlns:a16="http://schemas.microsoft.com/office/drawing/2014/main" xmlns="" id="{22AA5A4F-A0EB-453F-A699-F817D4616C6F}"/>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2" name="Rectangle: Rounded Corners 21">
            <a:extLst>
              <a:ext uri="{FF2B5EF4-FFF2-40B4-BE49-F238E27FC236}">
                <a16:creationId xmlns:a16="http://schemas.microsoft.com/office/drawing/2014/main" xmlns="" id="{D6FFCD8A-D531-4D2A-AABF-370BF35DF0FD}"/>
              </a:ext>
            </a:extLst>
          </p:cNvPr>
          <p:cNvSpPr/>
          <p:nvPr/>
        </p:nvSpPr>
        <p:spPr>
          <a:xfrm>
            <a:off x="731538" y="5736186"/>
            <a:ext cx="3101854" cy="530996"/>
          </a:xfrm>
          <a:prstGeom prst="roundRect">
            <a:avLst/>
          </a:prstGeom>
          <a:gradFill flip="none" rotWithShape="1">
            <a:gsLst>
              <a:gs pos="100000">
                <a:srgbClr val="FE7B4C"/>
              </a:gs>
              <a:gs pos="0">
                <a:srgbClr val="FE7B4C">
                  <a:lumMod val="83000"/>
                  <a:lumOff val="17000"/>
                </a:srgbClr>
              </a:gs>
            </a:gsLst>
            <a:path path="circle">
              <a:fillToRect l="100000" t="100000"/>
            </a:path>
            <a:tileRect r="-100000" b="-100000"/>
          </a:gradFill>
          <a:ln>
            <a:noFill/>
          </a:ln>
          <a:effectLst>
            <a:glow rad="254000">
              <a:srgbClr val="FE7B4C">
                <a:alpha val="7000"/>
              </a:srgbClr>
            </a:glo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latin typeface="Aptos Display"/>
                <a:ea typeface="Calibri"/>
                <a:cs typeface="Calibri"/>
              </a:rPr>
              <a:t>Presented By K. Krishna Priya</a:t>
            </a:r>
            <a:endParaRPr lang="en-US" b="1">
              <a:latin typeface="Aptos Display"/>
              <a:cs typeface="Angsana New"/>
            </a:endParaRPr>
          </a:p>
        </p:txBody>
      </p:sp>
    </p:spTree>
    <p:extLst>
      <p:ext uri="{BB962C8B-B14F-4D97-AF65-F5344CB8AC3E}">
        <p14:creationId xmlns:p14="http://schemas.microsoft.com/office/powerpoint/2010/main" val="3254356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xmlns="" id="{D815E537-4AB4-4445-A3AC-40D738EDF3DC}"/>
              </a:ext>
            </a:extLst>
          </p:cNvPr>
          <p:cNvSpPr txBox="1"/>
          <p:nvPr/>
        </p:nvSpPr>
        <p:spPr>
          <a:xfrm>
            <a:off x="1183821" y="738390"/>
            <a:ext cx="4845708" cy="492443"/>
          </a:xfrm>
          <a:prstGeom prst="rect">
            <a:avLst/>
          </a:prstGeom>
          <a:noFill/>
        </p:spPr>
        <p:txBody>
          <a:bodyPr wrap="square" lIns="0" tIns="0" rIns="0" bIns="0" rtlCol="0">
            <a:spAutoFit/>
          </a:bodyPr>
          <a:lstStyle/>
          <a:p>
            <a:r>
              <a:rPr lang="en-US" sz="3200" b="1" dirty="0">
                <a:solidFill>
                  <a:srgbClr val="002060"/>
                </a:solidFill>
                <a:latin typeface="Segoe UI" panose="020B0502040204020203" pitchFamily="34" charset="0"/>
                <a:cs typeface="Segoe UI" panose="020B0502040204020203" pitchFamily="34" charset="0"/>
              </a:rPr>
              <a:t>AGENDA</a:t>
            </a:r>
          </a:p>
        </p:txBody>
      </p:sp>
      <p:grpSp>
        <p:nvGrpSpPr>
          <p:cNvPr id="21" name="Group 20">
            <a:extLst>
              <a:ext uri="{FF2B5EF4-FFF2-40B4-BE49-F238E27FC236}">
                <a16:creationId xmlns:a16="http://schemas.microsoft.com/office/drawing/2014/main" xmlns="" id="{B111D787-E830-4638-97B3-205F0A0ABC3F}"/>
              </a:ext>
            </a:extLst>
          </p:cNvPr>
          <p:cNvGrpSpPr/>
          <p:nvPr/>
        </p:nvGrpSpPr>
        <p:grpSpPr>
          <a:xfrm>
            <a:off x="518433" y="1418918"/>
            <a:ext cx="4201583" cy="248425"/>
            <a:chOff x="518433" y="1965070"/>
            <a:chExt cx="4201583" cy="248425"/>
          </a:xfrm>
        </p:grpSpPr>
        <p:sp>
          <p:nvSpPr>
            <p:cNvPr id="6" name="Rectangle: Rounded Corners 5">
              <a:extLst>
                <a:ext uri="{FF2B5EF4-FFF2-40B4-BE49-F238E27FC236}">
                  <a16:creationId xmlns:a16="http://schemas.microsoft.com/office/drawing/2014/main" xmlns="" id="{6BFCD1AA-E1CA-41D6-8605-56AFEBE4EEE3}"/>
                </a:ext>
              </a:extLst>
            </p:cNvPr>
            <p:cNvSpPr/>
            <p:nvPr/>
          </p:nvSpPr>
          <p:spPr>
            <a:xfrm>
              <a:off x="518433" y="1981199"/>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xmlns="" id="{E9101D99-B002-4698-9C7E-C942B9AA2D39}"/>
                </a:ext>
              </a:extLst>
            </p:cNvPr>
            <p:cNvSpPr/>
            <p:nvPr/>
          </p:nvSpPr>
          <p:spPr>
            <a:xfrm>
              <a:off x="1183821" y="1965070"/>
              <a:ext cx="3536195" cy="246221"/>
            </a:xfrm>
            <a:prstGeom prst="rect">
              <a:avLst/>
            </a:prstGeom>
          </p:spPr>
          <p:txBody>
            <a:bodyPr wrap="square" lIns="0" tIns="0" rIns="0" bIns="0" anchor="t">
              <a:spAutoFit/>
            </a:bodyPr>
            <a:lstStyle/>
            <a:p>
              <a:r>
                <a:rPr lang="en-US" sz="1600" i="1" dirty="0">
                  <a:solidFill>
                    <a:srgbClr val="002060"/>
                  </a:solidFill>
                  <a:latin typeface="+mj-lt"/>
                  <a:ea typeface="Calibri Light"/>
                  <a:cs typeface="Segoe UI"/>
                </a:rPr>
                <a:t>Introduction</a:t>
              </a:r>
              <a:endParaRPr lang="en-US" sz="1600" i="1" dirty="0">
                <a:solidFill>
                  <a:srgbClr val="002060"/>
                </a:solidFill>
                <a:latin typeface="+mj-lt"/>
                <a:ea typeface="Calibri Light"/>
                <a:cs typeface="Segoe UI" panose="020B0502040204020203" pitchFamily="34" charset="0"/>
              </a:endParaRPr>
            </a:p>
          </p:txBody>
        </p:sp>
      </p:grpSp>
      <p:grpSp>
        <p:nvGrpSpPr>
          <p:cNvPr id="3" name="Group 2">
            <a:extLst>
              <a:ext uri="{FF2B5EF4-FFF2-40B4-BE49-F238E27FC236}">
                <a16:creationId xmlns:a16="http://schemas.microsoft.com/office/drawing/2014/main" xmlns="" id="{B3B45CBD-FEA0-2FD2-B6F7-0E018F25D735}"/>
              </a:ext>
            </a:extLst>
          </p:cNvPr>
          <p:cNvGrpSpPr/>
          <p:nvPr/>
        </p:nvGrpSpPr>
        <p:grpSpPr>
          <a:xfrm>
            <a:off x="518433" y="-505626"/>
            <a:ext cx="4201583" cy="7040920"/>
            <a:chOff x="518433" y="0"/>
            <a:chExt cx="4201583" cy="7040920"/>
          </a:xfrm>
        </p:grpSpPr>
        <p:cxnSp>
          <p:nvCxnSpPr>
            <p:cNvPr id="4" name="Straight Connector 3">
              <a:extLst>
                <a:ext uri="{FF2B5EF4-FFF2-40B4-BE49-F238E27FC236}">
                  <a16:creationId xmlns:a16="http://schemas.microsoft.com/office/drawing/2014/main" xmlns="" id="{B38D4B56-7D6C-4345-912F-B3BA9A014E8B}"/>
                </a:ext>
                <a:ext uri="{C183D7F6-B498-43B3-948B-1728B52AA6E4}">
                  <adec:decorative xmlns:adec="http://schemas.microsoft.com/office/drawing/2017/decorative" xmlns="" val="1"/>
                </a:ext>
              </a:extLst>
            </p:cNvPr>
            <p:cNvCxnSpPr/>
            <p:nvPr/>
          </p:nvCxnSpPr>
          <p:spPr>
            <a:xfrm flipH="1">
              <a:off x="740229" y="0"/>
              <a:ext cx="7121" cy="704092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xmlns="" id="{2D19246F-8F2D-4FAD-8927-AA34DDAA5DFA}"/>
                </a:ext>
              </a:extLst>
            </p:cNvPr>
            <p:cNvGrpSpPr/>
            <p:nvPr/>
          </p:nvGrpSpPr>
          <p:grpSpPr>
            <a:xfrm>
              <a:off x="518433" y="2473799"/>
              <a:ext cx="4201583" cy="276911"/>
              <a:chOff x="518433" y="2803012"/>
              <a:chExt cx="4201583" cy="276911"/>
            </a:xfrm>
          </p:grpSpPr>
          <p:sp>
            <p:nvSpPr>
              <p:cNvPr id="9" name="Rectangle: Rounded Corners 8">
                <a:extLst>
                  <a:ext uri="{FF2B5EF4-FFF2-40B4-BE49-F238E27FC236}">
                    <a16:creationId xmlns:a16="http://schemas.microsoft.com/office/drawing/2014/main" xmlns="" id="{14FF47BA-9557-4442-8E2A-74A4F4AAD237}"/>
                  </a:ext>
                </a:extLst>
              </p:cNvPr>
              <p:cNvSpPr/>
              <p:nvPr/>
            </p:nvSpPr>
            <p:spPr>
              <a:xfrm>
                <a:off x="518433" y="2847627"/>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xmlns="" id="{B00C2221-E8A7-47E0-B2B2-5A6A32F96791}"/>
                  </a:ext>
                </a:extLst>
              </p:cNvPr>
              <p:cNvSpPr/>
              <p:nvPr/>
            </p:nvSpPr>
            <p:spPr>
              <a:xfrm>
                <a:off x="1183821" y="2803012"/>
                <a:ext cx="3536195" cy="246221"/>
              </a:xfrm>
              <a:prstGeom prst="rect">
                <a:avLst/>
              </a:prstGeom>
            </p:spPr>
            <p:txBody>
              <a:bodyPr wrap="square" lIns="0" tIns="0" rIns="0" bIns="0" anchor="t">
                <a:spAutoFit/>
              </a:bodyPr>
              <a:lstStyle/>
              <a:p>
                <a:r>
                  <a:rPr lang="en-US" sz="1600" i="1" dirty="0">
                    <a:solidFill>
                      <a:srgbClr val="002060"/>
                    </a:solidFill>
                    <a:latin typeface="+mj-lt"/>
                    <a:ea typeface="Calibri Light"/>
                    <a:cs typeface="Segoe UI"/>
                  </a:rPr>
                  <a:t>Problem Statement &amp; Objective</a:t>
                </a:r>
                <a:endParaRPr lang="en-US" sz="1600" i="1" dirty="0">
                  <a:solidFill>
                    <a:srgbClr val="002060"/>
                  </a:solidFill>
                  <a:latin typeface="+mj-lt"/>
                  <a:ea typeface="Calibri Light"/>
                  <a:cs typeface="Segoe UI" panose="020B0502040204020203" pitchFamily="34" charset="0"/>
                </a:endParaRPr>
              </a:p>
            </p:txBody>
          </p:sp>
        </p:grpSp>
      </p:grpSp>
      <p:grpSp>
        <p:nvGrpSpPr>
          <p:cNvPr id="19" name="Group 18">
            <a:extLst>
              <a:ext uri="{FF2B5EF4-FFF2-40B4-BE49-F238E27FC236}">
                <a16:creationId xmlns:a16="http://schemas.microsoft.com/office/drawing/2014/main" xmlns="" id="{9D065A01-39E4-4CC9-9075-3910C66205F5}"/>
              </a:ext>
            </a:extLst>
          </p:cNvPr>
          <p:cNvGrpSpPr/>
          <p:nvPr/>
        </p:nvGrpSpPr>
        <p:grpSpPr>
          <a:xfrm>
            <a:off x="518433" y="3080025"/>
            <a:ext cx="4201583" cy="248425"/>
            <a:chOff x="518433" y="3711851"/>
            <a:chExt cx="4201583" cy="248425"/>
          </a:xfrm>
        </p:grpSpPr>
        <p:sp>
          <p:nvSpPr>
            <p:cNvPr id="11" name="Rectangle: Rounded Corners 10">
              <a:extLst>
                <a:ext uri="{FF2B5EF4-FFF2-40B4-BE49-F238E27FC236}">
                  <a16:creationId xmlns:a16="http://schemas.microsoft.com/office/drawing/2014/main" xmlns="" id="{6B458D5C-BDF7-4A75-A4E8-B99128DCD84A}"/>
                </a:ext>
              </a:extLst>
            </p:cNvPr>
            <p:cNvSpPr/>
            <p:nvPr/>
          </p:nvSpPr>
          <p:spPr>
            <a:xfrm>
              <a:off x="518433" y="372798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CA17B45E-57F0-4725-89C0-3CD74A5097A3}"/>
                </a:ext>
              </a:extLst>
            </p:cNvPr>
            <p:cNvSpPr/>
            <p:nvPr/>
          </p:nvSpPr>
          <p:spPr>
            <a:xfrm>
              <a:off x="1183821" y="3711851"/>
              <a:ext cx="3536195" cy="246221"/>
            </a:xfrm>
            <a:prstGeom prst="rect">
              <a:avLst/>
            </a:prstGeom>
          </p:spPr>
          <p:txBody>
            <a:bodyPr wrap="square" lIns="0" tIns="0" rIns="0" bIns="0" anchor="t">
              <a:spAutoFit/>
            </a:bodyPr>
            <a:lstStyle/>
            <a:p>
              <a:r>
                <a:rPr lang="en-US" sz="1600" i="1" dirty="0">
                  <a:solidFill>
                    <a:srgbClr val="002060"/>
                  </a:solidFill>
                  <a:latin typeface="+mj-lt"/>
                  <a:ea typeface="Calibri Light"/>
                  <a:cs typeface="Segoe UI"/>
                </a:rPr>
                <a:t>Project Architecture </a:t>
              </a:r>
              <a:endParaRPr lang="en-US" sz="1600" i="1" dirty="0">
                <a:solidFill>
                  <a:srgbClr val="002060"/>
                </a:solidFill>
                <a:latin typeface="+mj-lt"/>
                <a:ea typeface="Calibri Light"/>
                <a:cs typeface="Segoe UI" panose="020B0502040204020203" pitchFamily="34" charset="0"/>
              </a:endParaRPr>
            </a:p>
          </p:txBody>
        </p:sp>
      </p:grpSp>
      <p:grpSp>
        <p:nvGrpSpPr>
          <p:cNvPr id="18" name="Group 17">
            <a:extLst>
              <a:ext uri="{FF2B5EF4-FFF2-40B4-BE49-F238E27FC236}">
                <a16:creationId xmlns:a16="http://schemas.microsoft.com/office/drawing/2014/main" xmlns="" id="{609D452F-25F9-4A2F-84BD-9A44714884C6}"/>
              </a:ext>
            </a:extLst>
          </p:cNvPr>
          <p:cNvGrpSpPr/>
          <p:nvPr/>
        </p:nvGrpSpPr>
        <p:grpSpPr>
          <a:xfrm>
            <a:off x="518433" y="4761597"/>
            <a:ext cx="4201583" cy="246221"/>
            <a:chOff x="518433" y="4599325"/>
            <a:chExt cx="4201583" cy="246221"/>
          </a:xfrm>
        </p:grpSpPr>
        <p:sp>
          <p:nvSpPr>
            <p:cNvPr id="13" name="Rectangle: Rounded Corners 12">
              <a:extLst>
                <a:ext uri="{FF2B5EF4-FFF2-40B4-BE49-F238E27FC236}">
                  <a16:creationId xmlns:a16="http://schemas.microsoft.com/office/drawing/2014/main" xmlns="" id="{64E3D015-D1E6-40C0-B820-5D2B0144652D}"/>
                </a:ext>
              </a:extLst>
            </p:cNvPr>
            <p:cNvSpPr/>
            <p:nvPr/>
          </p:nvSpPr>
          <p:spPr>
            <a:xfrm>
              <a:off x="518433" y="4608333"/>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xmlns="" id="{9187696D-0387-46E9-A420-AD2392161D95}"/>
                </a:ext>
              </a:extLst>
            </p:cNvPr>
            <p:cNvSpPr/>
            <p:nvPr/>
          </p:nvSpPr>
          <p:spPr>
            <a:xfrm>
              <a:off x="1183821" y="4599325"/>
              <a:ext cx="3536195" cy="246221"/>
            </a:xfrm>
            <a:prstGeom prst="rect">
              <a:avLst/>
            </a:prstGeom>
          </p:spPr>
          <p:txBody>
            <a:bodyPr wrap="square" lIns="0" tIns="0" rIns="0" bIns="0" anchor="t">
              <a:spAutoFit/>
            </a:bodyPr>
            <a:lstStyle/>
            <a:p>
              <a:r>
                <a:rPr lang="en-US" sz="1600" i="1" dirty="0">
                  <a:solidFill>
                    <a:srgbClr val="002060"/>
                  </a:solidFill>
                  <a:latin typeface="+mj-lt"/>
                  <a:ea typeface="Calibri Light"/>
                  <a:cs typeface="Segoe UI"/>
                </a:rPr>
                <a:t>Visualizations</a:t>
              </a:r>
            </a:p>
          </p:txBody>
        </p:sp>
      </p:grpSp>
      <p:sp>
        <p:nvSpPr>
          <p:cNvPr id="23" name="Oval 22">
            <a:extLst>
              <a:ext uri="{FF2B5EF4-FFF2-40B4-BE49-F238E27FC236}">
                <a16:creationId xmlns:a16="http://schemas.microsoft.com/office/drawing/2014/main" xmlns="" id="{2577E8EA-5E95-41C5-8BE8-EE647DE2613A}"/>
              </a:ext>
              <a:ext uri="{C183D7F6-B498-43B3-948B-1728B52AA6E4}">
                <adec:decorative xmlns:adec="http://schemas.microsoft.com/office/drawing/2017/decorative" xmlns="" val="1"/>
              </a:ext>
            </a:extLst>
          </p:cNvPr>
          <p:cNvSpPr/>
          <p:nvPr/>
        </p:nvSpPr>
        <p:spPr>
          <a:xfrm>
            <a:off x="713852"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2" name="Group 61" descr="This image is a woman's hand writing on a piece of paper. ">
            <a:extLst>
              <a:ext uri="{FF2B5EF4-FFF2-40B4-BE49-F238E27FC236}">
                <a16:creationId xmlns:a16="http://schemas.microsoft.com/office/drawing/2014/main" xmlns="" id="{123C05C1-3914-48FB-B4B8-1388A2DB5ACE}"/>
              </a:ext>
            </a:extLst>
          </p:cNvPr>
          <p:cNvGrpSpPr/>
          <p:nvPr/>
        </p:nvGrpSpPr>
        <p:grpSpPr>
          <a:xfrm>
            <a:off x="4482071" y="-508000"/>
            <a:ext cx="8739666" cy="8346238"/>
            <a:chOff x="4597682" y="-439156"/>
            <a:chExt cx="7594320" cy="7252450"/>
          </a:xfrm>
        </p:grpSpPr>
        <p:sp>
          <p:nvSpPr>
            <p:cNvPr id="45" name="Freeform 22">
              <a:extLst>
                <a:ext uri="{FF2B5EF4-FFF2-40B4-BE49-F238E27FC236}">
                  <a16:creationId xmlns:a16="http://schemas.microsoft.com/office/drawing/2014/main" xmlns="" id="{52C7242F-F484-4573-8387-13E2AE9DD93F}"/>
                </a:ext>
              </a:extLst>
            </p:cNvPr>
            <p:cNvSpPr>
              <a:spLocks/>
            </p:cNvSpPr>
            <p:nvPr/>
          </p:nvSpPr>
          <p:spPr bwMode="auto">
            <a:xfrm>
              <a:off x="4597682" y="-6899"/>
              <a:ext cx="7594319" cy="6820193"/>
            </a:xfrm>
            <a:custGeom>
              <a:avLst/>
              <a:gdLst>
                <a:gd name="T0" fmla="*/ 2254 w 2254"/>
                <a:gd name="T1" fmla="*/ 0 h 2026"/>
                <a:gd name="T2" fmla="*/ 2254 w 2254"/>
                <a:gd name="T3" fmla="*/ 2026 h 2026"/>
                <a:gd name="T4" fmla="*/ 2091 w 2254"/>
                <a:gd name="T5" fmla="*/ 1927 h 2026"/>
                <a:gd name="T6" fmla="*/ 1829 w 2254"/>
                <a:gd name="T7" fmla="*/ 1867 h 2026"/>
                <a:gd name="T8" fmla="*/ 1784 w 2254"/>
                <a:gd name="T9" fmla="*/ 1860 h 2026"/>
                <a:gd name="T10" fmla="*/ 1025 w 2254"/>
                <a:gd name="T11" fmla="*/ 1812 h 2026"/>
                <a:gd name="T12" fmla="*/ 330 w 2254"/>
                <a:gd name="T13" fmla="*/ 1005 h 2026"/>
                <a:gd name="T14" fmla="*/ 662 w 2254"/>
                <a:gd name="T15" fmla="*/ 430 h 2026"/>
                <a:gd name="T16" fmla="*/ 770 w 2254"/>
                <a:gd name="T17" fmla="*/ 0 h 2026"/>
                <a:gd name="T18" fmla="*/ 2254 w 2254"/>
                <a:gd name="T19" fmla="*/ 0 h 20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54" h="2026">
                  <a:moveTo>
                    <a:pt x="2254" y="0"/>
                  </a:moveTo>
                  <a:cubicBezTo>
                    <a:pt x="2254" y="2026"/>
                    <a:pt x="2254" y="2026"/>
                    <a:pt x="2254" y="2026"/>
                  </a:cubicBezTo>
                  <a:cubicBezTo>
                    <a:pt x="2243" y="2005"/>
                    <a:pt x="2206" y="1966"/>
                    <a:pt x="2091" y="1927"/>
                  </a:cubicBezTo>
                  <a:cubicBezTo>
                    <a:pt x="2029" y="1906"/>
                    <a:pt x="1944" y="1885"/>
                    <a:pt x="1829" y="1867"/>
                  </a:cubicBezTo>
                  <a:cubicBezTo>
                    <a:pt x="1814" y="1865"/>
                    <a:pt x="1800" y="1862"/>
                    <a:pt x="1784" y="1860"/>
                  </a:cubicBezTo>
                  <a:cubicBezTo>
                    <a:pt x="1606" y="1835"/>
                    <a:pt x="1361" y="1816"/>
                    <a:pt x="1025" y="1812"/>
                  </a:cubicBezTo>
                  <a:cubicBezTo>
                    <a:pt x="0" y="1800"/>
                    <a:pt x="66" y="1196"/>
                    <a:pt x="330" y="1005"/>
                  </a:cubicBezTo>
                  <a:cubicBezTo>
                    <a:pt x="580" y="825"/>
                    <a:pt x="686" y="680"/>
                    <a:pt x="662" y="430"/>
                  </a:cubicBezTo>
                  <a:cubicBezTo>
                    <a:pt x="638" y="181"/>
                    <a:pt x="770" y="0"/>
                    <a:pt x="770" y="0"/>
                  </a:cubicBezTo>
                  <a:lnTo>
                    <a:pt x="2254" y="0"/>
                  </a:lnTo>
                  <a:close/>
                </a:path>
              </a:pathLst>
            </a:custGeom>
            <a:gradFill>
              <a:gsLst>
                <a:gs pos="0">
                  <a:srgbClr val="7CEFD8"/>
                </a:gs>
                <a:gs pos="55000">
                  <a:srgbClr val="6672E4"/>
                </a:gs>
                <a:gs pos="100000">
                  <a:srgbClr val="882BE5"/>
                </a:gs>
              </a:gsLst>
              <a:lin ang="48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23">
              <a:extLst>
                <a:ext uri="{FF2B5EF4-FFF2-40B4-BE49-F238E27FC236}">
                  <a16:creationId xmlns:a16="http://schemas.microsoft.com/office/drawing/2014/main" xmlns="" id="{DFA1772D-1024-422A-B407-BE0F21E16E56}"/>
                </a:ext>
              </a:extLst>
            </p:cNvPr>
            <p:cNvSpPr>
              <a:spLocks/>
            </p:cNvSpPr>
            <p:nvPr/>
          </p:nvSpPr>
          <p:spPr bwMode="auto">
            <a:xfrm>
              <a:off x="7013242" y="1441003"/>
              <a:ext cx="4110752" cy="3954852"/>
            </a:xfrm>
            <a:custGeom>
              <a:avLst/>
              <a:gdLst>
                <a:gd name="T0" fmla="*/ 0 w 2294"/>
                <a:gd name="T1" fmla="*/ 221 h 2207"/>
                <a:gd name="T2" fmla="*/ 1809 w 2294"/>
                <a:gd name="T3" fmla="*/ 0 h 2207"/>
                <a:gd name="T4" fmla="*/ 2294 w 2294"/>
                <a:gd name="T5" fmla="*/ 1957 h 2207"/>
                <a:gd name="T6" fmla="*/ 432 w 2294"/>
                <a:gd name="T7" fmla="*/ 2207 h 2207"/>
                <a:gd name="T8" fmla="*/ 0 w 2294"/>
                <a:gd name="T9" fmla="*/ 221 h 2207"/>
              </a:gdLst>
              <a:ahLst/>
              <a:cxnLst>
                <a:cxn ang="0">
                  <a:pos x="T0" y="T1"/>
                </a:cxn>
                <a:cxn ang="0">
                  <a:pos x="T2" y="T3"/>
                </a:cxn>
                <a:cxn ang="0">
                  <a:pos x="T4" y="T5"/>
                </a:cxn>
                <a:cxn ang="0">
                  <a:pos x="T6" y="T7"/>
                </a:cxn>
                <a:cxn ang="0">
                  <a:pos x="T8" y="T9"/>
                </a:cxn>
              </a:cxnLst>
              <a:rect l="0" t="0" r="r" b="b"/>
              <a:pathLst>
                <a:path w="2294" h="2207">
                  <a:moveTo>
                    <a:pt x="0" y="221"/>
                  </a:moveTo>
                  <a:lnTo>
                    <a:pt x="1809" y="0"/>
                  </a:lnTo>
                  <a:lnTo>
                    <a:pt x="2294" y="1957"/>
                  </a:lnTo>
                  <a:lnTo>
                    <a:pt x="432" y="2207"/>
                  </a:lnTo>
                  <a:lnTo>
                    <a:pt x="0" y="221"/>
                  </a:lnTo>
                  <a:close/>
                </a:path>
              </a:pathLst>
            </a:custGeom>
            <a:solidFill>
              <a:srgbClr val="C8F4F7"/>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24">
              <a:extLst>
                <a:ext uri="{FF2B5EF4-FFF2-40B4-BE49-F238E27FC236}">
                  <a16:creationId xmlns:a16="http://schemas.microsoft.com/office/drawing/2014/main" xmlns="" id="{30CD4E41-332B-4C6B-9927-54698D5D0DF2}"/>
                </a:ext>
              </a:extLst>
            </p:cNvPr>
            <p:cNvSpPr>
              <a:spLocks/>
            </p:cNvSpPr>
            <p:nvPr/>
          </p:nvSpPr>
          <p:spPr bwMode="auto">
            <a:xfrm>
              <a:off x="7676266" y="1441003"/>
              <a:ext cx="2981818" cy="1632475"/>
            </a:xfrm>
            <a:custGeom>
              <a:avLst/>
              <a:gdLst>
                <a:gd name="T0" fmla="*/ 0 w 1664"/>
                <a:gd name="T1" fmla="*/ 736 h 911"/>
                <a:gd name="T2" fmla="*/ 1664 w 1664"/>
                <a:gd name="T3" fmla="*/ 911 h 911"/>
                <a:gd name="T4" fmla="*/ 1439 w 1664"/>
                <a:gd name="T5" fmla="*/ 0 h 911"/>
                <a:gd name="T6" fmla="*/ 399 w 1664"/>
                <a:gd name="T7" fmla="*/ 127 h 911"/>
                <a:gd name="T8" fmla="*/ 0 w 1664"/>
                <a:gd name="T9" fmla="*/ 736 h 911"/>
              </a:gdLst>
              <a:ahLst/>
              <a:cxnLst>
                <a:cxn ang="0">
                  <a:pos x="T0" y="T1"/>
                </a:cxn>
                <a:cxn ang="0">
                  <a:pos x="T2" y="T3"/>
                </a:cxn>
                <a:cxn ang="0">
                  <a:pos x="T4" y="T5"/>
                </a:cxn>
                <a:cxn ang="0">
                  <a:pos x="T6" y="T7"/>
                </a:cxn>
                <a:cxn ang="0">
                  <a:pos x="T8" y="T9"/>
                </a:cxn>
              </a:cxnLst>
              <a:rect l="0" t="0" r="r" b="b"/>
              <a:pathLst>
                <a:path w="1664" h="911">
                  <a:moveTo>
                    <a:pt x="0" y="736"/>
                  </a:moveTo>
                  <a:lnTo>
                    <a:pt x="1664" y="911"/>
                  </a:lnTo>
                  <a:lnTo>
                    <a:pt x="1439" y="0"/>
                  </a:lnTo>
                  <a:lnTo>
                    <a:pt x="399" y="127"/>
                  </a:lnTo>
                  <a:lnTo>
                    <a:pt x="0" y="736"/>
                  </a:lnTo>
                  <a:close/>
                </a:path>
              </a:pathLst>
            </a:custGeom>
            <a:solidFill>
              <a:srgbClr val="7CE4EC"/>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25">
              <a:extLst>
                <a:ext uri="{FF2B5EF4-FFF2-40B4-BE49-F238E27FC236}">
                  <a16:creationId xmlns:a16="http://schemas.microsoft.com/office/drawing/2014/main" xmlns="" id="{12DCF2D5-0997-409A-9DB7-B4DFF4C5BA0B}"/>
                </a:ext>
              </a:extLst>
            </p:cNvPr>
            <p:cNvSpPr>
              <a:spLocks/>
            </p:cNvSpPr>
            <p:nvPr/>
          </p:nvSpPr>
          <p:spPr bwMode="auto">
            <a:xfrm>
              <a:off x="8108129" y="1426667"/>
              <a:ext cx="1347553" cy="593139"/>
            </a:xfrm>
            <a:custGeom>
              <a:avLst/>
              <a:gdLst>
                <a:gd name="T0" fmla="*/ 752 w 752"/>
                <a:gd name="T1" fmla="*/ 0 h 331"/>
                <a:gd name="T2" fmla="*/ 275 w 752"/>
                <a:gd name="T3" fmla="*/ 72 h 331"/>
                <a:gd name="T4" fmla="*/ 0 w 752"/>
                <a:gd name="T5" fmla="*/ 331 h 331"/>
                <a:gd name="T6" fmla="*/ 752 w 752"/>
                <a:gd name="T7" fmla="*/ 130 h 331"/>
                <a:gd name="T8" fmla="*/ 752 w 752"/>
                <a:gd name="T9" fmla="*/ 0 h 331"/>
              </a:gdLst>
              <a:ahLst/>
              <a:cxnLst>
                <a:cxn ang="0">
                  <a:pos x="T0" y="T1"/>
                </a:cxn>
                <a:cxn ang="0">
                  <a:pos x="T2" y="T3"/>
                </a:cxn>
                <a:cxn ang="0">
                  <a:pos x="T4" y="T5"/>
                </a:cxn>
                <a:cxn ang="0">
                  <a:pos x="T6" y="T7"/>
                </a:cxn>
                <a:cxn ang="0">
                  <a:pos x="T8" y="T9"/>
                </a:cxn>
              </a:cxnLst>
              <a:rect l="0" t="0" r="r" b="b"/>
              <a:pathLst>
                <a:path w="752" h="331">
                  <a:moveTo>
                    <a:pt x="752" y="0"/>
                  </a:moveTo>
                  <a:lnTo>
                    <a:pt x="275" y="72"/>
                  </a:lnTo>
                  <a:lnTo>
                    <a:pt x="0" y="331"/>
                  </a:lnTo>
                  <a:lnTo>
                    <a:pt x="752" y="130"/>
                  </a:lnTo>
                  <a:lnTo>
                    <a:pt x="752" y="0"/>
                  </a:lnTo>
                  <a:close/>
                </a:path>
              </a:pathLst>
            </a:custGeom>
            <a:solidFill>
              <a:srgbClr val="ADA4F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Freeform 26">
              <a:extLst>
                <a:ext uri="{FF2B5EF4-FFF2-40B4-BE49-F238E27FC236}">
                  <a16:creationId xmlns:a16="http://schemas.microsoft.com/office/drawing/2014/main" xmlns="" id="{56FE8491-17D1-44D2-A059-D277D43E3DDA}"/>
                </a:ext>
              </a:extLst>
            </p:cNvPr>
            <p:cNvSpPr>
              <a:spLocks/>
            </p:cNvSpPr>
            <p:nvPr/>
          </p:nvSpPr>
          <p:spPr bwMode="auto">
            <a:xfrm>
              <a:off x="7955812" y="1828066"/>
              <a:ext cx="546548" cy="456950"/>
            </a:xfrm>
            <a:custGeom>
              <a:avLst/>
              <a:gdLst>
                <a:gd name="T0" fmla="*/ 162 w 162"/>
                <a:gd name="T1" fmla="*/ 66 h 136"/>
                <a:gd name="T2" fmla="*/ 87 w 162"/>
                <a:gd name="T3" fmla="*/ 130 h 136"/>
                <a:gd name="T4" fmla="*/ 36 w 162"/>
                <a:gd name="T5" fmla="*/ 124 h 136"/>
                <a:gd name="T6" fmla="*/ 0 w 162"/>
                <a:gd name="T7" fmla="*/ 103 h 136"/>
                <a:gd name="T8" fmla="*/ 103 w 162"/>
                <a:gd name="T9" fmla="*/ 0 h 136"/>
                <a:gd name="T10" fmla="*/ 148 w 162"/>
                <a:gd name="T11" fmla="*/ 50 h 136"/>
                <a:gd name="T12" fmla="*/ 162 w 162"/>
                <a:gd name="T13" fmla="*/ 66 h 136"/>
              </a:gdLst>
              <a:ahLst/>
              <a:cxnLst>
                <a:cxn ang="0">
                  <a:pos x="T0" y="T1"/>
                </a:cxn>
                <a:cxn ang="0">
                  <a:pos x="T2" y="T3"/>
                </a:cxn>
                <a:cxn ang="0">
                  <a:pos x="T4" y="T5"/>
                </a:cxn>
                <a:cxn ang="0">
                  <a:pos x="T6" y="T7"/>
                </a:cxn>
                <a:cxn ang="0">
                  <a:pos x="T8" y="T9"/>
                </a:cxn>
                <a:cxn ang="0">
                  <a:pos x="T10" y="T11"/>
                </a:cxn>
                <a:cxn ang="0">
                  <a:pos x="T12" y="T13"/>
                </a:cxn>
              </a:cxnLst>
              <a:rect l="0" t="0" r="r" b="b"/>
              <a:pathLst>
                <a:path w="162" h="136">
                  <a:moveTo>
                    <a:pt x="162" y="66"/>
                  </a:moveTo>
                  <a:cubicBezTo>
                    <a:pt x="162" y="66"/>
                    <a:pt x="119" y="116"/>
                    <a:pt x="87" y="130"/>
                  </a:cubicBezTo>
                  <a:cubicBezTo>
                    <a:pt x="72" y="136"/>
                    <a:pt x="53" y="131"/>
                    <a:pt x="36" y="124"/>
                  </a:cubicBezTo>
                  <a:cubicBezTo>
                    <a:pt x="16" y="115"/>
                    <a:pt x="0" y="103"/>
                    <a:pt x="0" y="103"/>
                  </a:cubicBezTo>
                  <a:cubicBezTo>
                    <a:pt x="103" y="0"/>
                    <a:pt x="103" y="0"/>
                    <a:pt x="103" y="0"/>
                  </a:cubicBezTo>
                  <a:cubicBezTo>
                    <a:pt x="148" y="50"/>
                    <a:pt x="148" y="50"/>
                    <a:pt x="148" y="50"/>
                  </a:cubicBezTo>
                  <a:lnTo>
                    <a:pt x="162" y="66"/>
                  </a:lnTo>
                  <a:close/>
                </a:path>
              </a:pathLst>
            </a:custGeom>
            <a:solidFill>
              <a:srgbClr val="D8C4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0" name="Freeform 27">
              <a:extLst>
                <a:ext uri="{FF2B5EF4-FFF2-40B4-BE49-F238E27FC236}">
                  <a16:creationId xmlns:a16="http://schemas.microsoft.com/office/drawing/2014/main" xmlns="" id="{59AC079D-039E-4639-B27F-9908EF107DB5}"/>
                </a:ext>
              </a:extLst>
            </p:cNvPr>
            <p:cNvSpPr>
              <a:spLocks/>
            </p:cNvSpPr>
            <p:nvPr/>
          </p:nvSpPr>
          <p:spPr bwMode="auto">
            <a:xfrm>
              <a:off x="8077665" y="1996510"/>
              <a:ext cx="424695" cy="288506"/>
            </a:xfrm>
            <a:custGeom>
              <a:avLst/>
              <a:gdLst>
                <a:gd name="T0" fmla="*/ 126 w 126"/>
                <a:gd name="T1" fmla="*/ 16 h 86"/>
                <a:gd name="T2" fmla="*/ 51 w 126"/>
                <a:gd name="T3" fmla="*/ 80 h 86"/>
                <a:gd name="T4" fmla="*/ 0 w 126"/>
                <a:gd name="T5" fmla="*/ 74 h 86"/>
                <a:gd name="T6" fmla="*/ 6 w 126"/>
                <a:gd name="T7" fmla="*/ 61 h 86"/>
                <a:gd name="T8" fmla="*/ 112 w 126"/>
                <a:gd name="T9" fmla="*/ 0 h 86"/>
                <a:gd name="T10" fmla="*/ 126 w 126"/>
                <a:gd name="T11" fmla="*/ 16 h 86"/>
              </a:gdLst>
              <a:ahLst/>
              <a:cxnLst>
                <a:cxn ang="0">
                  <a:pos x="T0" y="T1"/>
                </a:cxn>
                <a:cxn ang="0">
                  <a:pos x="T2" y="T3"/>
                </a:cxn>
                <a:cxn ang="0">
                  <a:pos x="T4" y="T5"/>
                </a:cxn>
                <a:cxn ang="0">
                  <a:pos x="T6" y="T7"/>
                </a:cxn>
                <a:cxn ang="0">
                  <a:pos x="T8" y="T9"/>
                </a:cxn>
                <a:cxn ang="0">
                  <a:pos x="T10" y="T11"/>
                </a:cxn>
              </a:cxnLst>
              <a:rect l="0" t="0" r="r" b="b"/>
              <a:pathLst>
                <a:path w="126" h="86">
                  <a:moveTo>
                    <a:pt x="126" y="16"/>
                  </a:moveTo>
                  <a:cubicBezTo>
                    <a:pt x="126" y="16"/>
                    <a:pt x="83" y="66"/>
                    <a:pt x="51" y="80"/>
                  </a:cubicBezTo>
                  <a:cubicBezTo>
                    <a:pt x="36" y="86"/>
                    <a:pt x="17" y="81"/>
                    <a:pt x="0" y="74"/>
                  </a:cubicBezTo>
                  <a:cubicBezTo>
                    <a:pt x="2" y="70"/>
                    <a:pt x="3" y="65"/>
                    <a:pt x="6" y="61"/>
                  </a:cubicBezTo>
                  <a:cubicBezTo>
                    <a:pt x="6" y="61"/>
                    <a:pt x="54" y="25"/>
                    <a:pt x="112" y="0"/>
                  </a:cubicBezTo>
                  <a:lnTo>
                    <a:pt x="126" y="1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1" name="Freeform 28">
              <a:extLst>
                <a:ext uri="{FF2B5EF4-FFF2-40B4-BE49-F238E27FC236}">
                  <a16:creationId xmlns:a16="http://schemas.microsoft.com/office/drawing/2014/main" xmlns="" id="{C95685F9-863C-488D-A6CE-3A519F21EA34}"/>
                </a:ext>
              </a:extLst>
            </p:cNvPr>
            <p:cNvSpPr>
              <a:spLocks/>
            </p:cNvSpPr>
            <p:nvPr/>
          </p:nvSpPr>
          <p:spPr bwMode="auto">
            <a:xfrm>
              <a:off x="11804938" y="-14067"/>
              <a:ext cx="387063" cy="7168"/>
            </a:xfrm>
            <a:custGeom>
              <a:avLst/>
              <a:gdLst>
                <a:gd name="T0" fmla="*/ 115 w 115"/>
                <a:gd name="T1" fmla="*/ 2 h 2"/>
                <a:gd name="T2" fmla="*/ 0 w 115"/>
                <a:gd name="T3" fmla="*/ 2 h 2"/>
                <a:gd name="T4" fmla="*/ 115 w 115"/>
                <a:gd name="T5" fmla="*/ 2 h 2"/>
              </a:gdLst>
              <a:ahLst/>
              <a:cxnLst>
                <a:cxn ang="0">
                  <a:pos x="T0" y="T1"/>
                </a:cxn>
                <a:cxn ang="0">
                  <a:pos x="T2" y="T3"/>
                </a:cxn>
                <a:cxn ang="0">
                  <a:pos x="T4" y="T5"/>
                </a:cxn>
              </a:cxnLst>
              <a:rect l="0" t="0" r="r" b="b"/>
              <a:pathLst>
                <a:path w="115" h="2">
                  <a:moveTo>
                    <a:pt x="115" y="2"/>
                  </a:moveTo>
                  <a:cubicBezTo>
                    <a:pt x="0" y="2"/>
                    <a:pt x="0" y="2"/>
                    <a:pt x="0" y="2"/>
                  </a:cubicBezTo>
                  <a:cubicBezTo>
                    <a:pt x="73" y="0"/>
                    <a:pt x="115" y="2"/>
                    <a:pt x="115" y="2"/>
                  </a:cubicBezTo>
                  <a:close/>
                </a:path>
              </a:pathLst>
            </a:custGeom>
            <a:solidFill>
              <a:srgbClr val="190E4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nvGrpSpPr>
            <p:cNvPr id="60" name="Group 59">
              <a:extLst>
                <a:ext uri="{FF2B5EF4-FFF2-40B4-BE49-F238E27FC236}">
                  <a16:creationId xmlns:a16="http://schemas.microsoft.com/office/drawing/2014/main" xmlns="" id="{D88A045D-1D47-48A7-BD6D-329F30D7916F}"/>
                </a:ext>
              </a:extLst>
            </p:cNvPr>
            <p:cNvGrpSpPr/>
            <p:nvPr/>
          </p:nvGrpSpPr>
          <p:grpSpPr>
            <a:xfrm>
              <a:off x="7676266" y="528897"/>
              <a:ext cx="1904852" cy="2230988"/>
              <a:chOff x="7676266" y="528897"/>
              <a:chExt cx="1904852" cy="2230988"/>
            </a:xfrm>
            <a:gradFill>
              <a:gsLst>
                <a:gs pos="0">
                  <a:srgbClr val="03002F"/>
                </a:gs>
                <a:gs pos="100000">
                  <a:srgbClr val="F870FF"/>
                </a:gs>
              </a:gsLst>
              <a:lin ang="19800000" scaled="0"/>
            </a:gradFill>
          </p:grpSpPr>
          <p:sp>
            <p:nvSpPr>
              <p:cNvPr id="52" name="Freeform 29">
                <a:extLst>
                  <a:ext uri="{FF2B5EF4-FFF2-40B4-BE49-F238E27FC236}">
                    <a16:creationId xmlns:a16="http://schemas.microsoft.com/office/drawing/2014/main" xmlns="" id="{8AC43BD2-6A27-4E0F-BAFD-FDAF479A012B}"/>
                  </a:ext>
                </a:extLst>
              </p:cNvPr>
              <p:cNvSpPr>
                <a:spLocks/>
              </p:cNvSpPr>
              <p:nvPr/>
            </p:nvSpPr>
            <p:spPr bwMode="auto">
              <a:xfrm>
                <a:off x="7676266" y="2195418"/>
                <a:ext cx="589555" cy="564467"/>
              </a:xfrm>
              <a:custGeom>
                <a:avLst/>
                <a:gdLst>
                  <a:gd name="T0" fmla="*/ 138 w 175"/>
                  <a:gd name="T1" fmla="*/ 16 h 168"/>
                  <a:gd name="T2" fmla="*/ 175 w 175"/>
                  <a:gd name="T3" fmla="*/ 32 h 168"/>
                  <a:gd name="T4" fmla="*/ 167 w 175"/>
                  <a:gd name="T5" fmla="*/ 40 h 168"/>
                  <a:gd name="T6" fmla="*/ 109 w 175"/>
                  <a:gd name="T7" fmla="*/ 105 h 168"/>
                  <a:gd name="T8" fmla="*/ 109 w 175"/>
                  <a:gd name="T9" fmla="*/ 105 h 168"/>
                  <a:gd name="T10" fmla="*/ 84 w 175"/>
                  <a:gd name="T11" fmla="*/ 133 h 168"/>
                  <a:gd name="T12" fmla="*/ 0 w 175"/>
                  <a:gd name="T13" fmla="*/ 168 h 168"/>
                  <a:gd name="T14" fmla="*/ 32 w 175"/>
                  <a:gd name="T15" fmla="*/ 83 h 168"/>
                  <a:gd name="T16" fmla="*/ 48 w 175"/>
                  <a:gd name="T17" fmla="*/ 63 h 168"/>
                  <a:gd name="T18" fmla="*/ 65 w 175"/>
                  <a:gd name="T19" fmla="*/ 42 h 168"/>
                  <a:gd name="T20" fmla="*/ 99 w 175"/>
                  <a:gd name="T21" fmla="*/ 0 h 168"/>
                  <a:gd name="T22" fmla="*/ 103 w 175"/>
                  <a:gd name="T23" fmla="*/ 1 h 168"/>
                  <a:gd name="T24" fmla="*/ 108 w 175"/>
                  <a:gd name="T25" fmla="*/ 3 h 168"/>
                  <a:gd name="T26" fmla="*/ 113 w 175"/>
                  <a:gd name="T27" fmla="*/ 6 h 168"/>
                  <a:gd name="T28" fmla="*/ 115 w 175"/>
                  <a:gd name="T29" fmla="*/ 6 h 168"/>
                  <a:gd name="T30" fmla="*/ 115 w 175"/>
                  <a:gd name="T31" fmla="*/ 6 h 168"/>
                  <a:gd name="T32" fmla="*/ 115 w 175"/>
                  <a:gd name="T33" fmla="*/ 6 h 168"/>
                  <a:gd name="T34" fmla="*/ 131 w 175"/>
                  <a:gd name="T35" fmla="*/ 13 h 168"/>
                  <a:gd name="T36" fmla="*/ 136 w 175"/>
                  <a:gd name="T37" fmla="*/ 15 h 168"/>
                  <a:gd name="T38" fmla="*/ 138 w 175"/>
                  <a:gd name="T39" fmla="*/ 1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5" h="168">
                    <a:moveTo>
                      <a:pt x="138" y="16"/>
                    </a:moveTo>
                    <a:cubicBezTo>
                      <a:pt x="150" y="21"/>
                      <a:pt x="162" y="27"/>
                      <a:pt x="175" y="32"/>
                    </a:cubicBezTo>
                    <a:cubicBezTo>
                      <a:pt x="167" y="40"/>
                      <a:pt x="167" y="40"/>
                      <a:pt x="167" y="40"/>
                    </a:cubicBezTo>
                    <a:cubicBezTo>
                      <a:pt x="109" y="105"/>
                      <a:pt x="109" y="105"/>
                      <a:pt x="109" y="105"/>
                    </a:cubicBezTo>
                    <a:cubicBezTo>
                      <a:pt x="109" y="105"/>
                      <a:pt x="109" y="105"/>
                      <a:pt x="109" y="105"/>
                    </a:cubicBezTo>
                    <a:cubicBezTo>
                      <a:pt x="84" y="133"/>
                      <a:pt x="84" y="133"/>
                      <a:pt x="84" y="133"/>
                    </a:cubicBezTo>
                    <a:cubicBezTo>
                      <a:pt x="0" y="168"/>
                      <a:pt x="0" y="168"/>
                      <a:pt x="0" y="168"/>
                    </a:cubicBezTo>
                    <a:cubicBezTo>
                      <a:pt x="32" y="83"/>
                      <a:pt x="32" y="83"/>
                      <a:pt x="32" y="83"/>
                    </a:cubicBezTo>
                    <a:cubicBezTo>
                      <a:pt x="48" y="63"/>
                      <a:pt x="48" y="63"/>
                      <a:pt x="48" y="63"/>
                    </a:cubicBezTo>
                    <a:cubicBezTo>
                      <a:pt x="65" y="42"/>
                      <a:pt x="65" y="42"/>
                      <a:pt x="65" y="42"/>
                    </a:cubicBezTo>
                    <a:cubicBezTo>
                      <a:pt x="99" y="0"/>
                      <a:pt x="99" y="0"/>
                      <a:pt x="99" y="0"/>
                    </a:cubicBezTo>
                    <a:cubicBezTo>
                      <a:pt x="100" y="0"/>
                      <a:pt x="101" y="1"/>
                      <a:pt x="103" y="1"/>
                    </a:cubicBezTo>
                    <a:cubicBezTo>
                      <a:pt x="104" y="2"/>
                      <a:pt x="106" y="3"/>
                      <a:pt x="108" y="3"/>
                    </a:cubicBezTo>
                    <a:cubicBezTo>
                      <a:pt x="110" y="4"/>
                      <a:pt x="112" y="5"/>
                      <a:pt x="113" y="6"/>
                    </a:cubicBezTo>
                    <a:cubicBezTo>
                      <a:pt x="114" y="6"/>
                      <a:pt x="114" y="6"/>
                      <a:pt x="115" y="6"/>
                    </a:cubicBezTo>
                    <a:cubicBezTo>
                      <a:pt x="115" y="6"/>
                      <a:pt x="115" y="6"/>
                      <a:pt x="115" y="6"/>
                    </a:cubicBezTo>
                    <a:cubicBezTo>
                      <a:pt x="115" y="6"/>
                      <a:pt x="115" y="6"/>
                      <a:pt x="115" y="6"/>
                    </a:cubicBezTo>
                    <a:cubicBezTo>
                      <a:pt x="120" y="8"/>
                      <a:pt x="126" y="11"/>
                      <a:pt x="131" y="13"/>
                    </a:cubicBezTo>
                    <a:cubicBezTo>
                      <a:pt x="133" y="14"/>
                      <a:pt x="134" y="15"/>
                      <a:pt x="136" y="15"/>
                    </a:cubicBezTo>
                    <a:cubicBezTo>
                      <a:pt x="137" y="16"/>
                      <a:pt x="137" y="16"/>
                      <a:pt x="13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30">
                <a:extLst>
                  <a:ext uri="{FF2B5EF4-FFF2-40B4-BE49-F238E27FC236}">
                    <a16:creationId xmlns:a16="http://schemas.microsoft.com/office/drawing/2014/main" xmlns="" id="{ADA7EFA8-1700-4615-8891-221172E4BD3B}"/>
                  </a:ext>
                </a:extLst>
              </p:cNvPr>
              <p:cNvSpPr>
                <a:spLocks/>
              </p:cNvSpPr>
              <p:nvPr/>
            </p:nvSpPr>
            <p:spPr bwMode="auto">
              <a:xfrm>
                <a:off x="8009570" y="528897"/>
                <a:ext cx="1571548" cy="1774039"/>
              </a:xfrm>
              <a:custGeom>
                <a:avLst/>
                <a:gdLst>
                  <a:gd name="T0" fmla="*/ 454 w 466"/>
                  <a:gd name="T1" fmla="*/ 77 h 527"/>
                  <a:gd name="T2" fmla="*/ 450 w 466"/>
                  <a:gd name="T3" fmla="*/ 81 h 527"/>
                  <a:gd name="T4" fmla="*/ 241 w 466"/>
                  <a:gd name="T5" fmla="*/ 334 h 527"/>
                  <a:gd name="T6" fmla="*/ 228 w 466"/>
                  <a:gd name="T7" fmla="*/ 350 h 527"/>
                  <a:gd name="T8" fmla="*/ 184 w 466"/>
                  <a:gd name="T9" fmla="*/ 403 h 527"/>
                  <a:gd name="T10" fmla="*/ 162 w 466"/>
                  <a:gd name="T11" fmla="*/ 429 h 527"/>
                  <a:gd name="T12" fmla="*/ 134 w 466"/>
                  <a:gd name="T13" fmla="*/ 461 h 527"/>
                  <a:gd name="T14" fmla="*/ 76 w 466"/>
                  <a:gd name="T15" fmla="*/ 527 h 527"/>
                  <a:gd name="T16" fmla="*/ 39 w 466"/>
                  <a:gd name="T17" fmla="*/ 511 h 527"/>
                  <a:gd name="T18" fmla="*/ 37 w 466"/>
                  <a:gd name="T19" fmla="*/ 510 h 527"/>
                  <a:gd name="T20" fmla="*/ 32 w 466"/>
                  <a:gd name="T21" fmla="*/ 508 h 527"/>
                  <a:gd name="T22" fmla="*/ 16 w 466"/>
                  <a:gd name="T23" fmla="*/ 501 h 527"/>
                  <a:gd name="T24" fmla="*/ 16 w 466"/>
                  <a:gd name="T25" fmla="*/ 501 h 527"/>
                  <a:gd name="T26" fmla="*/ 16 w 466"/>
                  <a:gd name="T27" fmla="*/ 501 h 527"/>
                  <a:gd name="T28" fmla="*/ 14 w 466"/>
                  <a:gd name="T29" fmla="*/ 501 h 527"/>
                  <a:gd name="T30" fmla="*/ 9 w 466"/>
                  <a:gd name="T31" fmla="*/ 498 h 527"/>
                  <a:gd name="T32" fmla="*/ 4 w 466"/>
                  <a:gd name="T33" fmla="*/ 496 h 527"/>
                  <a:gd name="T34" fmla="*/ 0 w 466"/>
                  <a:gd name="T35" fmla="*/ 495 h 527"/>
                  <a:gd name="T36" fmla="*/ 378 w 466"/>
                  <a:gd name="T37" fmla="*/ 24 h 527"/>
                  <a:gd name="T38" fmla="*/ 443 w 466"/>
                  <a:gd name="T39" fmla="*/ 16 h 527"/>
                  <a:gd name="T40" fmla="*/ 454 w 466"/>
                  <a:gd name="T41" fmla="*/ 7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6" h="527">
                    <a:moveTo>
                      <a:pt x="454" y="77"/>
                    </a:moveTo>
                    <a:cubicBezTo>
                      <a:pt x="453" y="78"/>
                      <a:pt x="452" y="80"/>
                      <a:pt x="450" y="81"/>
                    </a:cubicBezTo>
                    <a:cubicBezTo>
                      <a:pt x="241" y="334"/>
                      <a:pt x="241" y="334"/>
                      <a:pt x="241" y="334"/>
                    </a:cubicBezTo>
                    <a:cubicBezTo>
                      <a:pt x="228" y="350"/>
                      <a:pt x="228" y="350"/>
                      <a:pt x="228" y="350"/>
                    </a:cubicBezTo>
                    <a:cubicBezTo>
                      <a:pt x="184" y="403"/>
                      <a:pt x="184" y="403"/>
                      <a:pt x="184" y="403"/>
                    </a:cubicBezTo>
                    <a:cubicBezTo>
                      <a:pt x="162" y="429"/>
                      <a:pt x="162" y="429"/>
                      <a:pt x="162" y="429"/>
                    </a:cubicBezTo>
                    <a:cubicBezTo>
                      <a:pt x="134" y="461"/>
                      <a:pt x="134" y="461"/>
                      <a:pt x="134" y="461"/>
                    </a:cubicBezTo>
                    <a:cubicBezTo>
                      <a:pt x="76" y="527"/>
                      <a:pt x="76" y="527"/>
                      <a:pt x="76" y="527"/>
                    </a:cubicBezTo>
                    <a:cubicBezTo>
                      <a:pt x="63" y="522"/>
                      <a:pt x="51" y="516"/>
                      <a:pt x="39" y="511"/>
                    </a:cubicBezTo>
                    <a:cubicBezTo>
                      <a:pt x="38" y="511"/>
                      <a:pt x="38" y="511"/>
                      <a:pt x="37" y="510"/>
                    </a:cubicBezTo>
                    <a:cubicBezTo>
                      <a:pt x="35" y="510"/>
                      <a:pt x="34" y="509"/>
                      <a:pt x="32" y="508"/>
                    </a:cubicBezTo>
                    <a:cubicBezTo>
                      <a:pt x="27" y="506"/>
                      <a:pt x="21" y="503"/>
                      <a:pt x="16" y="501"/>
                    </a:cubicBezTo>
                    <a:cubicBezTo>
                      <a:pt x="16" y="501"/>
                      <a:pt x="16" y="501"/>
                      <a:pt x="16" y="501"/>
                    </a:cubicBezTo>
                    <a:cubicBezTo>
                      <a:pt x="16" y="501"/>
                      <a:pt x="16" y="501"/>
                      <a:pt x="16" y="501"/>
                    </a:cubicBezTo>
                    <a:cubicBezTo>
                      <a:pt x="15" y="501"/>
                      <a:pt x="15" y="501"/>
                      <a:pt x="14" y="501"/>
                    </a:cubicBezTo>
                    <a:cubicBezTo>
                      <a:pt x="13" y="500"/>
                      <a:pt x="11" y="499"/>
                      <a:pt x="9" y="498"/>
                    </a:cubicBezTo>
                    <a:cubicBezTo>
                      <a:pt x="7" y="498"/>
                      <a:pt x="5" y="497"/>
                      <a:pt x="4" y="496"/>
                    </a:cubicBezTo>
                    <a:cubicBezTo>
                      <a:pt x="2" y="496"/>
                      <a:pt x="1" y="495"/>
                      <a:pt x="0" y="495"/>
                    </a:cubicBezTo>
                    <a:cubicBezTo>
                      <a:pt x="378" y="24"/>
                      <a:pt x="378" y="24"/>
                      <a:pt x="378" y="24"/>
                    </a:cubicBezTo>
                    <a:cubicBezTo>
                      <a:pt x="394" y="4"/>
                      <a:pt x="423" y="0"/>
                      <a:pt x="443" y="16"/>
                    </a:cubicBezTo>
                    <a:cubicBezTo>
                      <a:pt x="462" y="31"/>
                      <a:pt x="466" y="57"/>
                      <a:pt x="454"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54" name="Freeform 31">
              <a:extLst>
                <a:ext uri="{FF2B5EF4-FFF2-40B4-BE49-F238E27FC236}">
                  <a16:creationId xmlns:a16="http://schemas.microsoft.com/office/drawing/2014/main" xmlns="" id="{B6F47CAE-1A30-4CE3-B40D-9C8C433D52D4}"/>
                </a:ext>
              </a:extLst>
            </p:cNvPr>
            <p:cNvSpPr>
              <a:spLocks/>
            </p:cNvSpPr>
            <p:nvPr/>
          </p:nvSpPr>
          <p:spPr bwMode="auto">
            <a:xfrm>
              <a:off x="7609964" y="1441003"/>
              <a:ext cx="4582038" cy="5372291"/>
            </a:xfrm>
            <a:custGeom>
              <a:avLst/>
              <a:gdLst>
                <a:gd name="T0" fmla="*/ 1360 w 1360"/>
                <a:gd name="T1" fmla="*/ 1596 h 1596"/>
                <a:gd name="T2" fmla="*/ 935 w 1360"/>
                <a:gd name="T3" fmla="*/ 1437 h 1596"/>
                <a:gd name="T4" fmla="*/ 823 w 1360"/>
                <a:gd name="T5" fmla="*/ 1072 h 1596"/>
                <a:gd name="T6" fmla="*/ 756 w 1360"/>
                <a:gd name="T7" fmla="*/ 634 h 1596"/>
                <a:gd name="T8" fmla="*/ 753 w 1360"/>
                <a:gd name="T9" fmla="*/ 624 h 1596"/>
                <a:gd name="T10" fmla="*/ 750 w 1360"/>
                <a:gd name="T11" fmla="*/ 616 h 1596"/>
                <a:gd name="T12" fmla="*/ 737 w 1360"/>
                <a:gd name="T13" fmla="*/ 587 h 1596"/>
                <a:gd name="T14" fmla="*/ 729 w 1360"/>
                <a:gd name="T15" fmla="*/ 577 h 1596"/>
                <a:gd name="T16" fmla="*/ 722 w 1360"/>
                <a:gd name="T17" fmla="*/ 571 h 1596"/>
                <a:gd name="T18" fmla="*/ 718 w 1360"/>
                <a:gd name="T19" fmla="*/ 568 h 1596"/>
                <a:gd name="T20" fmla="*/ 699 w 1360"/>
                <a:gd name="T21" fmla="*/ 559 h 1596"/>
                <a:gd name="T22" fmla="*/ 694 w 1360"/>
                <a:gd name="T23" fmla="*/ 557 h 1596"/>
                <a:gd name="T24" fmla="*/ 667 w 1360"/>
                <a:gd name="T25" fmla="*/ 551 h 1596"/>
                <a:gd name="T26" fmla="*/ 637 w 1360"/>
                <a:gd name="T27" fmla="*/ 546 h 1596"/>
                <a:gd name="T28" fmla="*/ 612 w 1360"/>
                <a:gd name="T29" fmla="*/ 542 h 1596"/>
                <a:gd name="T30" fmla="*/ 597 w 1360"/>
                <a:gd name="T31" fmla="*/ 539 h 1596"/>
                <a:gd name="T32" fmla="*/ 554 w 1360"/>
                <a:gd name="T33" fmla="*/ 532 h 1596"/>
                <a:gd name="T34" fmla="*/ 495 w 1360"/>
                <a:gd name="T35" fmla="*/ 522 h 1596"/>
                <a:gd name="T36" fmla="*/ 469 w 1360"/>
                <a:gd name="T37" fmla="*/ 516 h 1596"/>
                <a:gd name="T38" fmla="*/ 447 w 1360"/>
                <a:gd name="T39" fmla="*/ 512 h 1596"/>
                <a:gd name="T40" fmla="*/ 421 w 1360"/>
                <a:gd name="T41" fmla="*/ 506 h 1596"/>
                <a:gd name="T42" fmla="*/ 402 w 1360"/>
                <a:gd name="T43" fmla="*/ 500 h 1596"/>
                <a:gd name="T44" fmla="*/ 382 w 1360"/>
                <a:gd name="T45" fmla="*/ 495 h 1596"/>
                <a:gd name="T46" fmla="*/ 367 w 1360"/>
                <a:gd name="T47" fmla="*/ 490 h 1596"/>
                <a:gd name="T48" fmla="*/ 355 w 1360"/>
                <a:gd name="T49" fmla="*/ 485 h 1596"/>
                <a:gd name="T50" fmla="*/ 332 w 1360"/>
                <a:gd name="T51" fmla="*/ 476 h 1596"/>
                <a:gd name="T52" fmla="*/ 290 w 1360"/>
                <a:gd name="T53" fmla="*/ 452 h 1596"/>
                <a:gd name="T54" fmla="*/ 280 w 1360"/>
                <a:gd name="T55" fmla="*/ 444 h 1596"/>
                <a:gd name="T56" fmla="*/ 264 w 1360"/>
                <a:gd name="T57" fmla="*/ 429 h 1596"/>
                <a:gd name="T58" fmla="*/ 252 w 1360"/>
                <a:gd name="T59" fmla="*/ 419 h 1596"/>
                <a:gd name="T60" fmla="*/ 241 w 1360"/>
                <a:gd name="T61" fmla="*/ 410 h 1596"/>
                <a:gd name="T62" fmla="*/ 129 w 1360"/>
                <a:gd name="T63" fmla="*/ 329 h 1596"/>
                <a:gd name="T64" fmla="*/ 106 w 1360"/>
                <a:gd name="T65" fmla="*/ 313 h 1596"/>
                <a:gd name="T66" fmla="*/ 68 w 1360"/>
                <a:gd name="T67" fmla="*/ 287 h 1596"/>
                <a:gd name="T68" fmla="*/ 33 w 1360"/>
                <a:gd name="T69" fmla="*/ 221 h 1596"/>
                <a:gd name="T70" fmla="*/ 73 w 1360"/>
                <a:gd name="T71" fmla="*/ 213 h 1596"/>
                <a:gd name="T72" fmla="*/ 79 w 1360"/>
                <a:gd name="T73" fmla="*/ 213 h 1596"/>
                <a:gd name="T74" fmla="*/ 87 w 1360"/>
                <a:gd name="T75" fmla="*/ 214 h 1596"/>
                <a:gd name="T76" fmla="*/ 119 w 1360"/>
                <a:gd name="T77" fmla="*/ 224 h 1596"/>
                <a:gd name="T78" fmla="*/ 128 w 1360"/>
                <a:gd name="T79" fmla="*/ 227 h 1596"/>
                <a:gd name="T80" fmla="*/ 135 w 1360"/>
                <a:gd name="T81" fmla="*/ 230 h 1596"/>
                <a:gd name="T82" fmla="*/ 151 w 1360"/>
                <a:gd name="T83" fmla="*/ 237 h 1596"/>
                <a:gd name="T84" fmla="*/ 158 w 1360"/>
                <a:gd name="T85" fmla="*/ 240 h 1596"/>
                <a:gd name="T86" fmla="*/ 197 w 1360"/>
                <a:gd name="T87" fmla="*/ 257 h 1596"/>
                <a:gd name="T88" fmla="*/ 412 w 1360"/>
                <a:gd name="T89" fmla="*/ 273 h 1596"/>
                <a:gd name="T90" fmla="*/ 461 w 1360"/>
                <a:gd name="T91" fmla="*/ 189 h 1596"/>
                <a:gd name="T92" fmla="*/ 460 w 1360"/>
                <a:gd name="T93" fmla="*/ 185 h 1596"/>
                <a:gd name="T94" fmla="*/ 460 w 1360"/>
                <a:gd name="T95" fmla="*/ 181 h 1596"/>
                <a:gd name="T96" fmla="*/ 457 w 1360"/>
                <a:gd name="T97" fmla="*/ 176 h 1596"/>
                <a:gd name="T98" fmla="*/ 455 w 1360"/>
                <a:gd name="T99" fmla="*/ 172 h 1596"/>
                <a:gd name="T100" fmla="*/ 451 w 1360"/>
                <a:gd name="T101" fmla="*/ 168 h 1596"/>
                <a:gd name="T102" fmla="*/ 444 w 1360"/>
                <a:gd name="T103" fmla="*/ 164 h 1596"/>
                <a:gd name="T104" fmla="*/ 423 w 1360"/>
                <a:gd name="T105" fmla="*/ 160 h 1596"/>
                <a:gd name="T106" fmla="*/ 281 w 1360"/>
                <a:gd name="T107" fmla="*/ 158 h 1596"/>
                <a:gd name="T108" fmla="*/ 347 w 1360"/>
                <a:gd name="T109" fmla="*/ 79 h 1596"/>
                <a:gd name="T110" fmla="*/ 420 w 1360"/>
                <a:gd name="T111" fmla="*/ 45 h 1596"/>
                <a:gd name="T112" fmla="*/ 548 w 1360"/>
                <a:gd name="T113" fmla="*/ 2 h 1596"/>
                <a:gd name="T114" fmla="*/ 584 w 1360"/>
                <a:gd name="T115" fmla="*/ 24 h 1596"/>
                <a:gd name="T116" fmla="*/ 905 w 1360"/>
                <a:gd name="T117" fmla="*/ 485 h 1596"/>
                <a:gd name="T118" fmla="*/ 918 w 1360"/>
                <a:gd name="T119" fmla="*/ 526 h 1596"/>
                <a:gd name="T120" fmla="*/ 1360 w 1360"/>
                <a:gd name="T121" fmla="*/ 1194 h 1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60" h="1596">
                  <a:moveTo>
                    <a:pt x="1360" y="1194"/>
                  </a:moveTo>
                  <a:cubicBezTo>
                    <a:pt x="1360" y="1596"/>
                    <a:pt x="1360" y="1596"/>
                    <a:pt x="1360" y="1596"/>
                  </a:cubicBezTo>
                  <a:cubicBezTo>
                    <a:pt x="1349" y="1575"/>
                    <a:pt x="1312" y="1536"/>
                    <a:pt x="1197" y="1497"/>
                  </a:cubicBezTo>
                  <a:cubicBezTo>
                    <a:pt x="1135" y="1476"/>
                    <a:pt x="1050" y="1455"/>
                    <a:pt x="935" y="1437"/>
                  </a:cubicBezTo>
                  <a:cubicBezTo>
                    <a:pt x="897" y="1361"/>
                    <a:pt x="867" y="1277"/>
                    <a:pt x="847" y="1188"/>
                  </a:cubicBezTo>
                  <a:cubicBezTo>
                    <a:pt x="838" y="1147"/>
                    <a:pt x="830" y="1108"/>
                    <a:pt x="823" y="1072"/>
                  </a:cubicBezTo>
                  <a:cubicBezTo>
                    <a:pt x="785" y="876"/>
                    <a:pt x="776" y="752"/>
                    <a:pt x="763" y="674"/>
                  </a:cubicBezTo>
                  <a:cubicBezTo>
                    <a:pt x="761" y="659"/>
                    <a:pt x="758" y="646"/>
                    <a:pt x="756" y="634"/>
                  </a:cubicBezTo>
                  <a:cubicBezTo>
                    <a:pt x="755" y="632"/>
                    <a:pt x="754" y="630"/>
                    <a:pt x="754" y="628"/>
                  </a:cubicBezTo>
                  <a:cubicBezTo>
                    <a:pt x="754" y="627"/>
                    <a:pt x="753" y="625"/>
                    <a:pt x="753" y="624"/>
                  </a:cubicBezTo>
                  <a:cubicBezTo>
                    <a:pt x="752" y="622"/>
                    <a:pt x="752" y="620"/>
                    <a:pt x="751" y="618"/>
                  </a:cubicBezTo>
                  <a:cubicBezTo>
                    <a:pt x="751" y="618"/>
                    <a:pt x="751" y="617"/>
                    <a:pt x="750" y="616"/>
                  </a:cubicBezTo>
                  <a:cubicBezTo>
                    <a:pt x="747" y="605"/>
                    <a:pt x="743" y="596"/>
                    <a:pt x="738" y="589"/>
                  </a:cubicBezTo>
                  <a:cubicBezTo>
                    <a:pt x="737" y="588"/>
                    <a:pt x="737" y="588"/>
                    <a:pt x="737" y="587"/>
                  </a:cubicBezTo>
                  <a:cubicBezTo>
                    <a:pt x="735" y="584"/>
                    <a:pt x="732" y="581"/>
                    <a:pt x="730" y="579"/>
                  </a:cubicBezTo>
                  <a:cubicBezTo>
                    <a:pt x="730" y="578"/>
                    <a:pt x="729" y="578"/>
                    <a:pt x="729" y="577"/>
                  </a:cubicBezTo>
                  <a:cubicBezTo>
                    <a:pt x="727" y="576"/>
                    <a:pt x="725" y="574"/>
                    <a:pt x="723" y="572"/>
                  </a:cubicBezTo>
                  <a:cubicBezTo>
                    <a:pt x="723" y="572"/>
                    <a:pt x="723" y="571"/>
                    <a:pt x="722" y="571"/>
                  </a:cubicBezTo>
                  <a:cubicBezTo>
                    <a:pt x="722" y="571"/>
                    <a:pt x="722" y="571"/>
                    <a:pt x="721" y="571"/>
                  </a:cubicBezTo>
                  <a:cubicBezTo>
                    <a:pt x="720" y="570"/>
                    <a:pt x="719" y="569"/>
                    <a:pt x="718" y="568"/>
                  </a:cubicBezTo>
                  <a:cubicBezTo>
                    <a:pt x="715" y="566"/>
                    <a:pt x="712" y="564"/>
                    <a:pt x="709" y="563"/>
                  </a:cubicBezTo>
                  <a:cubicBezTo>
                    <a:pt x="705" y="561"/>
                    <a:pt x="702" y="560"/>
                    <a:pt x="699" y="559"/>
                  </a:cubicBezTo>
                  <a:cubicBezTo>
                    <a:pt x="698" y="559"/>
                    <a:pt x="697" y="558"/>
                    <a:pt x="696" y="558"/>
                  </a:cubicBezTo>
                  <a:cubicBezTo>
                    <a:pt x="696" y="558"/>
                    <a:pt x="695" y="558"/>
                    <a:pt x="694" y="557"/>
                  </a:cubicBezTo>
                  <a:cubicBezTo>
                    <a:pt x="692" y="557"/>
                    <a:pt x="690" y="556"/>
                    <a:pt x="688" y="556"/>
                  </a:cubicBezTo>
                  <a:cubicBezTo>
                    <a:pt x="681" y="554"/>
                    <a:pt x="674" y="553"/>
                    <a:pt x="667" y="551"/>
                  </a:cubicBezTo>
                  <a:cubicBezTo>
                    <a:pt x="665" y="551"/>
                    <a:pt x="663" y="551"/>
                    <a:pt x="661" y="550"/>
                  </a:cubicBezTo>
                  <a:cubicBezTo>
                    <a:pt x="653" y="549"/>
                    <a:pt x="645" y="547"/>
                    <a:pt x="637" y="546"/>
                  </a:cubicBezTo>
                  <a:cubicBezTo>
                    <a:pt x="632" y="545"/>
                    <a:pt x="628" y="545"/>
                    <a:pt x="624" y="544"/>
                  </a:cubicBezTo>
                  <a:cubicBezTo>
                    <a:pt x="620" y="543"/>
                    <a:pt x="616" y="543"/>
                    <a:pt x="612" y="542"/>
                  </a:cubicBezTo>
                  <a:cubicBezTo>
                    <a:pt x="611" y="542"/>
                    <a:pt x="611" y="542"/>
                    <a:pt x="610" y="541"/>
                  </a:cubicBezTo>
                  <a:cubicBezTo>
                    <a:pt x="605" y="541"/>
                    <a:pt x="601" y="540"/>
                    <a:pt x="597" y="539"/>
                  </a:cubicBezTo>
                  <a:cubicBezTo>
                    <a:pt x="590" y="538"/>
                    <a:pt x="583" y="537"/>
                    <a:pt x="576" y="536"/>
                  </a:cubicBezTo>
                  <a:cubicBezTo>
                    <a:pt x="569" y="535"/>
                    <a:pt x="562" y="534"/>
                    <a:pt x="554" y="532"/>
                  </a:cubicBezTo>
                  <a:cubicBezTo>
                    <a:pt x="539" y="530"/>
                    <a:pt x="523" y="527"/>
                    <a:pt x="508" y="524"/>
                  </a:cubicBezTo>
                  <a:cubicBezTo>
                    <a:pt x="504" y="523"/>
                    <a:pt x="499" y="523"/>
                    <a:pt x="495" y="522"/>
                  </a:cubicBezTo>
                  <a:cubicBezTo>
                    <a:pt x="493" y="521"/>
                    <a:pt x="490" y="521"/>
                    <a:pt x="488" y="520"/>
                  </a:cubicBezTo>
                  <a:cubicBezTo>
                    <a:pt x="481" y="519"/>
                    <a:pt x="475" y="518"/>
                    <a:pt x="469" y="516"/>
                  </a:cubicBezTo>
                  <a:cubicBezTo>
                    <a:pt x="464" y="515"/>
                    <a:pt x="459" y="514"/>
                    <a:pt x="454" y="513"/>
                  </a:cubicBezTo>
                  <a:cubicBezTo>
                    <a:pt x="452" y="513"/>
                    <a:pt x="449" y="512"/>
                    <a:pt x="447" y="512"/>
                  </a:cubicBezTo>
                  <a:cubicBezTo>
                    <a:pt x="439" y="510"/>
                    <a:pt x="432" y="508"/>
                    <a:pt x="425" y="507"/>
                  </a:cubicBezTo>
                  <a:cubicBezTo>
                    <a:pt x="424" y="506"/>
                    <a:pt x="422" y="506"/>
                    <a:pt x="421" y="506"/>
                  </a:cubicBezTo>
                  <a:cubicBezTo>
                    <a:pt x="418" y="505"/>
                    <a:pt x="414" y="504"/>
                    <a:pt x="411" y="503"/>
                  </a:cubicBezTo>
                  <a:cubicBezTo>
                    <a:pt x="408" y="502"/>
                    <a:pt x="405" y="501"/>
                    <a:pt x="402" y="500"/>
                  </a:cubicBezTo>
                  <a:cubicBezTo>
                    <a:pt x="399" y="500"/>
                    <a:pt x="396" y="499"/>
                    <a:pt x="393" y="498"/>
                  </a:cubicBezTo>
                  <a:cubicBezTo>
                    <a:pt x="389" y="497"/>
                    <a:pt x="386" y="496"/>
                    <a:pt x="382" y="495"/>
                  </a:cubicBezTo>
                  <a:cubicBezTo>
                    <a:pt x="380" y="494"/>
                    <a:pt x="377" y="493"/>
                    <a:pt x="374" y="492"/>
                  </a:cubicBezTo>
                  <a:cubicBezTo>
                    <a:pt x="372" y="491"/>
                    <a:pt x="370" y="491"/>
                    <a:pt x="367" y="490"/>
                  </a:cubicBezTo>
                  <a:cubicBezTo>
                    <a:pt x="365" y="489"/>
                    <a:pt x="363" y="488"/>
                    <a:pt x="361" y="488"/>
                  </a:cubicBezTo>
                  <a:cubicBezTo>
                    <a:pt x="359" y="487"/>
                    <a:pt x="357" y="486"/>
                    <a:pt x="355" y="485"/>
                  </a:cubicBezTo>
                  <a:cubicBezTo>
                    <a:pt x="349" y="483"/>
                    <a:pt x="343" y="481"/>
                    <a:pt x="337" y="478"/>
                  </a:cubicBezTo>
                  <a:cubicBezTo>
                    <a:pt x="335" y="477"/>
                    <a:pt x="334" y="477"/>
                    <a:pt x="332" y="476"/>
                  </a:cubicBezTo>
                  <a:cubicBezTo>
                    <a:pt x="317" y="469"/>
                    <a:pt x="304" y="462"/>
                    <a:pt x="292" y="453"/>
                  </a:cubicBezTo>
                  <a:cubicBezTo>
                    <a:pt x="292" y="453"/>
                    <a:pt x="291" y="453"/>
                    <a:pt x="290" y="452"/>
                  </a:cubicBezTo>
                  <a:cubicBezTo>
                    <a:pt x="288" y="450"/>
                    <a:pt x="286" y="449"/>
                    <a:pt x="284" y="447"/>
                  </a:cubicBezTo>
                  <a:cubicBezTo>
                    <a:pt x="282" y="446"/>
                    <a:pt x="281" y="445"/>
                    <a:pt x="280" y="444"/>
                  </a:cubicBezTo>
                  <a:cubicBezTo>
                    <a:pt x="276" y="440"/>
                    <a:pt x="272" y="436"/>
                    <a:pt x="268" y="432"/>
                  </a:cubicBezTo>
                  <a:cubicBezTo>
                    <a:pt x="266" y="431"/>
                    <a:pt x="265" y="430"/>
                    <a:pt x="264" y="429"/>
                  </a:cubicBezTo>
                  <a:cubicBezTo>
                    <a:pt x="262" y="428"/>
                    <a:pt x="260" y="426"/>
                    <a:pt x="258" y="424"/>
                  </a:cubicBezTo>
                  <a:cubicBezTo>
                    <a:pt x="256" y="423"/>
                    <a:pt x="254" y="421"/>
                    <a:pt x="252" y="419"/>
                  </a:cubicBezTo>
                  <a:cubicBezTo>
                    <a:pt x="249" y="417"/>
                    <a:pt x="247" y="416"/>
                    <a:pt x="245" y="414"/>
                  </a:cubicBezTo>
                  <a:cubicBezTo>
                    <a:pt x="244" y="413"/>
                    <a:pt x="242" y="412"/>
                    <a:pt x="241" y="410"/>
                  </a:cubicBezTo>
                  <a:cubicBezTo>
                    <a:pt x="208" y="384"/>
                    <a:pt x="168" y="355"/>
                    <a:pt x="129" y="329"/>
                  </a:cubicBezTo>
                  <a:cubicBezTo>
                    <a:pt x="129" y="329"/>
                    <a:pt x="129" y="329"/>
                    <a:pt x="129" y="329"/>
                  </a:cubicBezTo>
                  <a:cubicBezTo>
                    <a:pt x="125" y="326"/>
                    <a:pt x="121" y="323"/>
                    <a:pt x="117" y="320"/>
                  </a:cubicBezTo>
                  <a:cubicBezTo>
                    <a:pt x="113" y="318"/>
                    <a:pt x="110" y="315"/>
                    <a:pt x="106" y="313"/>
                  </a:cubicBezTo>
                  <a:cubicBezTo>
                    <a:pt x="104" y="311"/>
                    <a:pt x="101" y="309"/>
                    <a:pt x="99" y="308"/>
                  </a:cubicBezTo>
                  <a:cubicBezTo>
                    <a:pt x="88" y="300"/>
                    <a:pt x="78" y="294"/>
                    <a:pt x="68" y="287"/>
                  </a:cubicBezTo>
                  <a:cubicBezTo>
                    <a:pt x="29" y="261"/>
                    <a:pt x="0" y="243"/>
                    <a:pt x="0" y="243"/>
                  </a:cubicBezTo>
                  <a:cubicBezTo>
                    <a:pt x="0" y="243"/>
                    <a:pt x="7" y="230"/>
                    <a:pt x="33" y="221"/>
                  </a:cubicBezTo>
                  <a:cubicBezTo>
                    <a:pt x="43" y="217"/>
                    <a:pt x="55" y="215"/>
                    <a:pt x="71" y="213"/>
                  </a:cubicBezTo>
                  <a:cubicBezTo>
                    <a:pt x="73" y="213"/>
                    <a:pt x="73" y="213"/>
                    <a:pt x="73" y="213"/>
                  </a:cubicBezTo>
                  <a:cubicBezTo>
                    <a:pt x="74" y="213"/>
                    <a:pt x="74" y="213"/>
                    <a:pt x="75" y="213"/>
                  </a:cubicBezTo>
                  <a:cubicBezTo>
                    <a:pt x="77" y="213"/>
                    <a:pt x="78" y="213"/>
                    <a:pt x="79" y="213"/>
                  </a:cubicBezTo>
                  <a:cubicBezTo>
                    <a:pt x="81" y="213"/>
                    <a:pt x="82" y="213"/>
                    <a:pt x="84" y="214"/>
                  </a:cubicBezTo>
                  <a:cubicBezTo>
                    <a:pt x="85" y="214"/>
                    <a:pt x="86" y="214"/>
                    <a:pt x="87" y="214"/>
                  </a:cubicBezTo>
                  <a:cubicBezTo>
                    <a:pt x="95" y="216"/>
                    <a:pt x="103" y="218"/>
                    <a:pt x="113" y="221"/>
                  </a:cubicBezTo>
                  <a:cubicBezTo>
                    <a:pt x="115" y="222"/>
                    <a:pt x="117" y="223"/>
                    <a:pt x="119" y="224"/>
                  </a:cubicBezTo>
                  <a:cubicBezTo>
                    <a:pt x="120" y="224"/>
                    <a:pt x="121" y="225"/>
                    <a:pt x="123" y="225"/>
                  </a:cubicBezTo>
                  <a:cubicBezTo>
                    <a:pt x="124" y="226"/>
                    <a:pt x="126" y="227"/>
                    <a:pt x="128" y="227"/>
                  </a:cubicBezTo>
                  <a:cubicBezTo>
                    <a:pt x="130" y="228"/>
                    <a:pt x="132" y="229"/>
                    <a:pt x="133" y="230"/>
                  </a:cubicBezTo>
                  <a:cubicBezTo>
                    <a:pt x="134" y="230"/>
                    <a:pt x="135" y="230"/>
                    <a:pt x="135" y="230"/>
                  </a:cubicBezTo>
                  <a:cubicBezTo>
                    <a:pt x="135" y="230"/>
                    <a:pt x="135" y="230"/>
                    <a:pt x="135" y="230"/>
                  </a:cubicBezTo>
                  <a:cubicBezTo>
                    <a:pt x="140" y="232"/>
                    <a:pt x="146" y="235"/>
                    <a:pt x="151" y="237"/>
                  </a:cubicBezTo>
                  <a:cubicBezTo>
                    <a:pt x="153" y="238"/>
                    <a:pt x="154" y="239"/>
                    <a:pt x="156" y="239"/>
                  </a:cubicBezTo>
                  <a:cubicBezTo>
                    <a:pt x="157" y="240"/>
                    <a:pt x="157" y="240"/>
                    <a:pt x="158" y="240"/>
                  </a:cubicBezTo>
                  <a:cubicBezTo>
                    <a:pt x="170" y="245"/>
                    <a:pt x="182" y="251"/>
                    <a:pt x="195" y="256"/>
                  </a:cubicBezTo>
                  <a:cubicBezTo>
                    <a:pt x="195" y="256"/>
                    <a:pt x="196" y="257"/>
                    <a:pt x="197" y="257"/>
                  </a:cubicBezTo>
                  <a:cubicBezTo>
                    <a:pt x="211" y="263"/>
                    <a:pt x="226" y="268"/>
                    <a:pt x="241" y="273"/>
                  </a:cubicBezTo>
                  <a:cubicBezTo>
                    <a:pt x="293" y="290"/>
                    <a:pt x="368" y="304"/>
                    <a:pt x="412" y="273"/>
                  </a:cubicBezTo>
                  <a:cubicBezTo>
                    <a:pt x="438" y="255"/>
                    <a:pt x="458" y="224"/>
                    <a:pt x="461" y="198"/>
                  </a:cubicBezTo>
                  <a:cubicBezTo>
                    <a:pt x="461" y="195"/>
                    <a:pt x="461" y="192"/>
                    <a:pt x="461" y="189"/>
                  </a:cubicBezTo>
                  <a:cubicBezTo>
                    <a:pt x="461" y="188"/>
                    <a:pt x="461" y="188"/>
                    <a:pt x="461" y="187"/>
                  </a:cubicBezTo>
                  <a:cubicBezTo>
                    <a:pt x="461" y="186"/>
                    <a:pt x="461" y="186"/>
                    <a:pt x="460" y="185"/>
                  </a:cubicBezTo>
                  <a:cubicBezTo>
                    <a:pt x="460" y="184"/>
                    <a:pt x="460" y="184"/>
                    <a:pt x="460" y="183"/>
                  </a:cubicBezTo>
                  <a:cubicBezTo>
                    <a:pt x="460" y="182"/>
                    <a:pt x="460" y="182"/>
                    <a:pt x="460" y="181"/>
                  </a:cubicBezTo>
                  <a:cubicBezTo>
                    <a:pt x="459" y="181"/>
                    <a:pt x="459" y="180"/>
                    <a:pt x="459" y="180"/>
                  </a:cubicBezTo>
                  <a:cubicBezTo>
                    <a:pt x="459" y="179"/>
                    <a:pt x="458" y="177"/>
                    <a:pt x="457" y="176"/>
                  </a:cubicBezTo>
                  <a:cubicBezTo>
                    <a:pt x="457" y="175"/>
                    <a:pt x="457" y="175"/>
                    <a:pt x="456" y="174"/>
                  </a:cubicBezTo>
                  <a:cubicBezTo>
                    <a:pt x="456" y="174"/>
                    <a:pt x="456" y="173"/>
                    <a:pt x="455" y="172"/>
                  </a:cubicBezTo>
                  <a:cubicBezTo>
                    <a:pt x="455" y="172"/>
                    <a:pt x="454" y="171"/>
                    <a:pt x="453" y="170"/>
                  </a:cubicBezTo>
                  <a:cubicBezTo>
                    <a:pt x="453" y="169"/>
                    <a:pt x="452" y="169"/>
                    <a:pt x="451" y="168"/>
                  </a:cubicBezTo>
                  <a:cubicBezTo>
                    <a:pt x="451" y="168"/>
                    <a:pt x="450" y="167"/>
                    <a:pt x="450" y="167"/>
                  </a:cubicBezTo>
                  <a:cubicBezTo>
                    <a:pt x="448" y="166"/>
                    <a:pt x="446" y="165"/>
                    <a:pt x="444" y="164"/>
                  </a:cubicBezTo>
                  <a:cubicBezTo>
                    <a:pt x="443" y="163"/>
                    <a:pt x="442" y="163"/>
                    <a:pt x="441" y="162"/>
                  </a:cubicBezTo>
                  <a:cubicBezTo>
                    <a:pt x="436" y="161"/>
                    <a:pt x="430" y="160"/>
                    <a:pt x="423" y="160"/>
                  </a:cubicBezTo>
                  <a:cubicBezTo>
                    <a:pt x="375" y="160"/>
                    <a:pt x="287" y="192"/>
                    <a:pt x="253" y="190"/>
                  </a:cubicBezTo>
                  <a:cubicBezTo>
                    <a:pt x="281" y="158"/>
                    <a:pt x="281" y="158"/>
                    <a:pt x="281" y="158"/>
                  </a:cubicBezTo>
                  <a:cubicBezTo>
                    <a:pt x="303" y="132"/>
                    <a:pt x="303" y="132"/>
                    <a:pt x="303" y="132"/>
                  </a:cubicBezTo>
                  <a:cubicBezTo>
                    <a:pt x="347" y="79"/>
                    <a:pt x="347" y="79"/>
                    <a:pt x="347" y="79"/>
                  </a:cubicBezTo>
                  <a:cubicBezTo>
                    <a:pt x="360" y="63"/>
                    <a:pt x="360" y="63"/>
                    <a:pt x="360" y="63"/>
                  </a:cubicBezTo>
                  <a:cubicBezTo>
                    <a:pt x="380" y="57"/>
                    <a:pt x="400" y="51"/>
                    <a:pt x="420" y="45"/>
                  </a:cubicBezTo>
                  <a:cubicBezTo>
                    <a:pt x="420" y="45"/>
                    <a:pt x="420" y="45"/>
                    <a:pt x="420" y="45"/>
                  </a:cubicBezTo>
                  <a:cubicBezTo>
                    <a:pt x="480" y="25"/>
                    <a:pt x="533" y="7"/>
                    <a:pt x="548" y="2"/>
                  </a:cubicBezTo>
                  <a:cubicBezTo>
                    <a:pt x="550" y="1"/>
                    <a:pt x="552" y="0"/>
                    <a:pt x="552" y="0"/>
                  </a:cubicBezTo>
                  <a:cubicBezTo>
                    <a:pt x="552" y="0"/>
                    <a:pt x="564" y="8"/>
                    <a:pt x="584" y="24"/>
                  </a:cubicBezTo>
                  <a:cubicBezTo>
                    <a:pt x="631" y="62"/>
                    <a:pt x="721" y="143"/>
                    <a:pt x="801" y="268"/>
                  </a:cubicBezTo>
                  <a:cubicBezTo>
                    <a:pt x="840" y="330"/>
                    <a:pt x="877" y="402"/>
                    <a:pt x="905" y="485"/>
                  </a:cubicBezTo>
                  <a:cubicBezTo>
                    <a:pt x="905" y="485"/>
                    <a:pt x="905" y="485"/>
                    <a:pt x="905" y="485"/>
                  </a:cubicBezTo>
                  <a:cubicBezTo>
                    <a:pt x="910" y="498"/>
                    <a:pt x="914" y="512"/>
                    <a:pt x="918" y="526"/>
                  </a:cubicBezTo>
                  <a:cubicBezTo>
                    <a:pt x="918" y="526"/>
                    <a:pt x="934" y="547"/>
                    <a:pt x="960" y="582"/>
                  </a:cubicBezTo>
                  <a:cubicBezTo>
                    <a:pt x="1041" y="691"/>
                    <a:pt x="1224" y="945"/>
                    <a:pt x="1360" y="1194"/>
                  </a:cubicBezTo>
                  <a:close/>
                </a:path>
              </a:pathLst>
            </a:custGeom>
            <a:gradFill>
              <a:gsLst>
                <a:gs pos="0">
                  <a:srgbClr val="E5C3FF"/>
                </a:gs>
                <a:gs pos="65000">
                  <a:srgbClr val="B0C7FF"/>
                </a:gs>
              </a:gsLst>
              <a:lin ang="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32">
              <a:extLst>
                <a:ext uri="{FF2B5EF4-FFF2-40B4-BE49-F238E27FC236}">
                  <a16:creationId xmlns:a16="http://schemas.microsoft.com/office/drawing/2014/main" xmlns="" id="{742FC6CF-44F1-407F-BEB2-8F383DCEC064}"/>
                </a:ext>
              </a:extLst>
            </p:cNvPr>
            <p:cNvSpPr>
              <a:spLocks/>
            </p:cNvSpPr>
            <p:nvPr/>
          </p:nvSpPr>
          <p:spPr bwMode="auto">
            <a:xfrm>
              <a:off x="7721066" y="1559272"/>
              <a:ext cx="2833086" cy="2015954"/>
            </a:xfrm>
            <a:custGeom>
              <a:avLst/>
              <a:gdLst>
                <a:gd name="T0" fmla="*/ 723 w 841"/>
                <a:gd name="T1" fmla="*/ 599 h 599"/>
                <a:gd name="T2" fmla="*/ 720 w 841"/>
                <a:gd name="T3" fmla="*/ 589 h 599"/>
                <a:gd name="T4" fmla="*/ 717 w 841"/>
                <a:gd name="T5" fmla="*/ 581 h 599"/>
                <a:gd name="T6" fmla="*/ 704 w 841"/>
                <a:gd name="T7" fmla="*/ 552 h 599"/>
                <a:gd name="T8" fmla="*/ 696 w 841"/>
                <a:gd name="T9" fmla="*/ 542 h 599"/>
                <a:gd name="T10" fmla="*/ 689 w 841"/>
                <a:gd name="T11" fmla="*/ 536 h 599"/>
                <a:gd name="T12" fmla="*/ 685 w 841"/>
                <a:gd name="T13" fmla="*/ 533 h 599"/>
                <a:gd name="T14" fmla="*/ 666 w 841"/>
                <a:gd name="T15" fmla="*/ 524 h 599"/>
                <a:gd name="T16" fmla="*/ 661 w 841"/>
                <a:gd name="T17" fmla="*/ 522 h 599"/>
                <a:gd name="T18" fmla="*/ 634 w 841"/>
                <a:gd name="T19" fmla="*/ 516 h 599"/>
                <a:gd name="T20" fmla="*/ 604 w 841"/>
                <a:gd name="T21" fmla="*/ 511 h 599"/>
                <a:gd name="T22" fmla="*/ 579 w 841"/>
                <a:gd name="T23" fmla="*/ 507 h 599"/>
                <a:gd name="T24" fmla="*/ 564 w 841"/>
                <a:gd name="T25" fmla="*/ 504 h 599"/>
                <a:gd name="T26" fmla="*/ 521 w 841"/>
                <a:gd name="T27" fmla="*/ 497 h 599"/>
                <a:gd name="T28" fmla="*/ 462 w 841"/>
                <a:gd name="T29" fmla="*/ 487 h 599"/>
                <a:gd name="T30" fmla="*/ 436 w 841"/>
                <a:gd name="T31" fmla="*/ 481 h 599"/>
                <a:gd name="T32" fmla="*/ 414 w 841"/>
                <a:gd name="T33" fmla="*/ 477 h 599"/>
                <a:gd name="T34" fmla="*/ 388 w 841"/>
                <a:gd name="T35" fmla="*/ 471 h 599"/>
                <a:gd name="T36" fmla="*/ 369 w 841"/>
                <a:gd name="T37" fmla="*/ 465 h 599"/>
                <a:gd name="T38" fmla="*/ 349 w 841"/>
                <a:gd name="T39" fmla="*/ 460 h 599"/>
                <a:gd name="T40" fmla="*/ 334 w 841"/>
                <a:gd name="T41" fmla="*/ 455 h 599"/>
                <a:gd name="T42" fmla="*/ 322 w 841"/>
                <a:gd name="T43" fmla="*/ 450 h 599"/>
                <a:gd name="T44" fmla="*/ 299 w 841"/>
                <a:gd name="T45" fmla="*/ 441 h 599"/>
                <a:gd name="T46" fmla="*/ 257 w 841"/>
                <a:gd name="T47" fmla="*/ 417 h 599"/>
                <a:gd name="T48" fmla="*/ 247 w 841"/>
                <a:gd name="T49" fmla="*/ 409 h 599"/>
                <a:gd name="T50" fmla="*/ 231 w 841"/>
                <a:gd name="T51" fmla="*/ 394 h 599"/>
                <a:gd name="T52" fmla="*/ 219 w 841"/>
                <a:gd name="T53" fmla="*/ 384 h 599"/>
                <a:gd name="T54" fmla="*/ 208 w 841"/>
                <a:gd name="T55" fmla="*/ 375 h 599"/>
                <a:gd name="T56" fmla="*/ 96 w 841"/>
                <a:gd name="T57" fmla="*/ 294 h 599"/>
                <a:gd name="T58" fmla="*/ 73 w 841"/>
                <a:gd name="T59" fmla="*/ 278 h 599"/>
                <a:gd name="T60" fmla="*/ 52 w 841"/>
                <a:gd name="T61" fmla="*/ 231 h 599"/>
                <a:gd name="T62" fmla="*/ 38 w 841"/>
                <a:gd name="T63" fmla="*/ 178 h 599"/>
                <a:gd name="T64" fmla="*/ 42 w 841"/>
                <a:gd name="T65" fmla="*/ 178 h 599"/>
                <a:gd name="T66" fmla="*/ 51 w 841"/>
                <a:gd name="T67" fmla="*/ 179 h 599"/>
                <a:gd name="T68" fmla="*/ 80 w 841"/>
                <a:gd name="T69" fmla="*/ 186 h 599"/>
                <a:gd name="T70" fmla="*/ 90 w 841"/>
                <a:gd name="T71" fmla="*/ 190 h 599"/>
                <a:gd name="T72" fmla="*/ 100 w 841"/>
                <a:gd name="T73" fmla="*/ 195 h 599"/>
                <a:gd name="T74" fmla="*/ 102 w 841"/>
                <a:gd name="T75" fmla="*/ 195 h 599"/>
                <a:gd name="T76" fmla="*/ 154 w 841"/>
                <a:gd name="T77" fmla="*/ 229 h 599"/>
                <a:gd name="T78" fmla="*/ 428 w 841"/>
                <a:gd name="T79" fmla="*/ 189 h 599"/>
                <a:gd name="T80" fmla="*/ 428 w 841"/>
                <a:gd name="T81" fmla="*/ 163 h 599"/>
                <a:gd name="T82" fmla="*/ 428 w 841"/>
                <a:gd name="T83" fmla="*/ 152 h 599"/>
                <a:gd name="T84" fmla="*/ 427 w 841"/>
                <a:gd name="T85" fmla="*/ 148 h 599"/>
                <a:gd name="T86" fmla="*/ 426 w 841"/>
                <a:gd name="T87" fmla="*/ 145 h 599"/>
                <a:gd name="T88" fmla="*/ 423 w 841"/>
                <a:gd name="T89" fmla="*/ 139 h 599"/>
                <a:gd name="T90" fmla="*/ 420 w 841"/>
                <a:gd name="T91" fmla="*/ 135 h 599"/>
                <a:gd name="T92" fmla="*/ 417 w 841"/>
                <a:gd name="T93" fmla="*/ 132 h 599"/>
                <a:gd name="T94" fmla="*/ 408 w 841"/>
                <a:gd name="T95" fmla="*/ 127 h 599"/>
                <a:gd name="T96" fmla="*/ 220 w 841"/>
                <a:gd name="T97" fmla="*/ 155 h 599"/>
                <a:gd name="T98" fmla="*/ 270 w 841"/>
                <a:gd name="T99" fmla="*/ 97 h 599"/>
                <a:gd name="T100" fmla="*/ 594 w 841"/>
                <a:gd name="T101" fmla="*/ 148 h 599"/>
                <a:gd name="T102" fmla="*/ 832 w 841"/>
                <a:gd name="T103" fmla="*/ 544 h 5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41" h="599">
                  <a:moveTo>
                    <a:pt x="832" y="544"/>
                  </a:moveTo>
                  <a:cubicBezTo>
                    <a:pt x="827" y="548"/>
                    <a:pt x="784" y="581"/>
                    <a:pt x="723" y="599"/>
                  </a:cubicBezTo>
                  <a:cubicBezTo>
                    <a:pt x="722" y="597"/>
                    <a:pt x="721" y="595"/>
                    <a:pt x="721" y="593"/>
                  </a:cubicBezTo>
                  <a:cubicBezTo>
                    <a:pt x="721" y="592"/>
                    <a:pt x="720" y="590"/>
                    <a:pt x="720" y="589"/>
                  </a:cubicBezTo>
                  <a:cubicBezTo>
                    <a:pt x="719" y="587"/>
                    <a:pt x="719" y="585"/>
                    <a:pt x="718" y="583"/>
                  </a:cubicBezTo>
                  <a:cubicBezTo>
                    <a:pt x="718" y="583"/>
                    <a:pt x="718" y="582"/>
                    <a:pt x="717" y="581"/>
                  </a:cubicBezTo>
                  <a:cubicBezTo>
                    <a:pt x="714" y="570"/>
                    <a:pt x="710" y="561"/>
                    <a:pt x="705" y="554"/>
                  </a:cubicBezTo>
                  <a:cubicBezTo>
                    <a:pt x="704" y="553"/>
                    <a:pt x="704" y="553"/>
                    <a:pt x="704" y="552"/>
                  </a:cubicBezTo>
                  <a:cubicBezTo>
                    <a:pt x="702" y="549"/>
                    <a:pt x="699" y="546"/>
                    <a:pt x="697" y="544"/>
                  </a:cubicBezTo>
                  <a:cubicBezTo>
                    <a:pt x="697" y="543"/>
                    <a:pt x="696" y="543"/>
                    <a:pt x="696" y="542"/>
                  </a:cubicBezTo>
                  <a:cubicBezTo>
                    <a:pt x="694" y="541"/>
                    <a:pt x="692" y="539"/>
                    <a:pt x="690" y="537"/>
                  </a:cubicBezTo>
                  <a:cubicBezTo>
                    <a:pt x="690" y="537"/>
                    <a:pt x="690" y="536"/>
                    <a:pt x="689" y="536"/>
                  </a:cubicBezTo>
                  <a:cubicBezTo>
                    <a:pt x="689" y="536"/>
                    <a:pt x="689" y="536"/>
                    <a:pt x="688" y="536"/>
                  </a:cubicBezTo>
                  <a:cubicBezTo>
                    <a:pt x="687" y="535"/>
                    <a:pt x="686" y="534"/>
                    <a:pt x="685" y="533"/>
                  </a:cubicBezTo>
                  <a:cubicBezTo>
                    <a:pt x="682" y="531"/>
                    <a:pt x="679" y="529"/>
                    <a:pt x="676" y="528"/>
                  </a:cubicBezTo>
                  <a:cubicBezTo>
                    <a:pt x="672" y="526"/>
                    <a:pt x="669" y="525"/>
                    <a:pt x="666" y="524"/>
                  </a:cubicBezTo>
                  <a:cubicBezTo>
                    <a:pt x="665" y="524"/>
                    <a:pt x="664" y="523"/>
                    <a:pt x="663" y="523"/>
                  </a:cubicBezTo>
                  <a:cubicBezTo>
                    <a:pt x="663" y="523"/>
                    <a:pt x="662" y="523"/>
                    <a:pt x="661" y="522"/>
                  </a:cubicBezTo>
                  <a:cubicBezTo>
                    <a:pt x="659" y="522"/>
                    <a:pt x="657" y="521"/>
                    <a:pt x="655" y="521"/>
                  </a:cubicBezTo>
                  <a:cubicBezTo>
                    <a:pt x="648" y="519"/>
                    <a:pt x="641" y="518"/>
                    <a:pt x="634" y="516"/>
                  </a:cubicBezTo>
                  <a:cubicBezTo>
                    <a:pt x="632" y="516"/>
                    <a:pt x="630" y="516"/>
                    <a:pt x="628" y="515"/>
                  </a:cubicBezTo>
                  <a:cubicBezTo>
                    <a:pt x="620" y="514"/>
                    <a:pt x="612" y="512"/>
                    <a:pt x="604" y="511"/>
                  </a:cubicBezTo>
                  <a:cubicBezTo>
                    <a:pt x="599" y="510"/>
                    <a:pt x="595" y="510"/>
                    <a:pt x="591" y="509"/>
                  </a:cubicBezTo>
                  <a:cubicBezTo>
                    <a:pt x="587" y="508"/>
                    <a:pt x="583" y="508"/>
                    <a:pt x="579" y="507"/>
                  </a:cubicBezTo>
                  <a:cubicBezTo>
                    <a:pt x="578" y="507"/>
                    <a:pt x="578" y="507"/>
                    <a:pt x="577" y="506"/>
                  </a:cubicBezTo>
                  <a:cubicBezTo>
                    <a:pt x="572" y="506"/>
                    <a:pt x="568" y="505"/>
                    <a:pt x="564" y="504"/>
                  </a:cubicBezTo>
                  <a:cubicBezTo>
                    <a:pt x="557" y="503"/>
                    <a:pt x="550" y="502"/>
                    <a:pt x="543" y="501"/>
                  </a:cubicBezTo>
                  <a:cubicBezTo>
                    <a:pt x="536" y="500"/>
                    <a:pt x="529" y="499"/>
                    <a:pt x="521" y="497"/>
                  </a:cubicBezTo>
                  <a:cubicBezTo>
                    <a:pt x="506" y="495"/>
                    <a:pt x="490" y="492"/>
                    <a:pt x="475" y="489"/>
                  </a:cubicBezTo>
                  <a:cubicBezTo>
                    <a:pt x="471" y="488"/>
                    <a:pt x="466" y="488"/>
                    <a:pt x="462" y="487"/>
                  </a:cubicBezTo>
                  <a:cubicBezTo>
                    <a:pt x="460" y="486"/>
                    <a:pt x="457" y="486"/>
                    <a:pt x="455" y="485"/>
                  </a:cubicBezTo>
                  <a:cubicBezTo>
                    <a:pt x="448" y="484"/>
                    <a:pt x="442" y="483"/>
                    <a:pt x="436" y="481"/>
                  </a:cubicBezTo>
                  <a:cubicBezTo>
                    <a:pt x="431" y="480"/>
                    <a:pt x="426" y="479"/>
                    <a:pt x="421" y="478"/>
                  </a:cubicBezTo>
                  <a:cubicBezTo>
                    <a:pt x="419" y="478"/>
                    <a:pt x="416" y="477"/>
                    <a:pt x="414" y="477"/>
                  </a:cubicBezTo>
                  <a:cubicBezTo>
                    <a:pt x="406" y="475"/>
                    <a:pt x="399" y="473"/>
                    <a:pt x="392" y="472"/>
                  </a:cubicBezTo>
                  <a:cubicBezTo>
                    <a:pt x="391" y="471"/>
                    <a:pt x="389" y="471"/>
                    <a:pt x="388" y="471"/>
                  </a:cubicBezTo>
                  <a:cubicBezTo>
                    <a:pt x="385" y="470"/>
                    <a:pt x="381" y="469"/>
                    <a:pt x="378" y="468"/>
                  </a:cubicBezTo>
                  <a:cubicBezTo>
                    <a:pt x="375" y="467"/>
                    <a:pt x="372" y="466"/>
                    <a:pt x="369" y="465"/>
                  </a:cubicBezTo>
                  <a:cubicBezTo>
                    <a:pt x="366" y="465"/>
                    <a:pt x="363" y="464"/>
                    <a:pt x="360" y="463"/>
                  </a:cubicBezTo>
                  <a:cubicBezTo>
                    <a:pt x="356" y="462"/>
                    <a:pt x="353" y="461"/>
                    <a:pt x="349" y="460"/>
                  </a:cubicBezTo>
                  <a:cubicBezTo>
                    <a:pt x="347" y="459"/>
                    <a:pt x="344" y="458"/>
                    <a:pt x="341" y="457"/>
                  </a:cubicBezTo>
                  <a:cubicBezTo>
                    <a:pt x="339" y="456"/>
                    <a:pt x="337" y="456"/>
                    <a:pt x="334" y="455"/>
                  </a:cubicBezTo>
                  <a:cubicBezTo>
                    <a:pt x="332" y="454"/>
                    <a:pt x="330" y="453"/>
                    <a:pt x="328" y="453"/>
                  </a:cubicBezTo>
                  <a:cubicBezTo>
                    <a:pt x="326" y="452"/>
                    <a:pt x="324" y="451"/>
                    <a:pt x="322" y="450"/>
                  </a:cubicBezTo>
                  <a:cubicBezTo>
                    <a:pt x="316" y="448"/>
                    <a:pt x="310" y="446"/>
                    <a:pt x="304" y="443"/>
                  </a:cubicBezTo>
                  <a:cubicBezTo>
                    <a:pt x="302" y="442"/>
                    <a:pt x="301" y="442"/>
                    <a:pt x="299" y="441"/>
                  </a:cubicBezTo>
                  <a:cubicBezTo>
                    <a:pt x="284" y="434"/>
                    <a:pt x="271" y="427"/>
                    <a:pt x="259" y="418"/>
                  </a:cubicBezTo>
                  <a:cubicBezTo>
                    <a:pt x="259" y="418"/>
                    <a:pt x="258" y="418"/>
                    <a:pt x="257" y="417"/>
                  </a:cubicBezTo>
                  <a:cubicBezTo>
                    <a:pt x="255" y="415"/>
                    <a:pt x="253" y="414"/>
                    <a:pt x="251" y="412"/>
                  </a:cubicBezTo>
                  <a:cubicBezTo>
                    <a:pt x="249" y="411"/>
                    <a:pt x="248" y="410"/>
                    <a:pt x="247" y="409"/>
                  </a:cubicBezTo>
                  <a:cubicBezTo>
                    <a:pt x="243" y="405"/>
                    <a:pt x="239" y="401"/>
                    <a:pt x="235" y="397"/>
                  </a:cubicBezTo>
                  <a:cubicBezTo>
                    <a:pt x="233" y="396"/>
                    <a:pt x="232" y="395"/>
                    <a:pt x="231" y="394"/>
                  </a:cubicBezTo>
                  <a:cubicBezTo>
                    <a:pt x="229" y="393"/>
                    <a:pt x="227" y="391"/>
                    <a:pt x="225" y="389"/>
                  </a:cubicBezTo>
                  <a:cubicBezTo>
                    <a:pt x="223" y="388"/>
                    <a:pt x="221" y="386"/>
                    <a:pt x="219" y="384"/>
                  </a:cubicBezTo>
                  <a:cubicBezTo>
                    <a:pt x="216" y="382"/>
                    <a:pt x="214" y="381"/>
                    <a:pt x="212" y="379"/>
                  </a:cubicBezTo>
                  <a:cubicBezTo>
                    <a:pt x="211" y="378"/>
                    <a:pt x="209" y="377"/>
                    <a:pt x="208" y="375"/>
                  </a:cubicBezTo>
                  <a:cubicBezTo>
                    <a:pt x="175" y="349"/>
                    <a:pt x="135" y="320"/>
                    <a:pt x="96" y="294"/>
                  </a:cubicBezTo>
                  <a:cubicBezTo>
                    <a:pt x="96" y="294"/>
                    <a:pt x="96" y="294"/>
                    <a:pt x="96" y="294"/>
                  </a:cubicBezTo>
                  <a:cubicBezTo>
                    <a:pt x="92" y="291"/>
                    <a:pt x="88" y="288"/>
                    <a:pt x="84" y="285"/>
                  </a:cubicBezTo>
                  <a:cubicBezTo>
                    <a:pt x="80" y="283"/>
                    <a:pt x="77" y="280"/>
                    <a:pt x="73" y="278"/>
                  </a:cubicBezTo>
                  <a:cubicBezTo>
                    <a:pt x="71" y="276"/>
                    <a:pt x="68" y="274"/>
                    <a:pt x="66" y="273"/>
                  </a:cubicBezTo>
                  <a:cubicBezTo>
                    <a:pt x="65" y="256"/>
                    <a:pt x="60" y="242"/>
                    <a:pt x="52" y="231"/>
                  </a:cubicBezTo>
                  <a:cubicBezTo>
                    <a:pt x="38" y="211"/>
                    <a:pt x="16" y="198"/>
                    <a:pt x="0" y="186"/>
                  </a:cubicBezTo>
                  <a:cubicBezTo>
                    <a:pt x="10" y="182"/>
                    <a:pt x="22" y="180"/>
                    <a:pt x="38" y="178"/>
                  </a:cubicBezTo>
                  <a:cubicBezTo>
                    <a:pt x="40" y="178"/>
                    <a:pt x="40" y="178"/>
                    <a:pt x="40" y="178"/>
                  </a:cubicBezTo>
                  <a:cubicBezTo>
                    <a:pt x="41" y="178"/>
                    <a:pt x="41" y="178"/>
                    <a:pt x="42" y="178"/>
                  </a:cubicBezTo>
                  <a:cubicBezTo>
                    <a:pt x="44" y="178"/>
                    <a:pt x="45" y="178"/>
                    <a:pt x="46" y="178"/>
                  </a:cubicBezTo>
                  <a:cubicBezTo>
                    <a:pt x="48" y="178"/>
                    <a:pt x="49" y="178"/>
                    <a:pt x="51" y="179"/>
                  </a:cubicBezTo>
                  <a:cubicBezTo>
                    <a:pt x="52" y="179"/>
                    <a:pt x="53" y="179"/>
                    <a:pt x="54" y="179"/>
                  </a:cubicBezTo>
                  <a:cubicBezTo>
                    <a:pt x="62" y="181"/>
                    <a:pt x="70" y="183"/>
                    <a:pt x="80" y="186"/>
                  </a:cubicBezTo>
                  <a:cubicBezTo>
                    <a:pt x="82" y="187"/>
                    <a:pt x="84" y="188"/>
                    <a:pt x="86" y="189"/>
                  </a:cubicBezTo>
                  <a:cubicBezTo>
                    <a:pt x="87" y="189"/>
                    <a:pt x="88" y="190"/>
                    <a:pt x="90" y="190"/>
                  </a:cubicBezTo>
                  <a:cubicBezTo>
                    <a:pt x="91" y="191"/>
                    <a:pt x="93" y="192"/>
                    <a:pt x="95" y="192"/>
                  </a:cubicBezTo>
                  <a:cubicBezTo>
                    <a:pt x="97" y="193"/>
                    <a:pt x="99" y="194"/>
                    <a:pt x="100" y="195"/>
                  </a:cubicBezTo>
                  <a:cubicBezTo>
                    <a:pt x="101" y="195"/>
                    <a:pt x="101" y="195"/>
                    <a:pt x="102" y="195"/>
                  </a:cubicBezTo>
                  <a:cubicBezTo>
                    <a:pt x="102" y="195"/>
                    <a:pt x="102" y="195"/>
                    <a:pt x="102" y="195"/>
                  </a:cubicBezTo>
                  <a:cubicBezTo>
                    <a:pt x="102" y="195"/>
                    <a:pt x="102" y="195"/>
                    <a:pt x="102" y="195"/>
                  </a:cubicBezTo>
                  <a:cubicBezTo>
                    <a:pt x="116" y="207"/>
                    <a:pt x="134" y="218"/>
                    <a:pt x="154" y="229"/>
                  </a:cubicBezTo>
                  <a:cubicBezTo>
                    <a:pt x="251" y="280"/>
                    <a:pt x="405" y="310"/>
                    <a:pt x="428" y="196"/>
                  </a:cubicBezTo>
                  <a:cubicBezTo>
                    <a:pt x="429" y="193"/>
                    <a:pt x="429" y="191"/>
                    <a:pt x="428" y="189"/>
                  </a:cubicBezTo>
                  <a:cubicBezTo>
                    <a:pt x="430" y="180"/>
                    <a:pt x="430" y="171"/>
                    <a:pt x="428" y="163"/>
                  </a:cubicBezTo>
                  <a:cubicBezTo>
                    <a:pt x="428" y="163"/>
                    <a:pt x="428" y="163"/>
                    <a:pt x="428" y="163"/>
                  </a:cubicBezTo>
                  <a:cubicBezTo>
                    <a:pt x="428" y="160"/>
                    <a:pt x="428" y="157"/>
                    <a:pt x="428" y="154"/>
                  </a:cubicBezTo>
                  <a:cubicBezTo>
                    <a:pt x="428" y="153"/>
                    <a:pt x="428" y="153"/>
                    <a:pt x="428" y="152"/>
                  </a:cubicBezTo>
                  <a:cubicBezTo>
                    <a:pt x="428" y="151"/>
                    <a:pt x="428" y="151"/>
                    <a:pt x="427" y="150"/>
                  </a:cubicBezTo>
                  <a:cubicBezTo>
                    <a:pt x="427" y="149"/>
                    <a:pt x="427" y="149"/>
                    <a:pt x="427" y="148"/>
                  </a:cubicBezTo>
                  <a:cubicBezTo>
                    <a:pt x="427" y="147"/>
                    <a:pt x="427" y="147"/>
                    <a:pt x="427" y="146"/>
                  </a:cubicBezTo>
                  <a:cubicBezTo>
                    <a:pt x="426" y="146"/>
                    <a:pt x="426" y="145"/>
                    <a:pt x="426" y="145"/>
                  </a:cubicBezTo>
                  <a:cubicBezTo>
                    <a:pt x="426" y="144"/>
                    <a:pt x="425" y="142"/>
                    <a:pt x="424" y="141"/>
                  </a:cubicBezTo>
                  <a:cubicBezTo>
                    <a:pt x="424" y="140"/>
                    <a:pt x="424" y="140"/>
                    <a:pt x="423" y="139"/>
                  </a:cubicBezTo>
                  <a:cubicBezTo>
                    <a:pt x="423" y="139"/>
                    <a:pt x="423" y="138"/>
                    <a:pt x="422" y="137"/>
                  </a:cubicBezTo>
                  <a:cubicBezTo>
                    <a:pt x="422" y="137"/>
                    <a:pt x="421" y="136"/>
                    <a:pt x="420" y="135"/>
                  </a:cubicBezTo>
                  <a:cubicBezTo>
                    <a:pt x="420" y="134"/>
                    <a:pt x="419" y="134"/>
                    <a:pt x="418" y="133"/>
                  </a:cubicBezTo>
                  <a:cubicBezTo>
                    <a:pt x="418" y="133"/>
                    <a:pt x="417" y="132"/>
                    <a:pt x="417" y="132"/>
                  </a:cubicBezTo>
                  <a:cubicBezTo>
                    <a:pt x="415" y="131"/>
                    <a:pt x="413" y="130"/>
                    <a:pt x="411" y="129"/>
                  </a:cubicBezTo>
                  <a:cubicBezTo>
                    <a:pt x="410" y="128"/>
                    <a:pt x="409" y="128"/>
                    <a:pt x="408" y="127"/>
                  </a:cubicBezTo>
                  <a:cubicBezTo>
                    <a:pt x="403" y="126"/>
                    <a:pt x="397" y="125"/>
                    <a:pt x="390" y="125"/>
                  </a:cubicBezTo>
                  <a:cubicBezTo>
                    <a:pt x="342" y="125"/>
                    <a:pt x="254" y="157"/>
                    <a:pt x="220" y="155"/>
                  </a:cubicBezTo>
                  <a:cubicBezTo>
                    <a:pt x="248" y="123"/>
                    <a:pt x="248" y="123"/>
                    <a:pt x="248" y="123"/>
                  </a:cubicBezTo>
                  <a:cubicBezTo>
                    <a:pt x="270" y="97"/>
                    <a:pt x="270" y="97"/>
                    <a:pt x="270" y="97"/>
                  </a:cubicBezTo>
                  <a:cubicBezTo>
                    <a:pt x="333" y="79"/>
                    <a:pt x="410" y="61"/>
                    <a:pt x="464" y="53"/>
                  </a:cubicBezTo>
                  <a:cubicBezTo>
                    <a:pt x="541" y="42"/>
                    <a:pt x="566" y="0"/>
                    <a:pt x="594" y="148"/>
                  </a:cubicBezTo>
                  <a:cubicBezTo>
                    <a:pt x="621" y="297"/>
                    <a:pt x="682" y="329"/>
                    <a:pt x="730" y="361"/>
                  </a:cubicBezTo>
                  <a:cubicBezTo>
                    <a:pt x="779" y="394"/>
                    <a:pt x="841" y="538"/>
                    <a:pt x="832" y="5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56" name="Freeform 33">
              <a:extLst>
                <a:ext uri="{FF2B5EF4-FFF2-40B4-BE49-F238E27FC236}">
                  <a16:creationId xmlns:a16="http://schemas.microsoft.com/office/drawing/2014/main" xmlns="" id="{86469AEA-7511-41DC-A011-88DD81748329}"/>
                </a:ext>
              </a:extLst>
            </p:cNvPr>
            <p:cNvSpPr>
              <a:spLocks/>
            </p:cNvSpPr>
            <p:nvPr/>
          </p:nvSpPr>
          <p:spPr bwMode="auto">
            <a:xfrm>
              <a:off x="9860664" y="3197122"/>
              <a:ext cx="964074" cy="677360"/>
            </a:xfrm>
            <a:custGeom>
              <a:avLst/>
              <a:gdLst>
                <a:gd name="T0" fmla="*/ 462 w 538"/>
                <a:gd name="T1" fmla="*/ 0 h 378"/>
                <a:gd name="T2" fmla="*/ 0 w 538"/>
                <a:gd name="T3" fmla="*/ 245 h 378"/>
                <a:gd name="T4" fmla="*/ 0 w 538"/>
                <a:gd name="T5" fmla="*/ 378 h 378"/>
                <a:gd name="T6" fmla="*/ 538 w 538"/>
                <a:gd name="T7" fmla="*/ 100 h 378"/>
                <a:gd name="T8" fmla="*/ 462 w 538"/>
                <a:gd name="T9" fmla="*/ 0 h 378"/>
              </a:gdLst>
              <a:ahLst/>
              <a:cxnLst>
                <a:cxn ang="0">
                  <a:pos x="T0" y="T1"/>
                </a:cxn>
                <a:cxn ang="0">
                  <a:pos x="T2" y="T3"/>
                </a:cxn>
                <a:cxn ang="0">
                  <a:pos x="T4" y="T5"/>
                </a:cxn>
                <a:cxn ang="0">
                  <a:pos x="T6" y="T7"/>
                </a:cxn>
                <a:cxn ang="0">
                  <a:pos x="T8" y="T9"/>
                </a:cxn>
              </a:cxnLst>
              <a:rect l="0" t="0" r="r" b="b"/>
              <a:pathLst>
                <a:path w="538" h="378">
                  <a:moveTo>
                    <a:pt x="462" y="0"/>
                  </a:moveTo>
                  <a:lnTo>
                    <a:pt x="0" y="245"/>
                  </a:lnTo>
                  <a:lnTo>
                    <a:pt x="0" y="378"/>
                  </a:lnTo>
                  <a:lnTo>
                    <a:pt x="538" y="100"/>
                  </a:lnTo>
                  <a:lnTo>
                    <a:pt x="462"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34">
              <a:extLst>
                <a:ext uri="{FF2B5EF4-FFF2-40B4-BE49-F238E27FC236}">
                  <a16:creationId xmlns:a16="http://schemas.microsoft.com/office/drawing/2014/main" xmlns="" id="{A828F27C-2D7F-4EC9-819B-5E25949089DA}"/>
                </a:ext>
              </a:extLst>
            </p:cNvPr>
            <p:cNvSpPr>
              <a:spLocks/>
            </p:cNvSpPr>
            <p:nvPr/>
          </p:nvSpPr>
          <p:spPr bwMode="auto">
            <a:xfrm>
              <a:off x="9860664" y="3376318"/>
              <a:ext cx="2331338" cy="3436976"/>
            </a:xfrm>
            <a:custGeom>
              <a:avLst/>
              <a:gdLst>
                <a:gd name="T0" fmla="*/ 692 w 692"/>
                <a:gd name="T1" fmla="*/ 543 h 1021"/>
                <a:gd name="T2" fmla="*/ 692 w 692"/>
                <a:gd name="T3" fmla="*/ 1021 h 1021"/>
                <a:gd name="T4" fmla="*/ 529 w 692"/>
                <a:gd name="T5" fmla="*/ 922 h 1021"/>
                <a:gd name="T6" fmla="*/ 267 w 692"/>
                <a:gd name="T7" fmla="*/ 862 h 1021"/>
                <a:gd name="T8" fmla="*/ 222 w 692"/>
                <a:gd name="T9" fmla="*/ 855 h 1021"/>
                <a:gd name="T10" fmla="*/ 85 w 692"/>
                <a:gd name="T11" fmla="*/ 506 h 1021"/>
                <a:gd name="T12" fmla="*/ 0 w 692"/>
                <a:gd name="T13" fmla="*/ 148 h 1021"/>
                <a:gd name="T14" fmla="*/ 95 w 692"/>
                <a:gd name="T15" fmla="*/ 99 h 1021"/>
                <a:gd name="T16" fmla="*/ 183 w 692"/>
                <a:gd name="T17" fmla="*/ 54 h 1021"/>
                <a:gd name="T18" fmla="*/ 263 w 692"/>
                <a:gd name="T19" fmla="*/ 13 h 1021"/>
                <a:gd name="T20" fmla="*/ 286 w 692"/>
                <a:gd name="T21" fmla="*/ 0 h 1021"/>
                <a:gd name="T22" fmla="*/ 286 w 692"/>
                <a:gd name="T23" fmla="*/ 0 h 1021"/>
                <a:gd name="T24" fmla="*/ 286 w 692"/>
                <a:gd name="T25" fmla="*/ 0 h 1021"/>
                <a:gd name="T26" fmla="*/ 292 w 692"/>
                <a:gd name="T27" fmla="*/ 7 h 1021"/>
                <a:gd name="T28" fmla="*/ 692 w 692"/>
                <a:gd name="T29" fmla="*/ 543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2" h="1021">
                  <a:moveTo>
                    <a:pt x="692" y="543"/>
                  </a:moveTo>
                  <a:cubicBezTo>
                    <a:pt x="692" y="1021"/>
                    <a:pt x="692" y="1021"/>
                    <a:pt x="692" y="1021"/>
                  </a:cubicBezTo>
                  <a:cubicBezTo>
                    <a:pt x="681" y="1000"/>
                    <a:pt x="644" y="961"/>
                    <a:pt x="529" y="922"/>
                  </a:cubicBezTo>
                  <a:cubicBezTo>
                    <a:pt x="467" y="901"/>
                    <a:pt x="382" y="880"/>
                    <a:pt x="267" y="862"/>
                  </a:cubicBezTo>
                  <a:cubicBezTo>
                    <a:pt x="252" y="860"/>
                    <a:pt x="238" y="857"/>
                    <a:pt x="222" y="855"/>
                  </a:cubicBezTo>
                  <a:cubicBezTo>
                    <a:pt x="164" y="741"/>
                    <a:pt x="118" y="618"/>
                    <a:pt x="85" y="506"/>
                  </a:cubicBezTo>
                  <a:cubicBezTo>
                    <a:pt x="24" y="308"/>
                    <a:pt x="0" y="148"/>
                    <a:pt x="0" y="148"/>
                  </a:cubicBezTo>
                  <a:cubicBezTo>
                    <a:pt x="95" y="99"/>
                    <a:pt x="95" y="99"/>
                    <a:pt x="95" y="99"/>
                  </a:cubicBezTo>
                  <a:cubicBezTo>
                    <a:pt x="183" y="54"/>
                    <a:pt x="183" y="54"/>
                    <a:pt x="183" y="54"/>
                  </a:cubicBezTo>
                  <a:cubicBezTo>
                    <a:pt x="263" y="13"/>
                    <a:pt x="263" y="13"/>
                    <a:pt x="263" y="13"/>
                  </a:cubicBezTo>
                  <a:cubicBezTo>
                    <a:pt x="286" y="0"/>
                    <a:pt x="286" y="0"/>
                    <a:pt x="286" y="0"/>
                  </a:cubicBezTo>
                  <a:cubicBezTo>
                    <a:pt x="286" y="0"/>
                    <a:pt x="286" y="0"/>
                    <a:pt x="286" y="0"/>
                  </a:cubicBezTo>
                  <a:cubicBezTo>
                    <a:pt x="286" y="0"/>
                    <a:pt x="286" y="0"/>
                    <a:pt x="286" y="0"/>
                  </a:cubicBezTo>
                  <a:cubicBezTo>
                    <a:pt x="288" y="2"/>
                    <a:pt x="290" y="5"/>
                    <a:pt x="292" y="7"/>
                  </a:cubicBezTo>
                  <a:cubicBezTo>
                    <a:pt x="354" y="77"/>
                    <a:pt x="539" y="303"/>
                    <a:pt x="692" y="543"/>
                  </a:cubicBezTo>
                  <a:close/>
                </a:path>
              </a:pathLst>
            </a:custGeom>
            <a:gradFill>
              <a:gsLst>
                <a:gs pos="0">
                  <a:srgbClr val="0A2DDB"/>
                </a:gs>
                <a:gs pos="83000">
                  <a:srgbClr val="3E04A9"/>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58" name="Freeform 35">
              <a:extLst>
                <a:ext uri="{FF2B5EF4-FFF2-40B4-BE49-F238E27FC236}">
                  <a16:creationId xmlns:a16="http://schemas.microsoft.com/office/drawing/2014/main" xmlns="" id="{3CEFFA90-EB51-41A6-8D88-DC1FC480C0E4}"/>
                </a:ext>
              </a:extLst>
            </p:cNvPr>
            <p:cNvSpPr>
              <a:spLocks/>
            </p:cNvSpPr>
            <p:nvPr/>
          </p:nvSpPr>
          <p:spPr bwMode="auto">
            <a:xfrm>
              <a:off x="9860664" y="3557306"/>
              <a:ext cx="1782999" cy="2922684"/>
            </a:xfrm>
            <a:custGeom>
              <a:avLst/>
              <a:gdLst>
                <a:gd name="T0" fmla="*/ 529 w 529"/>
                <a:gd name="T1" fmla="*/ 868 h 868"/>
                <a:gd name="T2" fmla="*/ 267 w 529"/>
                <a:gd name="T3" fmla="*/ 808 h 868"/>
                <a:gd name="T4" fmla="*/ 222 w 529"/>
                <a:gd name="T5" fmla="*/ 801 h 868"/>
                <a:gd name="T6" fmla="*/ 85 w 529"/>
                <a:gd name="T7" fmla="*/ 452 h 868"/>
                <a:gd name="T8" fmla="*/ 0 w 529"/>
                <a:gd name="T9" fmla="*/ 94 h 868"/>
                <a:gd name="T10" fmla="*/ 95 w 529"/>
                <a:gd name="T11" fmla="*/ 45 h 868"/>
                <a:gd name="T12" fmla="*/ 183 w 529"/>
                <a:gd name="T13" fmla="*/ 0 h 868"/>
                <a:gd name="T14" fmla="*/ 194 w 529"/>
                <a:gd name="T15" fmla="*/ 1 h 868"/>
                <a:gd name="T16" fmla="*/ 315 w 529"/>
                <a:gd name="T17" fmla="*/ 378 h 868"/>
                <a:gd name="T18" fmla="*/ 315 w 529"/>
                <a:gd name="T19" fmla="*/ 421 h 868"/>
                <a:gd name="T20" fmla="*/ 508 w 529"/>
                <a:gd name="T21" fmla="*/ 855 h 868"/>
                <a:gd name="T22" fmla="*/ 529 w 529"/>
                <a:gd name="T23" fmla="*/ 868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9" h="868">
                  <a:moveTo>
                    <a:pt x="529" y="868"/>
                  </a:moveTo>
                  <a:cubicBezTo>
                    <a:pt x="467" y="847"/>
                    <a:pt x="382" y="826"/>
                    <a:pt x="267" y="808"/>
                  </a:cubicBezTo>
                  <a:cubicBezTo>
                    <a:pt x="252" y="806"/>
                    <a:pt x="238" y="803"/>
                    <a:pt x="222" y="801"/>
                  </a:cubicBezTo>
                  <a:cubicBezTo>
                    <a:pt x="164" y="687"/>
                    <a:pt x="118" y="564"/>
                    <a:pt x="85" y="452"/>
                  </a:cubicBezTo>
                  <a:cubicBezTo>
                    <a:pt x="24" y="254"/>
                    <a:pt x="0" y="94"/>
                    <a:pt x="0" y="94"/>
                  </a:cubicBezTo>
                  <a:cubicBezTo>
                    <a:pt x="95" y="45"/>
                    <a:pt x="95" y="45"/>
                    <a:pt x="95" y="45"/>
                  </a:cubicBezTo>
                  <a:cubicBezTo>
                    <a:pt x="183" y="0"/>
                    <a:pt x="183" y="0"/>
                    <a:pt x="183" y="0"/>
                  </a:cubicBezTo>
                  <a:cubicBezTo>
                    <a:pt x="187" y="0"/>
                    <a:pt x="190" y="0"/>
                    <a:pt x="194" y="1"/>
                  </a:cubicBezTo>
                  <a:cubicBezTo>
                    <a:pt x="194" y="1"/>
                    <a:pt x="315" y="244"/>
                    <a:pt x="315" y="378"/>
                  </a:cubicBezTo>
                  <a:cubicBezTo>
                    <a:pt x="315" y="392"/>
                    <a:pt x="315" y="406"/>
                    <a:pt x="315" y="421"/>
                  </a:cubicBezTo>
                  <a:cubicBezTo>
                    <a:pt x="311" y="551"/>
                    <a:pt x="307" y="720"/>
                    <a:pt x="508" y="855"/>
                  </a:cubicBezTo>
                  <a:cubicBezTo>
                    <a:pt x="515" y="859"/>
                    <a:pt x="522" y="864"/>
                    <a:pt x="529" y="868"/>
                  </a:cubicBezTo>
                  <a:close/>
                </a:path>
              </a:pathLst>
            </a:custGeom>
            <a:gradFill>
              <a:gsLst>
                <a:gs pos="100000">
                  <a:srgbClr val="5936E0"/>
                </a:gs>
                <a:gs pos="44000">
                  <a:srgbClr val="371DBD"/>
                </a:gs>
              </a:gsLst>
              <a:lin ang="13200000" scaled="0"/>
            </a:gradFill>
            <a:ln>
              <a:noFill/>
            </a:ln>
          </p:spPr>
          <p:txBody>
            <a:bodyPr vert="horz" wrap="square" lIns="91440" tIns="45720" rIns="91440" bIns="45720" numCol="1" anchor="t" anchorCtr="0" compatLnSpc="1">
              <a:prstTxWarp prst="textNoShape">
                <a:avLst/>
              </a:prstTxWarp>
            </a:bodyPr>
            <a:lstStyle/>
            <a:p>
              <a:endParaRPr lang="en-US" dirty="0"/>
            </a:p>
          </p:txBody>
        </p:sp>
        <p:sp>
          <p:nvSpPr>
            <p:cNvPr id="67" name="Freeform: Shape 66">
              <a:extLst>
                <a:ext uri="{FF2B5EF4-FFF2-40B4-BE49-F238E27FC236}">
                  <a16:creationId xmlns:a16="http://schemas.microsoft.com/office/drawing/2014/main" xmlns="" id="{2ACAA286-8EC7-477A-B799-85B6B23E638D}"/>
                </a:ext>
              </a:extLst>
            </p:cNvPr>
            <p:cNvSpPr/>
            <p:nvPr/>
          </p:nvSpPr>
          <p:spPr>
            <a:xfrm rot="20923453">
              <a:off x="6655548" y="-439156"/>
              <a:ext cx="5488008" cy="1037277"/>
            </a:xfrm>
            <a:custGeom>
              <a:avLst/>
              <a:gdLst>
                <a:gd name="connsiteX0" fmla="*/ 584535 w 5488008"/>
                <a:gd name="connsiteY0" fmla="*/ 0 h 1037277"/>
                <a:gd name="connsiteX1" fmla="*/ 5488008 w 5488008"/>
                <a:gd name="connsiteY1" fmla="*/ 977656 h 1037277"/>
                <a:gd name="connsiteX2" fmla="*/ 5476121 w 5488008"/>
                <a:gd name="connsiteY2" fmla="*/ 1037276 h 1037277"/>
                <a:gd name="connsiteX3" fmla="*/ 0 w 5488008"/>
                <a:gd name="connsiteY3" fmla="*/ 1037277 h 1037277"/>
                <a:gd name="connsiteX4" fmla="*/ 35107 w 5488008"/>
                <a:gd name="connsiteY4" fmla="*/ 912868 h 1037277"/>
                <a:gd name="connsiteX5" fmla="*/ 584535 w 5488008"/>
                <a:gd name="connsiteY5" fmla="*/ 0 h 1037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8008" h="1037277">
                  <a:moveTo>
                    <a:pt x="584535" y="0"/>
                  </a:moveTo>
                  <a:lnTo>
                    <a:pt x="5488008" y="977656"/>
                  </a:lnTo>
                  <a:lnTo>
                    <a:pt x="5476121" y="1037276"/>
                  </a:lnTo>
                  <a:lnTo>
                    <a:pt x="0" y="1037277"/>
                  </a:lnTo>
                  <a:lnTo>
                    <a:pt x="35107" y="912868"/>
                  </a:lnTo>
                  <a:cubicBezTo>
                    <a:pt x="217952" y="337066"/>
                    <a:pt x="584535" y="0"/>
                    <a:pt x="584535" y="0"/>
                  </a:cubicBezTo>
                  <a:close/>
                </a:path>
              </a:pathLst>
            </a:custGeom>
            <a:gradFill>
              <a:gsLst>
                <a:gs pos="0">
                  <a:srgbClr val="7CEFD8"/>
                </a:gs>
                <a:gs pos="83000">
                  <a:srgbClr val="6672E4"/>
                </a:gs>
              </a:gsLst>
              <a:lin ang="24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grpSp>
      <p:sp>
        <p:nvSpPr>
          <p:cNvPr id="15" name="Title 14" hidden="1">
            <a:extLst>
              <a:ext uri="{FF2B5EF4-FFF2-40B4-BE49-F238E27FC236}">
                <a16:creationId xmlns:a16="http://schemas.microsoft.com/office/drawing/2014/main" xmlns="" id="{1B710331-53CB-4E4F-A9D3-D1E190EEAEE4}"/>
              </a:ext>
            </a:extLst>
          </p:cNvPr>
          <p:cNvSpPr>
            <a:spLocks noGrp="1"/>
          </p:cNvSpPr>
          <p:nvPr>
            <p:ph type="title"/>
          </p:nvPr>
        </p:nvSpPr>
        <p:spPr/>
        <p:txBody>
          <a:bodyPr/>
          <a:lstStyle/>
          <a:p>
            <a:r>
              <a:rPr lang="en-US" dirty="0"/>
              <a:t>Human resources slide 2</a:t>
            </a:r>
          </a:p>
        </p:txBody>
      </p:sp>
      <p:grpSp>
        <p:nvGrpSpPr>
          <p:cNvPr id="7" name="Group 6">
            <a:extLst>
              <a:ext uri="{FF2B5EF4-FFF2-40B4-BE49-F238E27FC236}">
                <a16:creationId xmlns:a16="http://schemas.microsoft.com/office/drawing/2014/main" xmlns="" id="{93F10F5A-BFB8-62C9-2DBA-2C4FE3EF870B}"/>
              </a:ext>
            </a:extLst>
          </p:cNvPr>
          <p:cNvGrpSpPr/>
          <p:nvPr/>
        </p:nvGrpSpPr>
        <p:grpSpPr>
          <a:xfrm>
            <a:off x="518432" y="2553034"/>
            <a:ext cx="4201583" cy="248425"/>
            <a:chOff x="518433" y="3711851"/>
            <a:chExt cx="4201583" cy="248425"/>
          </a:xfrm>
        </p:grpSpPr>
        <p:sp>
          <p:nvSpPr>
            <p:cNvPr id="16" name="Rectangle: Rounded Corners 15">
              <a:extLst>
                <a:ext uri="{FF2B5EF4-FFF2-40B4-BE49-F238E27FC236}">
                  <a16:creationId xmlns:a16="http://schemas.microsoft.com/office/drawing/2014/main" xmlns="" id="{B420DFA3-B3CE-2ADF-9271-077AA4D16A67}"/>
                </a:ext>
              </a:extLst>
            </p:cNvPr>
            <p:cNvSpPr/>
            <p:nvPr/>
          </p:nvSpPr>
          <p:spPr>
            <a:xfrm>
              <a:off x="518433" y="372798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xmlns="" id="{C17ECCCF-EB3F-B939-8791-676A06603F58}"/>
                </a:ext>
              </a:extLst>
            </p:cNvPr>
            <p:cNvSpPr/>
            <p:nvPr/>
          </p:nvSpPr>
          <p:spPr>
            <a:xfrm>
              <a:off x="1183821" y="3711851"/>
              <a:ext cx="3536195" cy="246221"/>
            </a:xfrm>
            <a:prstGeom prst="rect">
              <a:avLst/>
            </a:prstGeom>
          </p:spPr>
          <p:txBody>
            <a:bodyPr wrap="square" lIns="0" tIns="0" rIns="0" bIns="0" anchor="t">
              <a:spAutoFit/>
            </a:bodyPr>
            <a:lstStyle/>
            <a:p>
              <a:r>
                <a:rPr lang="en-US" sz="1600" i="1" dirty="0">
                  <a:solidFill>
                    <a:srgbClr val="002060"/>
                  </a:solidFill>
                  <a:latin typeface="+mj-lt"/>
                  <a:ea typeface="Calibri Light"/>
                  <a:cs typeface="Segoe UI"/>
                </a:rPr>
                <a:t>Datasets</a:t>
              </a:r>
              <a:endParaRPr lang="en-US" sz="1600" i="1" dirty="0">
                <a:solidFill>
                  <a:srgbClr val="002060"/>
                </a:solidFill>
                <a:latin typeface="+mj-lt"/>
                <a:ea typeface="Calibri Light"/>
                <a:cs typeface="Segoe UI" panose="020B0502040204020203" pitchFamily="34" charset="0"/>
              </a:endParaRPr>
            </a:p>
          </p:txBody>
        </p:sp>
      </p:grpSp>
      <p:grpSp>
        <p:nvGrpSpPr>
          <p:cNvPr id="24" name="Group 23">
            <a:extLst>
              <a:ext uri="{FF2B5EF4-FFF2-40B4-BE49-F238E27FC236}">
                <a16:creationId xmlns:a16="http://schemas.microsoft.com/office/drawing/2014/main" xmlns="" id="{C4210125-65AF-CABB-DC5E-87AEDA048BC4}"/>
              </a:ext>
            </a:extLst>
          </p:cNvPr>
          <p:cNvGrpSpPr/>
          <p:nvPr/>
        </p:nvGrpSpPr>
        <p:grpSpPr>
          <a:xfrm>
            <a:off x="518432" y="3663986"/>
            <a:ext cx="4201583" cy="248425"/>
            <a:chOff x="518433" y="3711851"/>
            <a:chExt cx="4201583" cy="248425"/>
          </a:xfrm>
        </p:grpSpPr>
        <p:sp>
          <p:nvSpPr>
            <p:cNvPr id="25" name="Rectangle: Rounded Corners 24">
              <a:extLst>
                <a:ext uri="{FF2B5EF4-FFF2-40B4-BE49-F238E27FC236}">
                  <a16:creationId xmlns:a16="http://schemas.microsoft.com/office/drawing/2014/main" xmlns="" id="{B32274FF-548A-1EEC-318C-E105B869324B}"/>
                </a:ext>
              </a:extLst>
            </p:cNvPr>
            <p:cNvSpPr/>
            <p:nvPr/>
          </p:nvSpPr>
          <p:spPr>
            <a:xfrm>
              <a:off x="518433" y="372798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xmlns="" id="{56BA7362-E3E1-4E0B-EAE4-526931E6A417}"/>
                </a:ext>
              </a:extLst>
            </p:cNvPr>
            <p:cNvSpPr/>
            <p:nvPr/>
          </p:nvSpPr>
          <p:spPr>
            <a:xfrm>
              <a:off x="1183821" y="3711851"/>
              <a:ext cx="3536195" cy="246221"/>
            </a:xfrm>
            <a:prstGeom prst="rect">
              <a:avLst/>
            </a:prstGeom>
          </p:spPr>
          <p:txBody>
            <a:bodyPr wrap="square" lIns="0" tIns="0" rIns="0" bIns="0" anchor="t">
              <a:spAutoFit/>
            </a:bodyPr>
            <a:lstStyle/>
            <a:p>
              <a:r>
                <a:rPr lang="en-US" sz="1600" i="1" dirty="0">
                  <a:solidFill>
                    <a:srgbClr val="002060"/>
                  </a:solidFill>
                  <a:latin typeface="Calibri Light"/>
                  <a:ea typeface="Calibri Light"/>
                  <a:cs typeface="Segoe UI"/>
                </a:rPr>
                <a:t>The Medallion Architecture</a:t>
              </a:r>
            </a:p>
          </p:txBody>
        </p:sp>
      </p:grpSp>
      <p:grpSp>
        <p:nvGrpSpPr>
          <p:cNvPr id="27" name="Group 26">
            <a:extLst>
              <a:ext uri="{FF2B5EF4-FFF2-40B4-BE49-F238E27FC236}">
                <a16:creationId xmlns:a16="http://schemas.microsoft.com/office/drawing/2014/main" xmlns="" id="{93B02F26-2D68-6564-42FD-F95C7E5DB1A5}"/>
              </a:ext>
            </a:extLst>
          </p:cNvPr>
          <p:cNvGrpSpPr/>
          <p:nvPr/>
        </p:nvGrpSpPr>
        <p:grpSpPr>
          <a:xfrm>
            <a:off x="518431" y="4190976"/>
            <a:ext cx="4201583" cy="248425"/>
            <a:chOff x="518433" y="3711851"/>
            <a:chExt cx="4201583" cy="248425"/>
          </a:xfrm>
        </p:grpSpPr>
        <p:sp>
          <p:nvSpPr>
            <p:cNvPr id="28" name="Rectangle: Rounded Corners 27">
              <a:extLst>
                <a:ext uri="{FF2B5EF4-FFF2-40B4-BE49-F238E27FC236}">
                  <a16:creationId xmlns:a16="http://schemas.microsoft.com/office/drawing/2014/main" xmlns="" id="{E9F1AE06-C8E1-E1FA-C30A-A00F851BBF7C}"/>
                </a:ext>
              </a:extLst>
            </p:cNvPr>
            <p:cNvSpPr/>
            <p:nvPr/>
          </p:nvSpPr>
          <p:spPr>
            <a:xfrm>
              <a:off x="518433" y="372798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xmlns="" id="{06BE4FD3-2E1A-4CAF-861D-AD0EA6B230B6}"/>
                </a:ext>
              </a:extLst>
            </p:cNvPr>
            <p:cNvSpPr/>
            <p:nvPr/>
          </p:nvSpPr>
          <p:spPr>
            <a:xfrm>
              <a:off x="1183821" y="3711851"/>
              <a:ext cx="3536195" cy="246221"/>
            </a:xfrm>
            <a:prstGeom prst="rect">
              <a:avLst/>
            </a:prstGeom>
          </p:spPr>
          <p:txBody>
            <a:bodyPr wrap="square" lIns="0" tIns="0" rIns="0" bIns="0" anchor="t">
              <a:spAutoFit/>
            </a:bodyPr>
            <a:lstStyle/>
            <a:p>
              <a:r>
                <a:rPr lang="en-US" sz="1600" i="1" dirty="0">
                  <a:solidFill>
                    <a:srgbClr val="002060"/>
                  </a:solidFill>
                  <a:latin typeface="Calibri Light"/>
                  <a:ea typeface="Calibri Light"/>
                  <a:cs typeface="Segoe UI"/>
                </a:rPr>
                <a:t>Workflow Orchestration</a:t>
              </a:r>
            </a:p>
          </p:txBody>
        </p:sp>
      </p:grpSp>
      <p:grpSp>
        <p:nvGrpSpPr>
          <p:cNvPr id="30" name="Group 29">
            <a:extLst>
              <a:ext uri="{FF2B5EF4-FFF2-40B4-BE49-F238E27FC236}">
                <a16:creationId xmlns:a16="http://schemas.microsoft.com/office/drawing/2014/main" xmlns="" id="{C19A8854-984F-FC12-C207-27A8BCE9F225}"/>
              </a:ext>
            </a:extLst>
          </p:cNvPr>
          <p:cNvGrpSpPr/>
          <p:nvPr/>
        </p:nvGrpSpPr>
        <p:grpSpPr>
          <a:xfrm>
            <a:off x="518432" y="5281465"/>
            <a:ext cx="4201583" cy="246221"/>
            <a:chOff x="518433" y="4599325"/>
            <a:chExt cx="4201583" cy="246221"/>
          </a:xfrm>
        </p:grpSpPr>
        <p:sp>
          <p:nvSpPr>
            <p:cNvPr id="31" name="Rectangle: Rounded Corners 30">
              <a:extLst>
                <a:ext uri="{FF2B5EF4-FFF2-40B4-BE49-F238E27FC236}">
                  <a16:creationId xmlns:a16="http://schemas.microsoft.com/office/drawing/2014/main" xmlns="" id="{C708A80E-4B8D-8EA2-FB12-DB93B946737F}"/>
                </a:ext>
              </a:extLst>
            </p:cNvPr>
            <p:cNvSpPr/>
            <p:nvPr/>
          </p:nvSpPr>
          <p:spPr>
            <a:xfrm>
              <a:off x="518433" y="4608333"/>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xmlns="" id="{F7DD84C9-AEA1-CBAC-A04B-E5E45601F1DF}"/>
                </a:ext>
              </a:extLst>
            </p:cNvPr>
            <p:cNvSpPr/>
            <p:nvPr/>
          </p:nvSpPr>
          <p:spPr>
            <a:xfrm>
              <a:off x="1183821" y="4599325"/>
              <a:ext cx="3536195" cy="246221"/>
            </a:xfrm>
            <a:prstGeom prst="rect">
              <a:avLst/>
            </a:prstGeom>
          </p:spPr>
          <p:txBody>
            <a:bodyPr wrap="square" lIns="0" tIns="0" rIns="0" bIns="0" anchor="t">
              <a:spAutoFit/>
            </a:bodyPr>
            <a:lstStyle/>
            <a:p>
              <a:r>
                <a:rPr lang="en-US" sz="1600" i="1" dirty="0" smtClean="0">
                  <a:solidFill>
                    <a:srgbClr val="002060"/>
                  </a:solidFill>
                  <a:latin typeface="+mj-lt"/>
                  <a:ea typeface="Calibri Light"/>
                  <a:cs typeface="Segoe UI"/>
                </a:rPr>
                <a:t>Use Cases</a:t>
              </a:r>
              <a:endParaRPr lang="en-US" sz="1600" i="1" dirty="0">
                <a:solidFill>
                  <a:srgbClr val="002060"/>
                </a:solidFill>
                <a:latin typeface="+mj-lt"/>
                <a:ea typeface="Calibri Light"/>
                <a:cs typeface="Segoe UI"/>
              </a:endParaRPr>
            </a:p>
          </p:txBody>
        </p:sp>
      </p:grpSp>
      <p:grpSp>
        <p:nvGrpSpPr>
          <p:cNvPr id="5" name="Group 4">
            <a:extLst>
              <a:ext uri="{FF2B5EF4-FFF2-40B4-BE49-F238E27FC236}">
                <a16:creationId xmlns:a16="http://schemas.microsoft.com/office/drawing/2014/main" xmlns="" id="{F70704CC-CD59-D228-FCDF-D874B67AB2CD}"/>
              </a:ext>
            </a:extLst>
          </p:cNvPr>
          <p:cNvGrpSpPr/>
          <p:nvPr/>
        </p:nvGrpSpPr>
        <p:grpSpPr>
          <a:xfrm>
            <a:off x="518431" y="6203748"/>
            <a:ext cx="4201583" cy="246221"/>
            <a:chOff x="518433" y="4599325"/>
            <a:chExt cx="4201583" cy="246221"/>
          </a:xfrm>
        </p:grpSpPr>
        <p:sp>
          <p:nvSpPr>
            <p:cNvPr id="33" name="Rectangle: Rounded Corners 32">
              <a:extLst>
                <a:ext uri="{FF2B5EF4-FFF2-40B4-BE49-F238E27FC236}">
                  <a16:creationId xmlns:a16="http://schemas.microsoft.com/office/drawing/2014/main" xmlns="" id="{0724BD42-1DE7-CAA1-5799-5321D5A4DC05}"/>
                </a:ext>
              </a:extLst>
            </p:cNvPr>
            <p:cNvSpPr/>
            <p:nvPr/>
          </p:nvSpPr>
          <p:spPr>
            <a:xfrm>
              <a:off x="518433" y="4608333"/>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xmlns="" id="{545D8B9F-DD17-6243-9F85-9452BFB83A49}"/>
                </a:ext>
              </a:extLst>
            </p:cNvPr>
            <p:cNvSpPr/>
            <p:nvPr/>
          </p:nvSpPr>
          <p:spPr>
            <a:xfrm>
              <a:off x="1183821" y="4599325"/>
              <a:ext cx="3536195" cy="246221"/>
            </a:xfrm>
            <a:prstGeom prst="rect">
              <a:avLst/>
            </a:prstGeom>
          </p:spPr>
          <p:txBody>
            <a:bodyPr wrap="square" lIns="0" tIns="0" rIns="0" bIns="0" anchor="t">
              <a:spAutoFit/>
            </a:bodyPr>
            <a:lstStyle/>
            <a:p>
              <a:r>
                <a:rPr lang="en-US" sz="1600" i="1" dirty="0" smtClean="0">
                  <a:solidFill>
                    <a:srgbClr val="002060"/>
                  </a:solidFill>
                  <a:latin typeface="+mj-lt"/>
                  <a:ea typeface="Calibri Light"/>
                  <a:cs typeface="Segoe UI"/>
                </a:rPr>
                <a:t>Conclusion</a:t>
              </a:r>
              <a:endParaRPr lang="en-US" sz="1600" i="1" dirty="0">
                <a:solidFill>
                  <a:srgbClr val="002060"/>
                </a:solidFill>
                <a:latin typeface="+mj-lt"/>
                <a:ea typeface="Calibri Light"/>
                <a:cs typeface="Segoe UI"/>
              </a:endParaRPr>
            </a:p>
          </p:txBody>
        </p:sp>
      </p:grpSp>
      <p:grpSp>
        <p:nvGrpSpPr>
          <p:cNvPr id="59" name="Group 58">
            <a:extLst>
              <a:ext uri="{FF2B5EF4-FFF2-40B4-BE49-F238E27FC236}">
                <a16:creationId xmlns:a16="http://schemas.microsoft.com/office/drawing/2014/main" xmlns="" id="{F70704CC-CD59-D228-FCDF-D874B67AB2CD}"/>
              </a:ext>
            </a:extLst>
          </p:cNvPr>
          <p:cNvGrpSpPr/>
          <p:nvPr/>
        </p:nvGrpSpPr>
        <p:grpSpPr>
          <a:xfrm>
            <a:off x="523547" y="5742366"/>
            <a:ext cx="4201583" cy="246221"/>
            <a:chOff x="518433" y="4599325"/>
            <a:chExt cx="4201583" cy="246221"/>
          </a:xfrm>
        </p:grpSpPr>
        <p:sp>
          <p:nvSpPr>
            <p:cNvPr id="61" name="Rectangle: Rounded Corners 32">
              <a:extLst>
                <a:ext uri="{FF2B5EF4-FFF2-40B4-BE49-F238E27FC236}">
                  <a16:creationId xmlns:a16="http://schemas.microsoft.com/office/drawing/2014/main" xmlns="" id="{0724BD42-1DE7-CAA1-5799-5321D5A4DC05}"/>
                </a:ext>
              </a:extLst>
            </p:cNvPr>
            <p:cNvSpPr/>
            <p:nvPr/>
          </p:nvSpPr>
          <p:spPr>
            <a:xfrm>
              <a:off x="518433" y="4608333"/>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Rectangle 62">
              <a:extLst>
                <a:ext uri="{FF2B5EF4-FFF2-40B4-BE49-F238E27FC236}">
                  <a16:creationId xmlns:a16="http://schemas.microsoft.com/office/drawing/2014/main" xmlns="" id="{545D8B9F-DD17-6243-9F85-9452BFB83A49}"/>
                </a:ext>
              </a:extLst>
            </p:cNvPr>
            <p:cNvSpPr/>
            <p:nvPr/>
          </p:nvSpPr>
          <p:spPr>
            <a:xfrm>
              <a:off x="1183821" y="4599325"/>
              <a:ext cx="3536195" cy="246221"/>
            </a:xfrm>
            <a:prstGeom prst="rect">
              <a:avLst/>
            </a:prstGeom>
          </p:spPr>
          <p:txBody>
            <a:bodyPr wrap="square" lIns="0" tIns="0" rIns="0" bIns="0" anchor="t">
              <a:spAutoFit/>
            </a:bodyPr>
            <a:lstStyle/>
            <a:p>
              <a:r>
                <a:rPr lang="en-US" sz="1600" i="1" dirty="0" smtClean="0">
                  <a:solidFill>
                    <a:srgbClr val="002060"/>
                  </a:solidFill>
                  <a:latin typeface="+mj-lt"/>
                  <a:ea typeface="Calibri Light"/>
                  <a:cs typeface="Segoe UI"/>
                </a:rPr>
                <a:t>Limitations</a:t>
              </a:r>
              <a:endParaRPr lang="en-US" sz="1600" i="1" dirty="0">
                <a:solidFill>
                  <a:srgbClr val="002060"/>
                </a:solidFill>
                <a:latin typeface="+mj-lt"/>
                <a:ea typeface="Calibri Light"/>
                <a:cs typeface="Segoe UI"/>
              </a:endParaRPr>
            </a:p>
          </p:txBody>
        </p:sp>
      </p:grpSp>
    </p:spTree>
    <p:extLst>
      <p:ext uri="{BB962C8B-B14F-4D97-AF65-F5344CB8AC3E}">
        <p14:creationId xmlns:p14="http://schemas.microsoft.com/office/powerpoint/2010/main" val="285523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Title 67" hidden="1">
            <a:extLst>
              <a:ext uri="{FF2B5EF4-FFF2-40B4-BE49-F238E27FC236}">
                <a16:creationId xmlns:a16="http://schemas.microsoft.com/office/drawing/2014/main" xmlns="" id="{3D46526D-118F-4F6F-BAE0-066F422EBD1E}"/>
              </a:ext>
            </a:extLst>
          </p:cNvPr>
          <p:cNvSpPr>
            <a:spLocks noGrp="1"/>
          </p:cNvSpPr>
          <p:nvPr>
            <p:ph type="title" idx="4294967295"/>
          </p:nvPr>
        </p:nvSpPr>
        <p:spPr>
          <a:xfrm>
            <a:off x="0" y="365125"/>
            <a:ext cx="10515600" cy="1325563"/>
          </a:xfrm>
        </p:spPr>
        <p:txBody>
          <a:bodyPr/>
          <a:lstStyle/>
          <a:p>
            <a:r>
              <a:rPr lang="en-US" dirty="0"/>
              <a:t>Human resources slide 3</a:t>
            </a:r>
          </a:p>
        </p:txBody>
      </p:sp>
      <p:pic>
        <p:nvPicPr>
          <p:cNvPr id="122" name="Picture 121">
            <a:extLst>
              <a:ext uri="{FF2B5EF4-FFF2-40B4-BE49-F238E27FC236}">
                <a16:creationId xmlns:a16="http://schemas.microsoft.com/office/drawing/2014/main" xmlns="" id="{470070FC-19D0-4354-9BC9-608A5DC44997}"/>
              </a:ext>
              <a:ext uri="{C183D7F6-B498-43B3-948B-1728B52AA6E4}">
                <adec:decorative xmlns:adec="http://schemas.microsoft.com/office/drawing/2017/decorative" xmlns="" val="1"/>
              </a:ext>
            </a:extLst>
          </p:cNvPr>
          <p:cNvPicPr>
            <a:picLocks noChangeAspect="1"/>
          </p:cNvPicPr>
          <p:nvPr/>
        </p:nvPicPr>
        <p:blipFill rotWithShape="1">
          <a:blip r:embed="rId3">
            <a:lum bright="70000" contrast="-70000"/>
            <a:extLst>
              <a:ext uri="{BEBA8EAE-BF5A-486C-A8C5-ECC9F3942E4B}">
                <a14:imgProps xmlns:a14="http://schemas.microsoft.com/office/drawing/2010/main">
                  <a14:imgLayer r:embed="rId4">
                    <a14:imgEffect>
                      <a14:colorTemperature colorTemp="5300"/>
                    </a14:imgEffect>
                    <a14:imgEffect>
                      <a14:saturation sat="0"/>
                    </a14:imgEffect>
                  </a14:imgLayer>
                </a14:imgProps>
              </a:ext>
              <a:ext uri="{28A0092B-C50C-407E-A947-70E740481C1C}">
                <a14:useLocalDpi xmlns:a14="http://schemas.microsoft.com/office/drawing/2010/main" val="0"/>
              </a:ext>
            </a:extLst>
          </a:blip>
          <a:srcRect/>
          <a:stretch/>
        </p:blipFill>
        <p:spPr>
          <a:xfrm>
            <a:off x="0" y="0"/>
            <a:ext cx="12192000" cy="6858000"/>
          </a:xfrm>
          <a:custGeom>
            <a:avLst/>
            <a:gdLst>
              <a:gd name="connsiteX0" fmla="*/ 0 w 12192000"/>
              <a:gd name="connsiteY0" fmla="*/ 0 h 2895600"/>
              <a:gd name="connsiteX1" fmla="*/ 12192000 w 12192000"/>
              <a:gd name="connsiteY1" fmla="*/ 0 h 2895600"/>
              <a:gd name="connsiteX2" fmla="*/ 12192000 w 12192000"/>
              <a:gd name="connsiteY2" fmla="*/ 2895600 h 2895600"/>
              <a:gd name="connsiteX3" fmla="*/ 0 w 12192000"/>
              <a:gd name="connsiteY3" fmla="*/ 2895600 h 2895600"/>
            </a:gdLst>
            <a:ahLst/>
            <a:cxnLst>
              <a:cxn ang="0">
                <a:pos x="connsiteX0" y="connsiteY0"/>
              </a:cxn>
              <a:cxn ang="0">
                <a:pos x="connsiteX1" y="connsiteY1"/>
              </a:cxn>
              <a:cxn ang="0">
                <a:pos x="connsiteX2" y="connsiteY2"/>
              </a:cxn>
              <a:cxn ang="0">
                <a:pos x="connsiteX3" y="connsiteY3"/>
              </a:cxn>
            </a:cxnLst>
            <a:rect l="l" t="t" r="r" b="b"/>
            <a:pathLst>
              <a:path w="12192000" h="2895600">
                <a:moveTo>
                  <a:pt x="0" y="0"/>
                </a:moveTo>
                <a:lnTo>
                  <a:pt x="12192000" y="0"/>
                </a:lnTo>
                <a:lnTo>
                  <a:pt x="12192000" y="2895600"/>
                </a:lnTo>
                <a:lnTo>
                  <a:pt x="0" y="2895600"/>
                </a:lnTo>
                <a:close/>
              </a:path>
            </a:pathLst>
          </a:custGeom>
        </p:spPr>
      </p:pic>
      <p:sp>
        <p:nvSpPr>
          <p:cNvPr id="2" name="TextBox 1">
            <a:extLst>
              <a:ext uri="{FF2B5EF4-FFF2-40B4-BE49-F238E27FC236}">
                <a16:creationId xmlns:a16="http://schemas.microsoft.com/office/drawing/2014/main" xmlns="" id="{62AEF5FE-6C45-4BF6-9676-571742C3CDD7}"/>
              </a:ext>
            </a:extLst>
          </p:cNvPr>
          <p:cNvSpPr txBox="1"/>
          <p:nvPr/>
        </p:nvSpPr>
        <p:spPr>
          <a:xfrm>
            <a:off x="113147" y="3579995"/>
            <a:ext cx="4479228" cy="512961"/>
          </a:xfrm>
          <a:prstGeom prst="rect">
            <a:avLst/>
          </a:prstGeom>
          <a:noFill/>
        </p:spPr>
        <p:txBody>
          <a:bodyPr wrap="square" lIns="0" tIns="0" rIns="0" bIns="0" rtlCol="0" anchor="t">
            <a:spAutoFit/>
          </a:bodyPr>
          <a:lstStyle/>
          <a:p>
            <a:pPr>
              <a:lnSpc>
                <a:spcPts val="4000"/>
              </a:lnSpc>
            </a:pPr>
            <a:r>
              <a:rPr lang="en-US" sz="4000" b="1" dirty="0">
                <a:solidFill>
                  <a:srgbClr val="002060"/>
                </a:solidFill>
                <a:latin typeface="Segoe UI"/>
                <a:cs typeface="Segoe UI"/>
              </a:rPr>
              <a:t>INTRODUCTION</a:t>
            </a:r>
          </a:p>
        </p:txBody>
      </p:sp>
      <p:sp>
        <p:nvSpPr>
          <p:cNvPr id="3" name="Rectangle 2">
            <a:extLst>
              <a:ext uri="{FF2B5EF4-FFF2-40B4-BE49-F238E27FC236}">
                <a16:creationId xmlns:a16="http://schemas.microsoft.com/office/drawing/2014/main" xmlns="" id="{A74D15AA-4B45-41B5-A81C-97FCBF019951}"/>
              </a:ext>
            </a:extLst>
          </p:cNvPr>
          <p:cNvSpPr/>
          <p:nvPr/>
        </p:nvSpPr>
        <p:spPr>
          <a:xfrm>
            <a:off x="689985" y="5372393"/>
            <a:ext cx="2879127" cy="246221"/>
          </a:xfrm>
          <a:prstGeom prst="rect">
            <a:avLst/>
          </a:prstGeom>
        </p:spPr>
        <p:txBody>
          <a:bodyPr wrap="square" lIns="0" tIns="0" rIns="0" bIns="0" anchor="t">
            <a:spAutoFit/>
          </a:bodyPr>
          <a:lstStyle/>
          <a:p>
            <a:endParaRPr lang="en-US" sz="1600" i="1" dirty="0">
              <a:solidFill>
                <a:srgbClr val="002060"/>
              </a:solidFill>
              <a:latin typeface="+mj-lt"/>
              <a:ea typeface="Calibri Light"/>
              <a:cs typeface="Segoe UI" panose="020B0502040204020203" pitchFamily="34" charset="0"/>
            </a:endParaRPr>
          </a:p>
        </p:txBody>
      </p:sp>
      <p:sp>
        <p:nvSpPr>
          <p:cNvPr id="4" name="Parallelogram 3">
            <a:extLst>
              <a:ext uri="{FF2B5EF4-FFF2-40B4-BE49-F238E27FC236}">
                <a16:creationId xmlns:a16="http://schemas.microsoft.com/office/drawing/2014/main" xmlns="" id="{241C7FC4-FEFA-4A96-9749-9068C68611EF}"/>
              </a:ext>
              <a:ext uri="{C183D7F6-B498-43B3-948B-1728B52AA6E4}">
                <adec:decorative xmlns:adec="http://schemas.microsoft.com/office/drawing/2017/decorative" xmlns="" val="1"/>
              </a:ext>
            </a:extLst>
          </p:cNvPr>
          <p:cNvSpPr/>
          <p:nvPr/>
        </p:nvSpPr>
        <p:spPr>
          <a:xfrm>
            <a:off x="4115474" y="2"/>
            <a:ext cx="3961053" cy="6857998"/>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14" name="TextBox 13">
            <a:extLst>
              <a:ext uri="{FF2B5EF4-FFF2-40B4-BE49-F238E27FC236}">
                <a16:creationId xmlns:a16="http://schemas.microsoft.com/office/drawing/2014/main" xmlns="" id="{A5704BA3-593E-4519-9139-4E1D86366677}"/>
              </a:ext>
            </a:extLst>
          </p:cNvPr>
          <p:cNvSpPr txBox="1"/>
          <p:nvPr/>
        </p:nvSpPr>
        <p:spPr>
          <a:xfrm>
            <a:off x="4595888" y="529998"/>
            <a:ext cx="2427971" cy="492443"/>
          </a:xfrm>
          <a:prstGeom prst="rect">
            <a:avLst/>
          </a:prstGeom>
          <a:noFill/>
        </p:spPr>
        <p:txBody>
          <a:bodyPr wrap="square" lIns="0" tIns="0" rIns="0" bIns="0" rtlCol="0" anchor="t">
            <a:spAutoFit/>
          </a:bodyPr>
          <a:lstStyle/>
          <a:p>
            <a:r>
              <a:rPr lang="en-US" sz="1600" b="1" dirty="0">
                <a:solidFill>
                  <a:schemeClr val="bg1"/>
                </a:solidFill>
                <a:latin typeface="Segoe UI"/>
                <a:cs typeface="Segoe UI"/>
              </a:rPr>
              <a:t>WHAT IS MEANT BY POPULATION CENSUS?</a:t>
            </a:r>
          </a:p>
        </p:txBody>
      </p:sp>
      <p:grpSp>
        <p:nvGrpSpPr>
          <p:cNvPr id="93" name="Group 92">
            <a:extLst>
              <a:ext uri="{FF2B5EF4-FFF2-40B4-BE49-F238E27FC236}">
                <a16:creationId xmlns:a16="http://schemas.microsoft.com/office/drawing/2014/main" xmlns="" id="{294AEDC0-6B1D-4A3D-860D-83756CC387D3}"/>
              </a:ext>
              <a:ext uri="{C183D7F6-B498-43B3-948B-1728B52AA6E4}">
                <adec:decorative xmlns:adec="http://schemas.microsoft.com/office/drawing/2017/decorative" xmlns="" val="1"/>
              </a:ext>
            </a:extLst>
          </p:cNvPr>
          <p:cNvGrpSpPr/>
          <p:nvPr/>
        </p:nvGrpSpPr>
        <p:grpSpPr>
          <a:xfrm>
            <a:off x="8446733" y="531149"/>
            <a:ext cx="3047138" cy="5688650"/>
            <a:chOff x="8462691" y="531149"/>
            <a:chExt cx="3047138" cy="5688650"/>
          </a:xfrm>
        </p:grpSpPr>
        <p:sp>
          <p:nvSpPr>
            <p:cNvPr id="101" name="TextBox 100">
              <a:extLst>
                <a:ext uri="{FF2B5EF4-FFF2-40B4-BE49-F238E27FC236}">
                  <a16:creationId xmlns:a16="http://schemas.microsoft.com/office/drawing/2014/main" xmlns="" id="{CAECCF3F-B2FA-4F0A-96EE-B54207D66547}"/>
                </a:ext>
              </a:extLst>
            </p:cNvPr>
            <p:cNvSpPr txBox="1"/>
            <p:nvPr/>
          </p:nvSpPr>
          <p:spPr>
            <a:xfrm>
              <a:off x="8462691" y="531149"/>
              <a:ext cx="3047138" cy="1384995"/>
            </a:xfrm>
            <a:prstGeom prst="rect">
              <a:avLst/>
            </a:prstGeom>
            <a:noFill/>
          </p:spPr>
          <p:txBody>
            <a:bodyPr wrap="square" lIns="0" tIns="0" rIns="0" bIns="0" rtlCol="0" anchor="t">
              <a:spAutoFit/>
            </a:bodyPr>
            <a:lstStyle/>
            <a:p>
              <a:r>
                <a:rPr lang="en-US" dirty="0">
                  <a:ea typeface="Calibri"/>
                  <a:cs typeface="Calibri"/>
                </a:rPr>
                <a:t>WHAT IS MEANT BY DEMOGRAPHIC INSIGHTS AND HOW POPULATION CENSUS IS USEFUL FOR DRAWING INSIGHTS?</a:t>
              </a:r>
              <a:endParaRPr lang="en-US" dirty="0"/>
            </a:p>
          </p:txBody>
        </p:sp>
        <p:sp>
          <p:nvSpPr>
            <p:cNvPr id="103" name="Rectangle 102">
              <a:extLst>
                <a:ext uri="{FF2B5EF4-FFF2-40B4-BE49-F238E27FC236}">
                  <a16:creationId xmlns:a16="http://schemas.microsoft.com/office/drawing/2014/main" xmlns="" id="{CDAD2E5F-3DBB-47BA-B90E-DDB45972B6AF}"/>
                </a:ext>
              </a:extLst>
            </p:cNvPr>
            <p:cNvSpPr/>
            <p:nvPr/>
          </p:nvSpPr>
          <p:spPr>
            <a:xfrm>
              <a:off x="8483139" y="2034038"/>
              <a:ext cx="2975669" cy="4185761"/>
            </a:xfrm>
            <a:prstGeom prst="rect">
              <a:avLst/>
            </a:prstGeom>
          </p:spPr>
          <p:txBody>
            <a:bodyPr wrap="square" lIns="0" tIns="0" rIns="0" bIns="0" anchor="t">
              <a:spAutoFit/>
            </a:bodyPr>
            <a:lstStyle/>
            <a:p>
              <a:r>
                <a:rPr lang="en-US" sz="1600" i="1" dirty="0">
                  <a:solidFill>
                    <a:srgbClr val="002060"/>
                  </a:solidFill>
                  <a:latin typeface="Calibri"/>
                  <a:ea typeface="Calibri"/>
                  <a:cs typeface="Calibri"/>
                </a:rPr>
                <a:t>Demographic</a:t>
              </a:r>
              <a:r>
                <a:rPr lang="en-US" sz="1600" i="1" dirty="0">
                  <a:solidFill>
                    <a:srgbClr val="002060"/>
                  </a:solidFill>
                  <a:ea typeface="+mn-lt"/>
                  <a:cs typeface="+mn-lt"/>
                </a:rPr>
                <a:t> insights are the meaningful conclusions or understandings drawn from population data </a:t>
              </a:r>
              <a:endParaRPr lang="en-US" sz="1600" i="1">
                <a:solidFill>
                  <a:srgbClr val="002060"/>
                </a:solidFill>
                <a:ea typeface="+mn-lt"/>
                <a:cs typeface="+mn-lt"/>
              </a:endParaRPr>
            </a:p>
            <a:p>
              <a:endParaRPr lang="en-US" sz="1600" i="1" dirty="0">
                <a:solidFill>
                  <a:srgbClr val="002060"/>
                </a:solidFill>
                <a:latin typeface="Calibri"/>
                <a:ea typeface="Calibri"/>
                <a:cs typeface="Calibri"/>
              </a:endParaRPr>
            </a:p>
            <a:p>
              <a:r>
                <a:rPr lang="en-US" sz="1600" i="1" dirty="0">
                  <a:solidFill>
                    <a:srgbClr val="002060"/>
                  </a:solidFill>
                  <a:ea typeface="+mn-lt"/>
                  <a:cs typeface="+mn-lt"/>
                </a:rPr>
                <a:t>A population census collects detailed data about the people living in a country.</a:t>
              </a:r>
              <a:endParaRPr lang="en-US" sz="1600" i="1">
                <a:solidFill>
                  <a:srgbClr val="002060"/>
                </a:solidFill>
                <a:ea typeface="Calibri"/>
                <a:cs typeface="Calibri"/>
              </a:endParaRPr>
            </a:p>
            <a:p>
              <a:endParaRPr lang="en-US" sz="1600" i="1" dirty="0">
                <a:solidFill>
                  <a:srgbClr val="002060"/>
                </a:solidFill>
                <a:latin typeface="Calibri"/>
                <a:ea typeface="Calibri"/>
                <a:cs typeface="Calibri"/>
              </a:endParaRPr>
            </a:p>
            <a:p>
              <a:r>
                <a:rPr lang="en-US" sz="1600" i="1" dirty="0">
                  <a:solidFill>
                    <a:srgbClr val="002060"/>
                  </a:solidFill>
                  <a:ea typeface="+mn-lt"/>
                  <a:cs typeface="+mn-lt"/>
                </a:rPr>
                <a:t>This collected data is then analyzed to produce demographic insights.</a:t>
              </a:r>
              <a:endParaRPr lang="en-US" sz="1600" i="1">
                <a:solidFill>
                  <a:srgbClr val="002060"/>
                </a:solidFill>
                <a:ea typeface="Calibri"/>
                <a:cs typeface="Calibri"/>
              </a:endParaRPr>
            </a:p>
            <a:p>
              <a:endParaRPr lang="en-US" sz="1600" i="1" dirty="0">
                <a:solidFill>
                  <a:srgbClr val="002060"/>
                </a:solidFill>
                <a:latin typeface="Calibri"/>
                <a:ea typeface="Calibri"/>
                <a:cs typeface="Calibri"/>
              </a:endParaRPr>
            </a:p>
            <a:p>
              <a:r>
                <a:rPr lang="en-US" sz="1600" i="1" dirty="0">
                  <a:solidFill>
                    <a:srgbClr val="002060"/>
                  </a:solidFill>
                  <a:ea typeface="+mn-lt"/>
                  <a:cs typeface="+mn-lt"/>
                </a:rPr>
                <a:t>These insights are used for policy-making, development planning, and resource distribution.</a:t>
              </a:r>
              <a:endParaRPr lang="en-US" sz="1600" i="1">
                <a:ea typeface="Calibri"/>
                <a:cs typeface="Calibri"/>
              </a:endParaRPr>
            </a:p>
            <a:p>
              <a:endParaRPr lang="en-US" sz="1600" i="1" dirty="0">
                <a:solidFill>
                  <a:srgbClr val="002060"/>
                </a:solidFill>
                <a:latin typeface="Calibri"/>
                <a:ea typeface="Calibri"/>
                <a:cs typeface="Calibri"/>
              </a:endParaRPr>
            </a:p>
            <a:p>
              <a:endParaRPr lang="en-US" sz="1600" i="1" dirty="0">
                <a:solidFill>
                  <a:srgbClr val="002060"/>
                </a:solidFill>
                <a:latin typeface="Calibri"/>
                <a:ea typeface="Calibri"/>
                <a:cs typeface="Calibri"/>
              </a:endParaRPr>
            </a:p>
          </p:txBody>
        </p:sp>
        <p:sp>
          <p:nvSpPr>
            <p:cNvPr id="105" name="Rectangle 104">
              <a:extLst>
                <a:ext uri="{FF2B5EF4-FFF2-40B4-BE49-F238E27FC236}">
                  <a16:creationId xmlns:a16="http://schemas.microsoft.com/office/drawing/2014/main" xmlns="" id="{AD1F5E0B-9D11-43FF-9946-9B61EF9D6E88}"/>
                </a:ext>
              </a:extLst>
            </p:cNvPr>
            <p:cNvSpPr/>
            <p:nvPr/>
          </p:nvSpPr>
          <p:spPr>
            <a:xfrm>
              <a:off x="8483139" y="3633268"/>
              <a:ext cx="2975669" cy="246221"/>
            </a:xfrm>
            <a:prstGeom prst="rect">
              <a:avLst/>
            </a:prstGeom>
          </p:spPr>
          <p:txBody>
            <a:bodyPr wrap="square" lIns="0" tIns="0" rIns="0" bIns="0" anchor="t">
              <a:spAutoFit/>
            </a:bodyPr>
            <a:lstStyle/>
            <a:p>
              <a:endParaRPr lang="en-US" sz="1600" i="1" dirty="0">
                <a:solidFill>
                  <a:srgbClr val="002060"/>
                </a:solidFill>
                <a:latin typeface="+mj-lt"/>
                <a:ea typeface="Calibri Light"/>
                <a:cs typeface="Segoe UI" panose="020B0502040204020203" pitchFamily="34" charset="0"/>
              </a:endParaRPr>
            </a:p>
          </p:txBody>
        </p:sp>
        <p:sp>
          <p:nvSpPr>
            <p:cNvPr id="106" name="TextBox 105">
              <a:extLst>
                <a:ext uri="{FF2B5EF4-FFF2-40B4-BE49-F238E27FC236}">
                  <a16:creationId xmlns:a16="http://schemas.microsoft.com/office/drawing/2014/main" xmlns="" id="{2BACDD99-66AF-423B-B714-10B1BD09EBE4}"/>
                </a:ext>
              </a:extLst>
            </p:cNvPr>
            <p:cNvSpPr txBox="1"/>
            <p:nvPr/>
          </p:nvSpPr>
          <p:spPr>
            <a:xfrm>
              <a:off x="8462691" y="4638831"/>
              <a:ext cx="3047138" cy="246221"/>
            </a:xfrm>
            <a:prstGeom prst="rect">
              <a:avLst/>
            </a:prstGeom>
            <a:noFill/>
          </p:spPr>
          <p:txBody>
            <a:bodyPr wrap="square" lIns="0" tIns="0" rIns="0" bIns="0" rtlCol="0" anchor="t">
              <a:spAutoFit/>
            </a:bodyPr>
            <a:lstStyle/>
            <a:p>
              <a:endParaRPr lang="en-US" sz="1600" b="1" dirty="0">
                <a:solidFill>
                  <a:srgbClr val="002060"/>
                </a:solidFill>
                <a:latin typeface="Segoe UI" panose="020B0502040204020203" pitchFamily="34" charset="0"/>
                <a:cs typeface="Segoe UI" panose="020B0502040204020203" pitchFamily="34" charset="0"/>
              </a:endParaRPr>
            </a:p>
          </p:txBody>
        </p:sp>
        <p:sp>
          <p:nvSpPr>
            <p:cNvPr id="107" name="Rectangle 106">
              <a:extLst>
                <a:ext uri="{FF2B5EF4-FFF2-40B4-BE49-F238E27FC236}">
                  <a16:creationId xmlns:a16="http://schemas.microsoft.com/office/drawing/2014/main" xmlns="" id="{D6D9691D-4606-4981-97A5-3BEAC7F0804E}"/>
                </a:ext>
              </a:extLst>
            </p:cNvPr>
            <p:cNvSpPr/>
            <p:nvPr/>
          </p:nvSpPr>
          <p:spPr>
            <a:xfrm>
              <a:off x="8483139" y="5372393"/>
              <a:ext cx="2975669" cy="246221"/>
            </a:xfrm>
            <a:prstGeom prst="rect">
              <a:avLst/>
            </a:prstGeom>
          </p:spPr>
          <p:txBody>
            <a:bodyPr wrap="square" lIns="0" tIns="0" rIns="0" bIns="0" anchor="t">
              <a:spAutoFit/>
            </a:bodyPr>
            <a:lstStyle/>
            <a:p>
              <a:endParaRPr lang="en-US" sz="1600" i="1" dirty="0">
                <a:solidFill>
                  <a:srgbClr val="002060"/>
                </a:solidFill>
                <a:latin typeface="+mj-lt"/>
                <a:ea typeface="Calibri Light"/>
                <a:cs typeface="Segoe UI" panose="020B0502040204020203" pitchFamily="34" charset="0"/>
              </a:endParaRPr>
            </a:p>
          </p:txBody>
        </p:sp>
        <p:cxnSp>
          <p:nvCxnSpPr>
            <p:cNvPr id="72" name="Straight Connector 71">
              <a:extLst>
                <a:ext uri="{FF2B5EF4-FFF2-40B4-BE49-F238E27FC236}">
                  <a16:creationId xmlns:a16="http://schemas.microsoft.com/office/drawing/2014/main" xmlns="" id="{281FF210-334C-43FA-80C2-0E1E9F3F51C4}"/>
                </a:ext>
              </a:extLst>
            </p:cNvPr>
            <p:cNvCxnSpPr>
              <a:cxnSpLocks/>
            </p:cNvCxnSpPr>
            <p:nvPr/>
          </p:nvCxnSpPr>
          <p:spPr>
            <a:xfrm>
              <a:off x="8462691" y="4385043"/>
              <a:ext cx="2996117"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sp>
        <p:nvSpPr>
          <p:cNvPr id="69" name="Rectangle 68">
            <a:extLst>
              <a:ext uri="{FF2B5EF4-FFF2-40B4-BE49-F238E27FC236}">
                <a16:creationId xmlns:a16="http://schemas.microsoft.com/office/drawing/2014/main" xmlns="" id="{C87E0383-AAA3-9213-A370-F8FBD8E32E26}"/>
              </a:ext>
            </a:extLst>
          </p:cNvPr>
          <p:cNvSpPr/>
          <p:nvPr/>
        </p:nvSpPr>
        <p:spPr>
          <a:xfrm>
            <a:off x="4595936" y="1189429"/>
            <a:ext cx="3290726" cy="4924425"/>
          </a:xfrm>
          <a:prstGeom prst="rect">
            <a:avLst/>
          </a:prstGeom>
        </p:spPr>
        <p:txBody>
          <a:bodyPr wrap="square" lIns="0" tIns="0" rIns="0" bIns="0" anchor="t">
            <a:spAutoFit/>
          </a:bodyPr>
          <a:lstStyle/>
          <a:p>
            <a:r>
              <a:rPr lang="en-US" sz="1600" i="1" dirty="0">
                <a:solidFill>
                  <a:schemeClr val="bg1"/>
                </a:solidFill>
                <a:ea typeface="+mn-lt"/>
                <a:cs typeface="+mn-lt"/>
              </a:rPr>
              <a:t>Population refers to the total number of people living in a particular area at a specific time.</a:t>
            </a:r>
            <a:endParaRPr lang="en-US"/>
          </a:p>
          <a:p>
            <a:pPr marL="285750" indent="-285750">
              <a:buFont typeface="Arial"/>
              <a:buChar char="•"/>
            </a:pPr>
            <a:endParaRPr lang="en-US" sz="1600" i="1" dirty="0">
              <a:solidFill>
                <a:schemeClr val="bg1"/>
              </a:solidFill>
              <a:latin typeface="Calibri"/>
              <a:ea typeface="Calibri"/>
              <a:cs typeface="Calibri"/>
            </a:endParaRPr>
          </a:p>
          <a:p>
            <a:r>
              <a:rPr lang="en-US" sz="1600" i="1" dirty="0">
                <a:solidFill>
                  <a:schemeClr val="bg1"/>
                </a:solidFill>
                <a:latin typeface="Calibri"/>
                <a:ea typeface="Calibri"/>
                <a:cs typeface="Calibri"/>
              </a:rPr>
              <a:t>Population Census </a:t>
            </a:r>
            <a:r>
              <a:rPr lang="en-US" sz="1600" i="1" dirty="0">
                <a:solidFill>
                  <a:schemeClr val="bg1"/>
                </a:solidFill>
                <a:ea typeface="+mn-lt"/>
                <a:cs typeface="+mn-lt"/>
              </a:rPr>
              <a:t>is the </a:t>
            </a:r>
            <a:r>
              <a:rPr lang="en-US" sz="1600" b="1" i="1" dirty="0">
                <a:solidFill>
                  <a:schemeClr val="bg1"/>
                </a:solidFill>
                <a:ea typeface="+mn-lt"/>
                <a:cs typeface="+mn-lt"/>
              </a:rPr>
              <a:t>official counting of the population</a:t>
            </a:r>
            <a:r>
              <a:rPr lang="en-US" sz="1600" i="1" dirty="0">
                <a:solidFill>
                  <a:schemeClr val="bg1"/>
                </a:solidFill>
                <a:ea typeface="+mn-lt"/>
                <a:cs typeface="+mn-lt"/>
              </a:rPr>
              <a:t> of a country carried out by the government at regular intervals (usually every 10 years).</a:t>
            </a:r>
          </a:p>
          <a:p>
            <a:pPr marL="285750" indent="-285750">
              <a:buFont typeface="Arial"/>
              <a:buChar char="•"/>
            </a:pPr>
            <a:endParaRPr lang="en-US" sz="1600" i="1" dirty="0">
              <a:solidFill>
                <a:schemeClr val="bg1"/>
              </a:solidFill>
              <a:ea typeface="+mn-lt"/>
              <a:cs typeface="+mn-lt"/>
            </a:endParaRPr>
          </a:p>
          <a:p>
            <a:r>
              <a:rPr lang="en-US" sz="1600" i="1" dirty="0">
                <a:solidFill>
                  <a:schemeClr val="bg1"/>
                </a:solidFill>
                <a:ea typeface="+mn-lt"/>
                <a:cs typeface="+mn-lt"/>
              </a:rPr>
              <a:t>A population census collects detailed information such as age, sex, occupation, literacy, and living conditions of people.</a:t>
            </a:r>
          </a:p>
          <a:p>
            <a:pPr marL="285750" indent="-285750">
              <a:buFont typeface="Arial"/>
              <a:buChar char="•"/>
            </a:pPr>
            <a:endParaRPr lang="en-US" sz="1600" i="1" dirty="0">
              <a:solidFill>
                <a:schemeClr val="bg1"/>
              </a:solidFill>
              <a:ea typeface="+mn-lt"/>
              <a:cs typeface="+mn-lt"/>
            </a:endParaRPr>
          </a:p>
          <a:p>
            <a:r>
              <a:rPr lang="en-US" sz="1600" i="1" dirty="0">
                <a:solidFill>
                  <a:schemeClr val="bg1"/>
                </a:solidFill>
                <a:ea typeface="+mn-lt"/>
                <a:cs typeface="+mn-lt"/>
              </a:rPr>
              <a:t>The data from a population census helps the government in planning development, making policies, and allocating resources like schools, hospitals, and housing.</a:t>
            </a:r>
          </a:p>
        </p:txBody>
      </p:sp>
    </p:spTree>
    <p:extLst>
      <p:ext uri="{BB962C8B-B14F-4D97-AF65-F5344CB8AC3E}">
        <p14:creationId xmlns:p14="http://schemas.microsoft.com/office/powerpoint/2010/main" val="1860944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hidden="1">
            <a:extLst>
              <a:ext uri="{FF2B5EF4-FFF2-40B4-BE49-F238E27FC236}">
                <a16:creationId xmlns:a16="http://schemas.microsoft.com/office/drawing/2014/main" xmlns="" id="{6FF5F564-0C08-4A3C-8BAC-1FADF459417F}"/>
              </a:ext>
            </a:extLst>
          </p:cNvPr>
          <p:cNvSpPr>
            <a:spLocks noGrp="1"/>
          </p:cNvSpPr>
          <p:nvPr>
            <p:ph type="title"/>
          </p:nvPr>
        </p:nvSpPr>
        <p:spPr/>
        <p:txBody>
          <a:bodyPr/>
          <a:lstStyle/>
          <a:p>
            <a:r>
              <a:rPr lang="en-US" dirty="0"/>
              <a:t>Human resources slide 4</a:t>
            </a:r>
          </a:p>
        </p:txBody>
      </p:sp>
      <p:sp>
        <p:nvSpPr>
          <p:cNvPr id="21" name="Parallelogram 20">
            <a:extLst>
              <a:ext uri="{FF2B5EF4-FFF2-40B4-BE49-F238E27FC236}">
                <a16:creationId xmlns:a16="http://schemas.microsoft.com/office/drawing/2014/main" xmlns="" id="{1DA0A2A2-3BBF-7C2B-E48F-88B431BAE514}"/>
              </a:ext>
              <a:ext uri="{C183D7F6-B498-43B3-948B-1728B52AA6E4}">
                <adec:decorative xmlns:adec="http://schemas.microsoft.com/office/drawing/2017/decorative" xmlns="" val="1"/>
              </a:ext>
            </a:extLst>
          </p:cNvPr>
          <p:cNvSpPr/>
          <p:nvPr/>
        </p:nvSpPr>
        <p:spPr>
          <a:xfrm rot="-5400000">
            <a:off x="5219596" y="-5170712"/>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extBox 1">
            <a:extLst>
              <a:ext uri="{FF2B5EF4-FFF2-40B4-BE49-F238E27FC236}">
                <a16:creationId xmlns:a16="http://schemas.microsoft.com/office/drawing/2014/main" xmlns="" id="{3A98F554-2D7C-EC2A-5D05-6662E8B9FE93}"/>
              </a:ext>
            </a:extLst>
          </p:cNvPr>
          <p:cNvSpPr txBox="1"/>
          <p:nvPr/>
        </p:nvSpPr>
        <p:spPr>
          <a:xfrm>
            <a:off x="469576" y="975465"/>
            <a:ext cx="1134358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bg1"/>
                </a:solidFill>
                <a:latin typeface="Segoe UI"/>
                <a:ea typeface="Calibri"/>
                <a:cs typeface="Calibri"/>
              </a:rPr>
              <a:t>PROBLEM STATEMENT &amp; OBJECTIVES</a:t>
            </a:r>
            <a:endParaRPr lang="en-US" sz="4000" b="1" dirty="0">
              <a:solidFill>
                <a:schemeClr val="bg1"/>
              </a:solidFill>
              <a:latin typeface="Segoe UI"/>
              <a:cs typeface="Segoe UI"/>
            </a:endParaRPr>
          </a:p>
        </p:txBody>
      </p:sp>
      <p:sp>
        <p:nvSpPr>
          <p:cNvPr id="23" name="TextBox 22">
            <a:extLst>
              <a:ext uri="{FF2B5EF4-FFF2-40B4-BE49-F238E27FC236}">
                <a16:creationId xmlns:a16="http://schemas.microsoft.com/office/drawing/2014/main" xmlns="" id="{EC686D45-1ABD-17AD-EC8F-577C7FEEF8D5}"/>
              </a:ext>
            </a:extLst>
          </p:cNvPr>
          <p:cNvSpPr txBox="1"/>
          <p:nvPr/>
        </p:nvSpPr>
        <p:spPr>
          <a:xfrm>
            <a:off x="466531" y="2192694"/>
            <a:ext cx="11165632" cy="36317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Problem Statement</a:t>
            </a:r>
            <a:endParaRPr lang="en-US" dirty="0"/>
          </a:p>
          <a:p>
            <a:endParaRPr lang="en-US" b="1" dirty="0">
              <a:ea typeface="+mn-lt"/>
              <a:cs typeface="+mn-lt"/>
            </a:endParaRPr>
          </a:p>
          <a:p>
            <a:pPr marL="285750" indent="-285750" algn="just">
              <a:buFont typeface="Arial"/>
              <a:buChar char="•"/>
            </a:pPr>
            <a:r>
              <a:rPr lang="en-US" sz="1600" b="1" dirty="0">
                <a:ea typeface="+mn-lt"/>
                <a:cs typeface="+mn-lt"/>
              </a:rPr>
              <a:t>Data Fragmentation:</a:t>
            </a:r>
            <a:r>
              <a:rPr lang="en-US" sz="1600" dirty="0">
                <a:ea typeface="+mn-lt"/>
                <a:cs typeface="+mn-lt"/>
              </a:rPr>
              <a:t> Census datasets are massive and stored across disconnected files, creating a "data silo" effect that prevents a unified national view. </a:t>
            </a:r>
            <a:endParaRPr lang="en-US" sz="1600" dirty="0">
              <a:ea typeface="Calibri"/>
              <a:cs typeface="Calibri"/>
            </a:endParaRPr>
          </a:p>
          <a:p>
            <a:pPr marL="285750" indent="-285750" algn="just">
              <a:buFont typeface="Arial"/>
              <a:buChar char="•"/>
            </a:pPr>
            <a:endParaRPr lang="en-US" sz="1600" dirty="0">
              <a:ea typeface="+mn-lt"/>
              <a:cs typeface="+mn-lt"/>
            </a:endParaRPr>
          </a:p>
          <a:p>
            <a:pPr marL="285750" indent="-285750" algn="just">
              <a:buFont typeface="Arial"/>
              <a:buChar char="•"/>
            </a:pPr>
            <a:r>
              <a:rPr lang="en-US" sz="1600" b="1" dirty="0">
                <a:ea typeface="+mn-lt"/>
                <a:cs typeface="+mn-lt"/>
              </a:rPr>
              <a:t>Manual Inefficiency:</a:t>
            </a:r>
            <a:r>
              <a:rPr lang="en-US" sz="1600" dirty="0">
                <a:ea typeface="+mn-lt"/>
                <a:cs typeface="+mn-lt"/>
              </a:rPr>
              <a:t> Traditional demographic analysis relies on slow, manual spreadsheet processing, leading to human error and inconsistent reporting.</a:t>
            </a:r>
            <a:endParaRPr lang="en-US" sz="1600">
              <a:ea typeface="Calibri"/>
              <a:cs typeface="Calibri"/>
            </a:endParaRPr>
          </a:p>
          <a:p>
            <a:pPr marL="285750" indent="-285750" algn="just">
              <a:buFont typeface="Arial"/>
              <a:buChar char="•"/>
            </a:pPr>
            <a:endParaRPr lang="en-US" sz="1600" dirty="0">
              <a:ea typeface="+mn-lt"/>
              <a:cs typeface="+mn-lt"/>
            </a:endParaRPr>
          </a:p>
          <a:p>
            <a:pPr marL="285750" indent="-285750" algn="just">
              <a:buFont typeface="Arial"/>
              <a:buChar char="•"/>
            </a:pPr>
            <a:r>
              <a:rPr lang="en-US" sz="1600" b="1" dirty="0">
                <a:ea typeface="+mn-lt"/>
                <a:cs typeface="+mn-lt"/>
              </a:rPr>
              <a:t>Data Quality Issues:</a:t>
            </a:r>
            <a:r>
              <a:rPr lang="en-US" sz="1600" dirty="0">
                <a:ea typeface="+mn-lt"/>
                <a:cs typeface="+mn-lt"/>
              </a:rPr>
              <a:t> Raw public data often contains missing values, duplicates, and non-standardized geographic codes that distort policy decisions.</a:t>
            </a:r>
            <a:endParaRPr lang="en-US" sz="1600">
              <a:ea typeface="Calibri"/>
              <a:cs typeface="Calibri"/>
            </a:endParaRPr>
          </a:p>
          <a:p>
            <a:pPr marL="285750" indent="-285750" algn="just">
              <a:buFont typeface="Arial"/>
              <a:buChar char="•"/>
            </a:pPr>
            <a:endParaRPr lang="en-US" sz="1600" dirty="0">
              <a:ea typeface="+mn-lt"/>
              <a:cs typeface="+mn-lt"/>
            </a:endParaRPr>
          </a:p>
          <a:p>
            <a:pPr marL="285750" indent="-285750" algn="just">
              <a:buFont typeface="Arial"/>
              <a:buChar char="•"/>
            </a:pPr>
            <a:r>
              <a:rPr lang="en-US" sz="1600" b="1" dirty="0">
                <a:ea typeface="+mn-lt"/>
                <a:cs typeface="+mn-lt"/>
              </a:rPr>
              <a:t>The "Insight Gap":</a:t>
            </a:r>
            <a:r>
              <a:rPr lang="en-US" sz="1600" dirty="0">
                <a:ea typeface="+mn-lt"/>
                <a:cs typeface="+mn-lt"/>
              </a:rPr>
              <a:t> Without automation, policymakers lack real-time visibility into how literacy, age, and employment correlate across different regions. </a:t>
            </a:r>
            <a:endParaRPr lang="en-US" sz="1600" dirty="0">
              <a:ea typeface="Calibri" panose="020F0502020204030204"/>
              <a:cs typeface="Calibri" panose="020F0502020204030204"/>
            </a:endParaRPr>
          </a:p>
          <a:p>
            <a:pPr algn="l"/>
            <a:endParaRPr lang="en-US" dirty="0">
              <a:ea typeface="Calibri"/>
              <a:cs typeface="Calibri"/>
            </a:endParaRPr>
          </a:p>
        </p:txBody>
      </p:sp>
    </p:spTree>
    <p:extLst>
      <p:ext uri="{BB962C8B-B14F-4D97-AF65-F5344CB8AC3E}">
        <p14:creationId xmlns:p14="http://schemas.microsoft.com/office/powerpoint/2010/main" val="1869736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87B3724-BD0E-073B-32A9-8BAF75392237}"/>
            </a:ext>
          </a:extLst>
        </p:cNvPr>
        <p:cNvGrpSpPr/>
        <p:nvPr/>
      </p:nvGrpSpPr>
      <p:grpSpPr>
        <a:xfrm>
          <a:off x="0" y="0"/>
          <a:ext cx="0" cy="0"/>
          <a:chOff x="0" y="0"/>
          <a:chExt cx="0" cy="0"/>
        </a:xfrm>
      </p:grpSpPr>
      <p:sp>
        <p:nvSpPr>
          <p:cNvPr id="24" name="Title 23" hidden="1">
            <a:extLst>
              <a:ext uri="{FF2B5EF4-FFF2-40B4-BE49-F238E27FC236}">
                <a16:creationId xmlns:a16="http://schemas.microsoft.com/office/drawing/2014/main" xmlns="" id="{21E3128A-5D8D-4807-7895-C7816F9DFD5C}"/>
              </a:ext>
            </a:extLst>
          </p:cNvPr>
          <p:cNvSpPr>
            <a:spLocks noGrp="1"/>
          </p:cNvSpPr>
          <p:nvPr>
            <p:ph type="title"/>
          </p:nvPr>
        </p:nvSpPr>
        <p:spPr/>
        <p:txBody>
          <a:bodyPr/>
          <a:lstStyle/>
          <a:p>
            <a:r>
              <a:rPr lang="en-US" dirty="0"/>
              <a:t>Human resources slide 4</a:t>
            </a:r>
          </a:p>
        </p:txBody>
      </p:sp>
      <p:sp>
        <p:nvSpPr>
          <p:cNvPr id="21" name="Parallelogram 20">
            <a:extLst>
              <a:ext uri="{FF2B5EF4-FFF2-40B4-BE49-F238E27FC236}">
                <a16:creationId xmlns:a16="http://schemas.microsoft.com/office/drawing/2014/main" xmlns="" id="{9469655B-D7D2-4D08-E780-E66C29C54A7F}"/>
              </a:ext>
              <a:ext uri="{C183D7F6-B498-43B3-948B-1728B52AA6E4}">
                <adec:decorative xmlns:adec="http://schemas.microsoft.com/office/drawing/2017/decorative" xmlns="" val="1"/>
              </a:ext>
            </a:extLst>
          </p:cNvPr>
          <p:cNvSpPr/>
          <p:nvPr/>
        </p:nvSpPr>
        <p:spPr>
          <a:xfrm rot="-5400000">
            <a:off x="5219596" y="-5170712"/>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extBox 1">
            <a:extLst>
              <a:ext uri="{FF2B5EF4-FFF2-40B4-BE49-F238E27FC236}">
                <a16:creationId xmlns:a16="http://schemas.microsoft.com/office/drawing/2014/main" xmlns="" id="{BCEF48BD-9A63-5F11-4E1F-4B08F8E06EC2}"/>
              </a:ext>
            </a:extLst>
          </p:cNvPr>
          <p:cNvSpPr txBox="1"/>
          <p:nvPr/>
        </p:nvSpPr>
        <p:spPr>
          <a:xfrm>
            <a:off x="469576" y="975465"/>
            <a:ext cx="11343587"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b="1" dirty="0">
                <a:solidFill>
                  <a:schemeClr val="bg1"/>
                </a:solidFill>
                <a:latin typeface="Segoe UI"/>
                <a:ea typeface="Calibri"/>
                <a:cs typeface="Calibri"/>
              </a:rPr>
              <a:t>PROBLEM STATEMENT &amp; OBJECTIVES</a:t>
            </a:r>
            <a:endParaRPr lang="en-US" sz="4000" b="1" dirty="0">
              <a:solidFill>
                <a:schemeClr val="bg1"/>
              </a:solidFill>
              <a:latin typeface="Segoe UI"/>
              <a:cs typeface="Segoe UI"/>
            </a:endParaRPr>
          </a:p>
        </p:txBody>
      </p:sp>
      <p:sp>
        <p:nvSpPr>
          <p:cNvPr id="23" name="TextBox 22">
            <a:extLst>
              <a:ext uri="{FF2B5EF4-FFF2-40B4-BE49-F238E27FC236}">
                <a16:creationId xmlns:a16="http://schemas.microsoft.com/office/drawing/2014/main" xmlns="" id="{F63989DE-09B0-C0B4-399C-B61E605BCADE}"/>
              </a:ext>
            </a:extLst>
          </p:cNvPr>
          <p:cNvSpPr txBox="1"/>
          <p:nvPr/>
        </p:nvSpPr>
        <p:spPr>
          <a:xfrm>
            <a:off x="466531" y="2192694"/>
            <a:ext cx="11344468" cy="30777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b="1" dirty="0"/>
              <a:t>Objectives</a:t>
            </a:r>
            <a:endParaRPr lang="en-US" b="1" dirty="0">
              <a:ea typeface="Calibri"/>
              <a:cs typeface="Calibri"/>
            </a:endParaRPr>
          </a:p>
          <a:p>
            <a:pPr algn="just"/>
            <a:endParaRPr lang="en-US" sz="1600" b="1" dirty="0">
              <a:ea typeface="+mn-lt"/>
              <a:cs typeface="+mn-lt"/>
            </a:endParaRPr>
          </a:p>
          <a:p>
            <a:pPr marL="285750" indent="-285750" algn="just">
              <a:buFont typeface="Arial"/>
              <a:buChar char="•"/>
            </a:pPr>
            <a:r>
              <a:rPr lang="en-US" sz="1600" b="1" dirty="0">
                <a:ea typeface="+mn-lt"/>
                <a:cs typeface="+mn-lt"/>
              </a:rPr>
              <a:t>Automated Pipeline:</a:t>
            </a:r>
            <a:r>
              <a:rPr lang="en-US" sz="1600" dirty="0">
                <a:ea typeface="+mn-lt"/>
                <a:cs typeface="+mn-lt"/>
              </a:rPr>
              <a:t> Standardize data ingestion and cleaning using Python and </a:t>
            </a:r>
            <a:r>
              <a:rPr lang="en-US" sz="1600" err="1">
                <a:ea typeface="+mn-lt"/>
                <a:cs typeface="+mn-lt"/>
              </a:rPr>
              <a:t>PySpark</a:t>
            </a:r>
            <a:r>
              <a:rPr lang="en-US" sz="1600" dirty="0">
                <a:ea typeface="+mn-lt"/>
                <a:cs typeface="+mn-lt"/>
              </a:rPr>
              <a:t> for high-speed processing.</a:t>
            </a:r>
            <a:endParaRPr lang="en-US" sz="1600" dirty="0">
              <a:ea typeface="Calibri"/>
              <a:cs typeface="Calibri"/>
            </a:endParaRPr>
          </a:p>
          <a:p>
            <a:pPr marL="285750" indent="-285750" algn="just">
              <a:buFont typeface="Arial"/>
              <a:buChar char="•"/>
            </a:pPr>
            <a:endParaRPr lang="en-US" sz="1600" dirty="0">
              <a:ea typeface="+mn-lt"/>
              <a:cs typeface="+mn-lt"/>
            </a:endParaRPr>
          </a:p>
          <a:p>
            <a:pPr marL="285750" indent="-285750" algn="just">
              <a:buFont typeface="Arial"/>
              <a:buChar char="•"/>
            </a:pPr>
            <a:r>
              <a:rPr lang="en-US" sz="1600" b="1" dirty="0">
                <a:ea typeface="+mn-lt"/>
                <a:cs typeface="+mn-lt"/>
              </a:rPr>
              <a:t>Workflow Orchestration: </a:t>
            </a:r>
            <a:r>
              <a:rPr lang="en-US" sz="1600" dirty="0">
                <a:ea typeface="+mn-lt"/>
                <a:cs typeface="+mn-lt"/>
              </a:rPr>
              <a:t>Ensure 100% data reliability by scheduling and monitoring the end-to-end flow using Apache Airflow.</a:t>
            </a:r>
          </a:p>
          <a:p>
            <a:pPr marL="285750" indent="-285750" algn="just">
              <a:buFont typeface="Arial"/>
              <a:buChar char="•"/>
            </a:pPr>
            <a:endParaRPr lang="en-US" sz="1600" dirty="0">
              <a:ea typeface="+mn-lt"/>
              <a:cs typeface="+mn-lt"/>
            </a:endParaRPr>
          </a:p>
          <a:p>
            <a:pPr marL="285750" indent="-285750" algn="just">
              <a:buFont typeface="Arial"/>
              <a:buChar char="•"/>
            </a:pPr>
            <a:r>
              <a:rPr lang="en-US" sz="1600" b="1" dirty="0">
                <a:ea typeface="+mn-lt"/>
                <a:cs typeface="+mn-lt"/>
              </a:rPr>
              <a:t>Strategic Visualization: </a:t>
            </a:r>
            <a:r>
              <a:rPr lang="en-US" sz="1600" dirty="0">
                <a:ea typeface="+mn-lt"/>
                <a:cs typeface="+mn-lt"/>
              </a:rPr>
              <a:t>Deliver </a:t>
            </a:r>
            <a:r>
              <a:rPr lang="en-US" sz="1600" err="1">
                <a:ea typeface="+mn-lt"/>
                <a:cs typeface="+mn-lt"/>
              </a:rPr>
              <a:t>DirectQuery</a:t>
            </a:r>
            <a:r>
              <a:rPr lang="en-US" sz="1600" dirty="0">
                <a:ea typeface="+mn-lt"/>
                <a:cs typeface="+mn-lt"/>
              </a:rPr>
              <a:t> Power BI Dashboards to provide stakeholders with localized (District) and strategic (State) demographic KPIs.</a:t>
            </a:r>
            <a:endParaRPr lang="en-US" sz="1600" dirty="0">
              <a:ea typeface="Calibri"/>
              <a:cs typeface="Calibri"/>
            </a:endParaRPr>
          </a:p>
          <a:p>
            <a:pPr marL="285750" indent="-285750" algn="just">
              <a:buFont typeface="Arial"/>
              <a:buChar char="•"/>
            </a:pPr>
            <a:endParaRPr lang="en-US" sz="1600" dirty="0">
              <a:ea typeface="+mn-lt"/>
              <a:cs typeface="+mn-lt"/>
            </a:endParaRPr>
          </a:p>
          <a:p>
            <a:pPr marL="285750" indent="-285750" algn="just">
              <a:buFont typeface="Arial"/>
              <a:buChar char="•"/>
            </a:pPr>
            <a:r>
              <a:rPr lang="en-US" sz="1600" b="1" dirty="0">
                <a:ea typeface="+mn-lt"/>
                <a:cs typeface="+mn-lt"/>
              </a:rPr>
              <a:t>Actionable Insights:</a:t>
            </a:r>
            <a:r>
              <a:rPr lang="en-US" sz="1600" dirty="0">
                <a:ea typeface="+mn-lt"/>
                <a:cs typeface="+mn-lt"/>
              </a:rPr>
              <a:t> Enable policymakers to track critical trends like Gender Ratios, Urbanization Rates, and Literacy levels through interactive drill-downs.</a:t>
            </a:r>
          </a:p>
          <a:p>
            <a:pPr algn="just"/>
            <a:endParaRPr lang="en-US" sz="1600" dirty="0">
              <a:ea typeface="Calibri"/>
              <a:cs typeface="Calibri"/>
            </a:endParaRPr>
          </a:p>
        </p:txBody>
      </p:sp>
    </p:spTree>
    <p:extLst>
      <p:ext uri="{BB962C8B-B14F-4D97-AF65-F5344CB8AC3E}">
        <p14:creationId xmlns:p14="http://schemas.microsoft.com/office/powerpoint/2010/main" val="27027835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hidden="1">
            <a:extLst>
              <a:ext uri="{FF2B5EF4-FFF2-40B4-BE49-F238E27FC236}">
                <a16:creationId xmlns:a16="http://schemas.microsoft.com/office/drawing/2014/main" xmlns="" id="{2784E464-B64A-4614-9350-2C88DBD46AB5}"/>
              </a:ext>
            </a:extLst>
          </p:cNvPr>
          <p:cNvSpPr>
            <a:spLocks noGrp="1"/>
          </p:cNvSpPr>
          <p:nvPr>
            <p:ph type="title"/>
          </p:nvPr>
        </p:nvSpPr>
        <p:spPr/>
        <p:txBody>
          <a:bodyPr/>
          <a:lstStyle/>
          <a:p>
            <a:r>
              <a:rPr lang="en-US" dirty="0"/>
              <a:t>Human resources slide 5</a:t>
            </a:r>
          </a:p>
        </p:txBody>
      </p:sp>
      <p:grpSp>
        <p:nvGrpSpPr>
          <p:cNvPr id="106" name="Group 105">
            <a:extLst>
              <a:ext uri="{FF2B5EF4-FFF2-40B4-BE49-F238E27FC236}">
                <a16:creationId xmlns:a16="http://schemas.microsoft.com/office/drawing/2014/main" xmlns="" id="{3638C06D-F644-4B33-8858-D880F038FAC3}"/>
              </a:ext>
              <a:ext uri="{C183D7F6-B498-43B3-948B-1728B52AA6E4}">
                <adec:decorative xmlns:adec="http://schemas.microsoft.com/office/drawing/2017/decorative" xmlns="" val="1"/>
              </a:ext>
            </a:extLst>
          </p:cNvPr>
          <p:cNvGrpSpPr/>
          <p:nvPr/>
        </p:nvGrpSpPr>
        <p:grpSpPr>
          <a:xfrm>
            <a:off x="723900" y="968477"/>
            <a:ext cx="5372100" cy="4921047"/>
            <a:chOff x="723900" y="968477"/>
            <a:chExt cx="5372100" cy="4921047"/>
          </a:xfrm>
        </p:grpSpPr>
        <p:sp>
          <p:nvSpPr>
            <p:cNvPr id="16" name="Freeform 15">
              <a:extLst>
                <a:ext uri="{FF2B5EF4-FFF2-40B4-BE49-F238E27FC236}">
                  <a16:creationId xmlns:a16="http://schemas.microsoft.com/office/drawing/2014/main" xmlns="" id="{F9F720D8-8BAF-4A0C-B2DC-8A1F1E0B265B}"/>
                </a:ext>
              </a:extLst>
            </p:cNvPr>
            <p:cNvSpPr>
              <a:spLocks/>
            </p:cNvSpPr>
            <p:nvPr/>
          </p:nvSpPr>
          <p:spPr bwMode="auto">
            <a:xfrm>
              <a:off x="723900" y="2968796"/>
              <a:ext cx="2319325" cy="2920728"/>
            </a:xfrm>
            <a:custGeom>
              <a:avLst/>
              <a:gdLst>
                <a:gd name="T0" fmla="*/ 378 w 709"/>
                <a:gd name="T1" fmla="*/ 376 h 893"/>
                <a:gd name="T2" fmla="*/ 198 w 709"/>
                <a:gd name="T3" fmla="*/ 0 h 893"/>
                <a:gd name="T4" fmla="*/ 0 w 709"/>
                <a:gd name="T5" fmla="*/ 397 h 893"/>
                <a:gd name="T6" fmla="*/ 497 w 709"/>
                <a:gd name="T7" fmla="*/ 893 h 893"/>
                <a:gd name="T8" fmla="*/ 709 w 709"/>
                <a:gd name="T9" fmla="*/ 845 h 893"/>
                <a:gd name="T10" fmla="*/ 526 w 709"/>
                <a:gd name="T11" fmla="*/ 485 h 893"/>
                <a:gd name="T12" fmla="*/ 378 w 709"/>
                <a:gd name="T13" fmla="*/ 376 h 893"/>
              </a:gdLst>
              <a:ahLst/>
              <a:cxnLst>
                <a:cxn ang="0">
                  <a:pos x="T0" y="T1"/>
                </a:cxn>
                <a:cxn ang="0">
                  <a:pos x="T2" y="T3"/>
                </a:cxn>
                <a:cxn ang="0">
                  <a:pos x="T4" y="T5"/>
                </a:cxn>
                <a:cxn ang="0">
                  <a:pos x="T6" y="T7"/>
                </a:cxn>
                <a:cxn ang="0">
                  <a:pos x="T8" y="T9"/>
                </a:cxn>
                <a:cxn ang="0">
                  <a:pos x="T10" y="T11"/>
                </a:cxn>
                <a:cxn ang="0">
                  <a:pos x="T12" y="T13"/>
                </a:cxn>
              </a:cxnLst>
              <a:rect l="0" t="0" r="r" b="b"/>
              <a:pathLst>
                <a:path w="709" h="893">
                  <a:moveTo>
                    <a:pt x="378" y="376"/>
                  </a:moveTo>
                  <a:cubicBezTo>
                    <a:pt x="276" y="273"/>
                    <a:pt x="213" y="142"/>
                    <a:pt x="198" y="0"/>
                  </a:cubicBezTo>
                  <a:cubicBezTo>
                    <a:pt x="78" y="90"/>
                    <a:pt x="0" y="234"/>
                    <a:pt x="0" y="397"/>
                  </a:cubicBezTo>
                  <a:cubicBezTo>
                    <a:pt x="0" y="671"/>
                    <a:pt x="222" y="893"/>
                    <a:pt x="497" y="893"/>
                  </a:cubicBezTo>
                  <a:cubicBezTo>
                    <a:pt x="573" y="893"/>
                    <a:pt x="644" y="876"/>
                    <a:pt x="709" y="845"/>
                  </a:cubicBezTo>
                  <a:cubicBezTo>
                    <a:pt x="609" y="748"/>
                    <a:pt x="545" y="622"/>
                    <a:pt x="526" y="485"/>
                  </a:cubicBezTo>
                  <a:cubicBezTo>
                    <a:pt x="472" y="456"/>
                    <a:pt x="422" y="420"/>
                    <a:pt x="378" y="376"/>
                  </a:cubicBezTo>
                  <a:close/>
                </a:path>
              </a:pathLst>
            </a:custGeom>
            <a:gradFill>
              <a:gsLst>
                <a:gs pos="100000">
                  <a:srgbClr val="7CEFD8"/>
                </a:gs>
                <a:gs pos="92000">
                  <a:srgbClr val="6672E4"/>
                </a:gs>
                <a:gs pos="28000">
                  <a:srgbClr val="882BE5"/>
                </a:gs>
              </a:gsLst>
              <a:lin ang="90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16">
              <a:extLst>
                <a:ext uri="{FF2B5EF4-FFF2-40B4-BE49-F238E27FC236}">
                  <a16:creationId xmlns:a16="http://schemas.microsoft.com/office/drawing/2014/main" xmlns="" id="{BB8E7BA8-3BC1-4755-AE40-0C84D9216B78}"/>
                </a:ext>
              </a:extLst>
            </p:cNvPr>
            <p:cNvSpPr>
              <a:spLocks/>
            </p:cNvSpPr>
            <p:nvPr/>
          </p:nvSpPr>
          <p:spPr bwMode="auto">
            <a:xfrm>
              <a:off x="1856107" y="968477"/>
              <a:ext cx="3107685" cy="1546653"/>
            </a:xfrm>
            <a:custGeom>
              <a:avLst/>
              <a:gdLst>
                <a:gd name="T0" fmla="*/ 475 w 950"/>
                <a:gd name="T1" fmla="*/ 473 h 473"/>
                <a:gd name="T2" fmla="*/ 800 w 950"/>
                <a:gd name="T3" fmla="*/ 382 h 473"/>
                <a:gd name="T4" fmla="*/ 950 w 950"/>
                <a:gd name="T5" fmla="*/ 401 h 473"/>
                <a:gd name="T6" fmla="*/ 826 w 950"/>
                <a:gd name="T7" fmla="*/ 194 h 473"/>
                <a:gd name="T8" fmla="*/ 124 w 950"/>
                <a:gd name="T9" fmla="*/ 194 h 473"/>
                <a:gd name="T10" fmla="*/ 0 w 950"/>
                <a:gd name="T11" fmla="*/ 401 h 473"/>
                <a:gd name="T12" fmla="*/ 151 w 950"/>
                <a:gd name="T13" fmla="*/ 382 h 473"/>
                <a:gd name="T14" fmla="*/ 475 w 950"/>
                <a:gd name="T15" fmla="*/ 473 h 4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0" h="473">
                  <a:moveTo>
                    <a:pt x="475" y="473"/>
                  </a:moveTo>
                  <a:cubicBezTo>
                    <a:pt x="572" y="414"/>
                    <a:pt x="685" y="382"/>
                    <a:pt x="800" y="382"/>
                  </a:cubicBezTo>
                  <a:cubicBezTo>
                    <a:pt x="851" y="382"/>
                    <a:pt x="901" y="389"/>
                    <a:pt x="950" y="401"/>
                  </a:cubicBezTo>
                  <a:cubicBezTo>
                    <a:pt x="927" y="325"/>
                    <a:pt x="886" y="253"/>
                    <a:pt x="826" y="194"/>
                  </a:cubicBezTo>
                  <a:cubicBezTo>
                    <a:pt x="632" y="0"/>
                    <a:pt x="318" y="0"/>
                    <a:pt x="124" y="194"/>
                  </a:cubicBezTo>
                  <a:cubicBezTo>
                    <a:pt x="64" y="253"/>
                    <a:pt x="23" y="325"/>
                    <a:pt x="0" y="401"/>
                  </a:cubicBezTo>
                  <a:cubicBezTo>
                    <a:pt x="49" y="389"/>
                    <a:pt x="99" y="382"/>
                    <a:pt x="151" y="382"/>
                  </a:cubicBezTo>
                  <a:cubicBezTo>
                    <a:pt x="266" y="382"/>
                    <a:pt x="378" y="414"/>
                    <a:pt x="475" y="473"/>
                  </a:cubicBezTo>
                  <a:close/>
                </a:path>
              </a:pathLst>
            </a:custGeom>
            <a:gradFill>
              <a:gsLst>
                <a:gs pos="3000">
                  <a:srgbClr val="7CEFD8"/>
                </a:gs>
                <a:gs pos="13000">
                  <a:srgbClr val="6672E4"/>
                </a:gs>
                <a:gs pos="99000">
                  <a:srgbClr val="882BE5"/>
                </a:gs>
              </a:gsLst>
              <a:lin ang="60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17">
              <a:extLst>
                <a:ext uri="{FF2B5EF4-FFF2-40B4-BE49-F238E27FC236}">
                  <a16:creationId xmlns:a16="http://schemas.microsoft.com/office/drawing/2014/main" xmlns="" id="{C3B6EAAE-1C2D-46EB-A473-3B6078DC2541}"/>
                </a:ext>
              </a:extLst>
            </p:cNvPr>
            <p:cNvSpPr>
              <a:spLocks/>
            </p:cNvSpPr>
            <p:nvPr/>
          </p:nvSpPr>
          <p:spPr bwMode="auto">
            <a:xfrm>
              <a:off x="3776675" y="2968796"/>
              <a:ext cx="2319325" cy="2920728"/>
            </a:xfrm>
            <a:custGeom>
              <a:avLst/>
              <a:gdLst>
                <a:gd name="T0" fmla="*/ 511 w 709"/>
                <a:gd name="T1" fmla="*/ 0 h 893"/>
                <a:gd name="T2" fmla="*/ 331 w 709"/>
                <a:gd name="T3" fmla="*/ 376 h 893"/>
                <a:gd name="T4" fmla="*/ 183 w 709"/>
                <a:gd name="T5" fmla="*/ 485 h 893"/>
                <a:gd name="T6" fmla="*/ 0 w 709"/>
                <a:gd name="T7" fmla="*/ 845 h 893"/>
                <a:gd name="T8" fmla="*/ 213 w 709"/>
                <a:gd name="T9" fmla="*/ 893 h 893"/>
                <a:gd name="T10" fmla="*/ 709 w 709"/>
                <a:gd name="T11" fmla="*/ 397 h 893"/>
                <a:gd name="T12" fmla="*/ 511 w 709"/>
                <a:gd name="T13" fmla="*/ 0 h 893"/>
              </a:gdLst>
              <a:ahLst/>
              <a:cxnLst>
                <a:cxn ang="0">
                  <a:pos x="T0" y="T1"/>
                </a:cxn>
                <a:cxn ang="0">
                  <a:pos x="T2" y="T3"/>
                </a:cxn>
                <a:cxn ang="0">
                  <a:pos x="T4" y="T5"/>
                </a:cxn>
                <a:cxn ang="0">
                  <a:pos x="T6" y="T7"/>
                </a:cxn>
                <a:cxn ang="0">
                  <a:pos x="T8" y="T9"/>
                </a:cxn>
                <a:cxn ang="0">
                  <a:pos x="T10" y="T11"/>
                </a:cxn>
                <a:cxn ang="0">
                  <a:pos x="T12" y="T13"/>
                </a:cxn>
              </a:cxnLst>
              <a:rect l="0" t="0" r="r" b="b"/>
              <a:pathLst>
                <a:path w="709" h="893">
                  <a:moveTo>
                    <a:pt x="511" y="0"/>
                  </a:moveTo>
                  <a:cubicBezTo>
                    <a:pt x="496" y="142"/>
                    <a:pt x="433" y="273"/>
                    <a:pt x="331" y="376"/>
                  </a:cubicBezTo>
                  <a:cubicBezTo>
                    <a:pt x="287" y="420"/>
                    <a:pt x="237" y="456"/>
                    <a:pt x="183" y="485"/>
                  </a:cubicBezTo>
                  <a:cubicBezTo>
                    <a:pt x="164" y="622"/>
                    <a:pt x="100" y="748"/>
                    <a:pt x="0" y="845"/>
                  </a:cubicBezTo>
                  <a:cubicBezTo>
                    <a:pt x="65" y="876"/>
                    <a:pt x="137" y="893"/>
                    <a:pt x="213" y="893"/>
                  </a:cubicBezTo>
                  <a:cubicBezTo>
                    <a:pt x="487" y="893"/>
                    <a:pt x="709" y="671"/>
                    <a:pt x="709" y="397"/>
                  </a:cubicBezTo>
                  <a:cubicBezTo>
                    <a:pt x="709" y="234"/>
                    <a:pt x="631" y="90"/>
                    <a:pt x="511" y="0"/>
                  </a:cubicBezTo>
                  <a:close/>
                </a:path>
              </a:pathLst>
            </a:custGeom>
            <a:gradFill>
              <a:gsLst>
                <a:gs pos="100000">
                  <a:srgbClr val="7CEFD8"/>
                </a:gs>
                <a:gs pos="92000">
                  <a:srgbClr val="6672E4"/>
                </a:gs>
                <a:gs pos="28000">
                  <a:srgbClr val="882BE5"/>
                </a:gs>
              </a:gsLst>
              <a:lin ang="18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Freeform 18" descr="This image is an icon of three people interacting. ">
              <a:extLst>
                <a:ext uri="{FF2B5EF4-FFF2-40B4-BE49-F238E27FC236}">
                  <a16:creationId xmlns:a16="http://schemas.microsoft.com/office/drawing/2014/main" xmlns="" id="{7BF3ACC0-B381-45FC-900F-55F46E5E7EFD}"/>
                </a:ext>
              </a:extLst>
            </p:cNvPr>
            <p:cNvSpPr>
              <a:spLocks/>
            </p:cNvSpPr>
            <p:nvPr/>
          </p:nvSpPr>
          <p:spPr bwMode="auto">
            <a:xfrm>
              <a:off x="2919022" y="4735092"/>
              <a:ext cx="984471" cy="758291"/>
            </a:xfrm>
            <a:custGeom>
              <a:avLst/>
              <a:gdLst>
                <a:gd name="T0" fmla="*/ 0 w 301"/>
                <a:gd name="T1" fmla="*/ 0 h 232"/>
                <a:gd name="T2" fmla="*/ 150 w 301"/>
                <a:gd name="T3" fmla="*/ 232 h 232"/>
                <a:gd name="T4" fmla="*/ 301 w 301"/>
                <a:gd name="T5" fmla="*/ 0 h 232"/>
                <a:gd name="T6" fmla="*/ 150 w 301"/>
                <a:gd name="T7" fmla="*/ 19 h 232"/>
                <a:gd name="T8" fmla="*/ 0 w 301"/>
                <a:gd name="T9" fmla="*/ 0 h 232"/>
              </a:gdLst>
              <a:ahLst/>
              <a:cxnLst>
                <a:cxn ang="0">
                  <a:pos x="T0" y="T1"/>
                </a:cxn>
                <a:cxn ang="0">
                  <a:pos x="T2" y="T3"/>
                </a:cxn>
                <a:cxn ang="0">
                  <a:pos x="T4" y="T5"/>
                </a:cxn>
                <a:cxn ang="0">
                  <a:pos x="T6" y="T7"/>
                </a:cxn>
                <a:cxn ang="0">
                  <a:pos x="T8" y="T9"/>
                </a:cxn>
              </a:cxnLst>
              <a:rect l="0" t="0" r="r" b="b"/>
              <a:pathLst>
                <a:path w="301" h="232">
                  <a:moveTo>
                    <a:pt x="0" y="0"/>
                  </a:moveTo>
                  <a:cubicBezTo>
                    <a:pt x="27" y="92"/>
                    <a:pt x="80" y="172"/>
                    <a:pt x="150" y="232"/>
                  </a:cubicBezTo>
                  <a:cubicBezTo>
                    <a:pt x="220" y="172"/>
                    <a:pt x="273" y="92"/>
                    <a:pt x="301" y="0"/>
                  </a:cubicBezTo>
                  <a:cubicBezTo>
                    <a:pt x="252" y="13"/>
                    <a:pt x="201" y="19"/>
                    <a:pt x="150" y="19"/>
                  </a:cubicBezTo>
                  <a:cubicBezTo>
                    <a:pt x="99" y="19"/>
                    <a:pt x="49" y="13"/>
                    <a:pt x="0" y="0"/>
                  </a:cubicBezTo>
                  <a:close/>
                </a:path>
              </a:pathLst>
            </a:custGeom>
            <a:gradFill>
              <a:gsLst>
                <a:gs pos="100000">
                  <a:srgbClr val="7CEFD8"/>
                </a:gs>
                <a:gs pos="42000">
                  <a:srgbClr val="6672E4"/>
                </a:gs>
                <a:gs pos="0">
                  <a:srgbClr val="882BE5"/>
                </a:gs>
              </a:gsLst>
              <a:lin ang="54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0" name="Freeform 19" descr="This image is an icon of three people and a symbol that represents connection to the internet.">
              <a:extLst>
                <a:ext uri="{FF2B5EF4-FFF2-40B4-BE49-F238E27FC236}">
                  <a16:creationId xmlns:a16="http://schemas.microsoft.com/office/drawing/2014/main" xmlns="" id="{9E41B0EC-DA27-4BF7-891C-FC6D7EF3CCFF}"/>
                </a:ext>
              </a:extLst>
            </p:cNvPr>
            <p:cNvSpPr>
              <a:spLocks/>
            </p:cNvSpPr>
            <p:nvPr/>
          </p:nvSpPr>
          <p:spPr bwMode="auto">
            <a:xfrm>
              <a:off x="3776675" y="2641947"/>
              <a:ext cx="1260332" cy="1406761"/>
            </a:xfrm>
            <a:custGeom>
              <a:avLst/>
              <a:gdLst>
                <a:gd name="T0" fmla="*/ 239 w 385"/>
                <a:gd name="T1" fmla="*/ 384 h 430"/>
                <a:gd name="T2" fmla="*/ 385 w 385"/>
                <a:gd name="T3" fmla="*/ 31 h 430"/>
                <a:gd name="T4" fmla="*/ 213 w 385"/>
                <a:gd name="T5" fmla="*/ 0 h 430"/>
                <a:gd name="T6" fmla="*/ 0 w 385"/>
                <a:gd name="T7" fmla="*/ 48 h 430"/>
                <a:gd name="T8" fmla="*/ 186 w 385"/>
                <a:gd name="T9" fmla="*/ 430 h 430"/>
                <a:gd name="T10" fmla="*/ 239 w 385"/>
                <a:gd name="T11" fmla="*/ 384 h 430"/>
              </a:gdLst>
              <a:ahLst/>
              <a:cxnLst>
                <a:cxn ang="0">
                  <a:pos x="T0" y="T1"/>
                </a:cxn>
                <a:cxn ang="0">
                  <a:pos x="T2" y="T3"/>
                </a:cxn>
                <a:cxn ang="0">
                  <a:pos x="T4" y="T5"/>
                </a:cxn>
                <a:cxn ang="0">
                  <a:pos x="T6" y="T7"/>
                </a:cxn>
                <a:cxn ang="0">
                  <a:pos x="T8" y="T9"/>
                </a:cxn>
                <a:cxn ang="0">
                  <a:pos x="T10" y="T11"/>
                </a:cxn>
              </a:cxnLst>
              <a:rect l="0" t="0" r="r" b="b"/>
              <a:pathLst>
                <a:path w="385" h="430">
                  <a:moveTo>
                    <a:pt x="239" y="384"/>
                  </a:moveTo>
                  <a:cubicBezTo>
                    <a:pt x="337" y="286"/>
                    <a:pt x="385" y="159"/>
                    <a:pt x="385" y="31"/>
                  </a:cubicBezTo>
                  <a:cubicBezTo>
                    <a:pt x="331" y="11"/>
                    <a:pt x="273" y="0"/>
                    <a:pt x="213" y="0"/>
                  </a:cubicBezTo>
                  <a:cubicBezTo>
                    <a:pt x="137" y="0"/>
                    <a:pt x="65" y="17"/>
                    <a:pt x="0" y="48"/>
                  </a:cubicBezTo>
                  <a:cubicBezTo>
                    <a:pt x="105" y="150"/>
                    <a:pt x="171" y="285"/>
                    <a:pt x="186" y="430"/>
                  </a:cubicBezTo>
                  <a:cubicBezTo>
                    <a:pt x="205" y="416"/>
                    <a:pt x="222" y="400"/>
                    <a:pt x="239" y="384"/>
                  </a:cubicBezTo>
                  <a:close/>
                </a:path>
              </a:pathLst>
            </a:custGeom>
            <a:gradFill>
              <a:gsLst>
                <a:gs pos="0">
                  <a:srgbClr val="7CEFD8"/>
                </a:gs>
                <a:gs pos="71000">
                  <a:srgbClr val="6672E4"/>
                </a:gs>
                <a:gs pos="100000">
                  <a:srgbClr val="882BE5"/>
                </a:gs>
              </a:gsLst>
              <a:lin ang="5400000" scaled="1"/>
            </a:gradFill>
            <a:ln w="12700" cap="flat">
              <a:noFill/>
              <a:prstDash val="solid"/>
              <a:miter lim="800000"/>
              <a:headEnd/>
              <a:tailEnd/>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20" descr="This image is an icon of three people and a globe.">
              <a:extLst>
                <a:ext uri="{FF2B5EF4-FFF2-40B4-BE49-F238E27FC236}">
                  <a16:creationId xmlns:a16="http://schemas.microsoft.com/office/drawing/2014/main" xmlns="" id="{BDEE62C1-79C7-4BD6-99A1-2466D37A5EB4}"/>
                </a:ext>
              </a:extLst>
            </p:cNvPr>
            <p:cNvSpPr>
              <a:spLocks/>
            </p:cNvSpPr>
            <p:nvPr/>
          </p:nvSpPr>
          <p:spPr bwMode="auto">
            <a:xfrm>
              <a:off x="1784200" y="2641947"/>
              <a:ext cx="1259024" cy="1402839"/>
            </a:xfrm>
            <a:custGeom>
              <a:avLst/>
              <a:gdLst>
                <a:gd name="T0" fmla="*/ 173 w 385"/>
                <a:gd name="T1" fmla="*/ 0 h 429"/>
                <a:gd name="T2" fmla="*/ 1 w 385"/>
                <a:gd name="T3" fmla="*/ 31 h 429"/>
                <a:gd name="T4" fmla="*/ 146 w 385"/>
                <a:gd name="T5" fmla="*/ 384 h 429"/>
                <a:gd name="T6" fmla="*/ 199 w 385"/>
                <a:gd name="T7" fmla="*/ 429 h 429"/>
                <a:gd name="T8" fmla="*/ 385 w 385"/>
                <a:gd name="T9" fmla="*/ 48 h 429"/>
                <a:gd name="T10" fmla="*/ 173 w 385"/>
                <a:gd name="T11" fmla="*/ 0 h 429"/>
              </a:gdLst>
              <a:ahLst/>
              <a:cxnLst>
                <a:cxn ang="0">
                  <a:pos x="T0" y="T1"/>
                </a:cxn>
                <a:cxn ang="0">
                  <a:pos x="T2" y="T3"/>
                </a:cxn>
                <a:cxn ang="0">
                  <a:pos x="T4" y="T5"/>
                </a:cxn>
                <a:cxn ang="0">
                  <a:pos x="T6" y="T7"/>
                </a:cxn>
                <a:cxn ang="0">
                  <a:pos x="T8" y="T9"/>
                </a:cxn>
                <a:cxn ang="0">
                  <a:pos x="T10" y="T11"/>
                </a:cxn>
              </a:cxnLst>
              <a:rect l="0" t="0" r="r" b="b"/>
              <a:pathLst>
                <a:path w="385" h="429">
                  <a:moveTo>
                    <a:pt x="173" y="0"/>
                  </a:moveTo>
                  <a:cubicBezTo>
                    <a:pt x="112" y="0"/>
                    <a:pt x="54" y="11"/>
                    <a:pt x="1" y="31"/>
                  </a:cubicBezTo>
                  <a:cubicBezTo>
                    <a:pt x="0" y="159"/>
                    <a:pt x="49" y="286"/>
                    <a:pt x="146" y="384"/>
                  </a:cubicBezTo>
                  <a:cubicBezTo>
                    <a:pt x="163" y="400"/>
                    <a:pt x="181" y="416"/>
                    <a:pt x="199" y="429"/>
                  </a:cubicBezTo>
                  <a:cubicBezTo>
                    <a:pt x="215" y="285"/>
                    <a:pt x="280" y="150"/>
                    <a:pt x="385" y="48"/>
                  </a:cubicBezTo>
                  <a:cubicBezTo>
                    <a:pt x="320" y="17"/>
                    <a:pt x="249" y="0"/>
                    <a:pt x="173" y="0"/>
                  </a:cubicBezTo>
                  <a:close/>
                </a:path>
              </a:pathLst>
            </a:custGeom>
            <a:gradFill>
              <a:gsLst>
                <a:gs pos="0">
                  <a:srgbClr val="7CEFD8"/>
                </a:gs>
                <a:gs pos="71000">
                  <a:srgbClr val="6672E4"/>
                </a:gs>
                <a:gs pos="100000">
                  <a:srgbClr val="882BE5"/>
                </a:gs>
              </a:gsLst>
              <a:lin ang="5400000" scaled="1"/>
            </a:gradFill>
            <a:ln w="12700" cap="flat">
              <a:noFill/>
              <a:prstDash val="solid"/>
              <a:miter lim="800000"/>
              <a:headEnd/>
              <a:tailEnd/>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21" descr="This image is an icon of four people interacting. ">
              <a:extLst>
                <a:ext uri="{FF2B5EF4-FFF2-40B4-BE49-F238E27FC236}">
                  <a16:creationId xmlns:a16="http://schemas.microsoft.com/office/drawing/2014/main" xmlns="" id="{C8436027-C518-481B-BDB7-763A96442B5F}"/>
                </a:ext>
              </a:extLst>
            </p:cNvPr>
            <p:cNvSpPr>
              <a:spLocks/>
            </p:cNvSpPr>
            <p:nvPr/>
          </p:nvSpPr>
          <p:spPr bwMode="auto">
            <a:xfrm>
              <a:off x="2847115" y="3038089"/>
              <a:ext cx="1125670" cy="1333546"/>
            </a:xfrm>
            <a:custGeom>
              <a:avLst/>
              <a:gdLst>
                <a:gd name="T0" fmla="*/ 344 w 344"/>
                <a:gd name="T1" fmla="*/ 376 h 408"/>
                <a:gd name="T2" fmla="*/ 344 w 344"/>
                <a:gd name="T3" fmla="*/ 377 h 408"/>
                <a:gd name="T4" fmla="*/ 323 w 344"/>
                <a:gd name="T5" fmla="*/ 385 h 408"/>
                <a:gd name="T6" fmla="*/ 282 w 344"/>
                <a:gd name="T7" fmla="*/ 396 h 408"/>
                <a:gd name="T8" fmla="*/ 277 w 344"/>
                <a:gd name="T9" fmla="*/ 397 h 408"/>
                <a:gd name="T10" fmla="*/ 218 w 344"/>
                <a:gd name="T11" fmla="*/ 406 h 408"/>
                <a:gd name="T12" fmla="*/ 217 w 344"/>
                <a:gd name="T13" fmla="*/ 406 h 408"/>
                <a:gd name="T14" fmla="*/ 214 w 344"/>
                <a:gd name="T15" fmla="*/ 406 h 408"/>
                <a:gd name="T16" fmla="*/ 172 w 344"/>
                <a:gd name="T17" fmla="*/ 408 h 408"/>
                <a:gd name="T18" fmla="*/ 128 w 344"/>
                <a:gd name="T19" fmla="*/ 406 h 408"/>
                <a:gd name="T20" fmla="*/ 127 w 344"/>
                <a:gd name="T21" fmla="*/ 406 h 408"/>
                <a:gd name="T22" fmla="*/ 64 w 344"/>
                <a:gd name="T23" fmla="*/ 396 h 408"/>
                <a:gd name="T24" fmla="*/ 62 w 344"/>
                <a:gd name="T25" fmla="*/ 396 h 408"/>
                <a:gd name="T26" fmla="*/ 0 w 344"/>
                <a:gd name="T27" fmla="*/ 377 h 408"/>
                <a:gd name="T28" fmla="*/ 0 w 344"/>
                <a:gd name="T29" fmla="*/ 376 h 408"/>
                <a:gd name="T30" fmla="*/ 4 w 344"/>
                <a:gd name="T31" fmla="*/ 313 h 408"/>
                <a:gd name="T32" fmla="*/ 17 w 344"/>
                <a:gd name="T33" fmla="*/ 249 h 408"/>
                <a:gd name="T34" fmla="*/ 86 w 344"/>
                <a:gd name="T35" fmla="*/ 97 h 408"/>
                <a:gd name="T36" fmla="*/ 126 w 344"/>
                <a:gd name="T37" fmla="*/ 46 h 408"/>
                <a:gd name="T38" fmla="*/ 172 w 344"/>
                <a:gd name="T39" fmla="*/ 0 h 408"/>
                <a:gd name="T40" fmla="*/ 218 w 344"/>
                <a:gd name="T41" fmla="*/ 46 h 408"/>
                <a:gd name="T42" fmla="*/ 258 w 344"/>
                <a:gd name="T43" fmla="*/ 97 h 408"/>
                <a:gd name="T44" fmla="*/ 327 w 344"/>
                <a:gd name="T45" fmla="*/ 249 h 408"/>
                <a:gd name="T46" fmla="*/ 340 w 344"/>
                <a:gd name="T47" fmla="*/ 313 h 408"/>
                <a:gd name="T48" fmla="*/ 344 w 344"/>
                <a:gd name="T49" fmla="*/ 376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44" h="408">
                  <a:moveTo>
                    <a:pt x="344" y="376"/>
                  </a:moveTo>
                  <a:cubicBezTo>
                    <a:pt x="344" y="377"/>
                    <a:pt x="344" y="377"/>
                    <a:pt x="344" y="377"/>
                  </a:cubicBezTo>
                  <a:cubicBezTo>
                    <a:pt x="337" y="380"/>
                    <a:pt x="330" y="382"/>
                    <a:pt x="323" y="385"/>
                  </a:cubicBezTo>
                  <a:cubicBezTo>
                    <a:pt x="309" y="389"/>
                    <a:pt x="296" y="393"/>
                    <a:pt x="282" y="396"/>
                  </a:cubicBezTo>
                  <a:cubicBezTo>
                    <a:pt x="280" y="396"/>
                    <a:pt x="279" y="396"/>
                    <a:pt x="277" y="397"/>
                  </a:cubicBezTo>
                  <a:cubicBezTo>
                    <a:pt x="258" y="401"/>
                    <a:pt x="238" y="404"/>
                    <a:pt x="218" y="406"/>
                  </a:cubicBezTo>
                  <a:cubicBezTo>
                    <a:pt x="217" y="406"/>
                    <a:pt x="217" y="406"/>
                    <a:pt x="217" y="406"/>
                  </a:cubicBezTo>
                  <a:cubicBezTo>
                    <a:pt x="216" y="406"/>
                    <a:pt x="215" y="406"/>
                    <a:pt x="214" y="406"/>
                  </a:cubicBezTo>
                  <a:cubicBezTo>
                    <a:pt x="200" y="407"/>
                    <a:pt x="186" y="408"/>
                    <a:pt x="172" y="408"/>
                  </a:cubicBezTo>
                  <a:cubicBezTo>
                    <a:pt x="158" y="408"/>
                    <a:pt x="143" y="407"/>
                    <a:pt x="128" y="406"/>
                  </a:cubicBezTo>
                  <a:cubicBezTo>
                    <a:pt x="128" y="406"/>
                    <a:pt x="127" y="406"/>
                    <a:pt x="127" y="406"/>
                  </a:cubicBezTo>
                  <a:cubicBezTo>
                    <a:pt x="106" y="404"/>
                    <a:pt x="85" y="401"/>
                    <a:pt x="64" y="396"/>
                  </a:cubicBezTo>
                  <a:cubicBezTo>
                    <a:pt x="63" y="396"/>
                    <a:pt x="63" y="396"/>
                    <a:pt x="62" y="396"/>
                  </a:cubicBezTo>
                  <a:cubicBezTo>
                    <a:pt x="41" y="391"/>
                    <a:pt x="21" y="385"/>
                    <a:pt x="0" y="377"/>
                  </a:cubicBezTo>
                  <a:cubicBezTo>
                    <a:pt x="0" y="376"/>
                    <a:pt x="0" y="376"/>
                    <a:pt x="0" y="376"/>
                  </a:cubicBezTo>
                  <a:cubicBezTo>
                    <a:pt x="0" y="354"/>
                    <a:pt x="2" y="333"/>
                    <a:pt x="4" y="313"/>
                  </a:cubicBezTo>
                  <a:cubicBezTo>
                    <a:pt x="7" y="291"/>
                    <a:pt x="11" y="270"/>
                    <a:pt x="17" y="249"/>
                  </a:cubicBezTo>
                  <a:cubicBezTo>
                    <a:pt x="31" y="194"/>
                    <a:pt x="55" y="143"/>
                    <a:pt x="86" y="97"/>
                  </a:cubicBezTo>
                  <a:cubicBezTo>
                    <a:pt x="98" y="79"/>
                    <a:pt x="112" y="62"/>
                    <a:pt x="126" y="46"/>
                  </a:cubicBezTo>
                  <a:cubicBezTo>
                    <a:pt x="140" y="29"/>
                    <a:pt x="156" y="14"/>
                    <a:pt x="172" y="0"/>
                  </a:cubicBezTo>
                  <a:cubicBezTo>
                    <a:pt x="188" y="14"/>
                    <a:pt x="204" y="29"/>
                    <a:pt x="218" y="46"/>
                  </a:cubicBezTo>
                  <a:cubicBezTo>
                    <a:pt x="233" y="62"/>
                    <a:pt x="246" y="79"/>
                    <a:pt x="258" y="97"/>
                  </a:cubicBezTo>
                  <a:cubicBezTo>
                    <a:pt x="289" y="143"/>
                    <a:pt x="313" y="194"/>
                    <a:pt x="327" y="249"/>
                  </a:cubicBezTo>
                  <a:cubicBezTo>
                    <a:pt x="333" y="270"/>
                    <a:pt x="337" y="291"/>
                    <a:pt x="340" y="313"/>
                  </a:cubicBezTo>
                  <a:cubicBezTo>
                    <a:pt x="343" y="333"/>
                    <a:pt x="344" y="354"/>
                    <a:pt x="344" y="376"/>
                  </a:cubicBezTo>
                  <a:close/>
                </a:path>
              </a:pathLst>
            </a:custGeom>
            <a:gradFill>
              <a:gsLst>
                <a:gs pos="0">
                  <a:srgbClr val="7CEFD8"/>
                </a:gs>
                <a:gs pos="71000">
                  <a:srgbClr val="6672E4"/>
                </a:gs>
                <a:gs pos="100000">
                  <a:srgbClr val="882BE5"/>
                </a:gs>
              </a:gsLst>
              <a:lin ang="5400000" scaled="1"/>
            </a:gradFill>
            <a:ln w="12700" cap="flat">
              <a:noFill/>
              <a:prstDash val="solid"/>
              <a:miter lim="800000"/>
              <a:headEnd/>
              <a:tailEnd/>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TextBox 23">
              <a:extLst>
                <a:ext uri="{FF2B5EF4-FFF2-40B4-BE49-F238E27FC236}">
                  <a16:creationId xmlns:a16="http://schemas.microsoft.com/office/drawing/2014/main" xmlns="" id="{76037B9F-F7D4-490B-B8D1-723E759320EF}"/>
                </a:ext>
              </a:extLst>
            </p:cNvPr>
            <p:cNvSpPr txBox="1"/>
            <p:nvPr/>
          </p:nvSpPr>
          <p:spPr>
            <a:xfrm>
              <a:off x="3162299" y="3906330"/>
              <a:ext cx="495302" cy="184666"/>
            </a:xfrm>
            <a:prstGeom prst="rect">
              <a:avLst/>
            </a:prstGeom>
            <a:noFill/>
          </p:spPr>
          <p:txBody>
            <a:bodyPr wrap="square" lIns="0" tIns="0" rIns="0" bIns="0" rtlCol="0" anchor="t">
              <a:spAutoFit/>
            </a:bodyPr>
            <a:lstStyle/>
            <a:p>
              <a:pPr algn="ctr"/>
              <a:r>
                <a:rPr lang="en-US" sz="1200" dirty="0">
                  <a:solidFill>
                    <a:schemeClr val="bg1"/>
                  </a:solidFill>
                  <a:ea typeface="Calibri"/>
                  <a:cs typeface="Calibri"/>
                </a:rPr>
                <a:t>Region</a:t>
              </a:r>
            </a:p>
          </p:txBody>
        </p:sp>
        <p:grpSp>
          <p:nvGrpSpPr>
            <p:cNvPr id="90" name="Group 89">
              <a:extLst>
                <a:ext uri="{FF2B5EF4-FFF2-40B4-BE49-F238E27FC236}">
                  <a16:creationId xmlns:a16="http://schemas.microsoft.com/office/drawing/2014/main" xmlns="" id="{732C0092-A5BE-4296-9B7E-73CA9D6A0C92}"/>
                </a:ext>
              </a:extLst>
            </p:cNvPr>
            <p:cNvGrpSpPr/>
            <p:nvPr/>
          </p:nvGrpSpPr>
          <p:grpSpPr>
            <a:xfrm>
              <a:off x="3260907" y="3450123"/>
              <a:ext cx="330200" cy="346075"/>
              <a:chOff x="2686050" y="2895601"/>
              <a:chExt cx="330200" cy="346075"/>
            </a:xfrm>
          </p:grpSpPr>
          <p:sp>
            <p:nvSpPr>
              <p:cNvPr id="91" name="Oval 309">
                <a:extLst>
                  <a:ext uri="{FF2B5EF4-FFF2-40B4-BE49-F238E27FC236}">
                    <a16:creationId xmlns:a16="http://schemas.microsoft.com/office/drawing/2014/main" xmlns="" id="{322943C5-DF07-4D19-80BE-A092E8DCDBC1}"/>
                  </a:ext>
                </a:extLst>
              </p:cNvPr>
              <p:cNvSpPr>
                <a:spLocks noChangeArrowheads="1"/>
              </p:cNvSpPr>
              <p:nvPr/>
            </p:nvSpPr>
            <p:spPr bwMode="auto">
              <a:xfrm>
                <a:off x="2809875" y="2895601"/>
                <a:ext cx="82550" cy="8255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2" name="Freeform 310">
                <a:extLst>
                  <a:ext uri="{FF2B5EF4-FFF2-40B4-BE49-F238E27FC236}">
                    <a16:creationId xmlns:a16="http://schemas.microsoft.com/office/drawing/2014/main" xmlns="" id="{AD6217C9-47FE-4784-97F3-BB1CEF6B0683}"/>
                  </a:ext>
                </a:extLst>
              </p:cNvPr>
              <p:cNvSpPr>
                <a:spLocks/>
              </p:cNvSpPr>
              <p:nvPr/>
            </p:nvSpPr>
            <p:spPr bwMode="auto">
              <a:xfrm>
                <a:off x="2782888" y="2978151"/>
                <a:ext cx="134938" cy="66675"/>
              </a:xfrm>
              <a:custGeom>
                <a:avLst/>
                <a:gdLst>
                  <a:gd name="T0" fmla="*/ 36 w 36"/>
                  <a:gd name="T1" fmla="*/ 18 h 18"/>
                  <a:gd name="T2" fmla="*/ 0 w 36"/>
                  <a:gd name="T3" fmla="*/ 18 h 18"/>
                  <a:gd name="T4" fmla="*/ 18 w 36"/>
                  <a:gd name="T5" fmla="*/ 0 h 18"/>
                  <a:gd name="T6" fmla="*/ 36 w 36"/>
                  <a:gd name="T7" fmla="*/ 18 h 18"/>
                </a:gdLst>
                <a:ahLst/>
                <a:cxnLst>
                  <a:cxn ang="0">
                    <a:pos x="T0" y="T1"/>
                  </a:cxn>
                  <a:cxn ang="0">
                    <a:pos x="T2" y="T3"/>
                  </a:cxn>
                  <a:cxn ang="0">
                    <a:pos x="T4" y="T5"/>
                  </a:cxn>
                  <a:cxn ang="0">
                    <a:pos x="T6" y="T7"/>
                  </a:cxn>
                </a:cxnLst>
                <a:rect l="0" t="0" r="r" b="b"/>
                <a:pathLst>
                  <a:path w="36" h="18">
                    <a:moveTo>
                      <a:pt x="36" y="18"/>
                    </a:moveTo>
                    <a:cubicBezTo>
                      <a:pt x="0" y="18"/>
                      <a:pt x="0" y="18"/>
                      <a:pt x="0" y="18"/>
                    </a:cubicBezTo>
                    <a:cubicBezTo>
                      <a:pt x="0" y="8"/>
                      <a:pt x="8" y="0"/>
                      <a:pt x="18" y="0"/>
                    </a:cubicBezTo>
                    <a:cubicBezTo>
                      <a:pt x="28" y="0"/>
                      <a:pt x="36" y="8"/>
                      <a:pt x="36" y="18"/>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3" name="Oval 311">
                <a:extLst>
                  <a:ext uri="{FF2B5EF4-FFF2-40B4-BE49-F238E27FC236}">
                    <a16:creationId xmlns:a16="http://schemas.microsoft.com/office/drawing/2014/main" xmlns="" id="{145614E0-2CF6-4018-A29C-347103CC19DE}"/>
                  </a:ext>
                </a:extLst>
              </p:cNvPr>
              <p:cNvSpPr>
                <a:spLocks noChangeArrowheads="1"/>
              </p:cNvSpPr>
              <p:nvPr/>
            </p:nvSpPr>
            <p:spPr bwMode="auto">
              <a:xfrm>
                <a:off x="2708275" y="3128963"/>
                <a:ext cx="60325" cy="5873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4" name="Freeform 312">
                <a:extLst>
                  <a:ext uri="{FF2B5EF4-FFF2-40B4-BE49-F238E27FC236}">
                    <a16:creationId xmlns:a16="http://schemas.microsoft.com/office/drawing/2014/main" xmlns="" id="{C15930DF-7C04-43B8-94F3-9A62A91A334C}"/>
                  </a:ext>
                </a:extLst>
              </p:cNvPr>
              <p:cNvSpPr>
                <a:spLocks/>
              </p:cNvSpPr>
              <p:nvPr/>
            </p:nvSpPr>
            <p:spPr bwMode="auto">
              <a:xfrm>
                <a:off x="2686050"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5" name="Oval 313">
                <a:extLst>
                  <a:ext uri="{FF2B5EF4-FFF2-40B4-BE49-F238E27FC236}">
                    <a16:creationId xmlns:a16="http://schemas.microsoft.com/office/drawing/2014/main" xmlns="" id="{C37FB908-4B07-487A-8AE5-2C93E1AF86B4}"/>
                  </a:ext>
                </a:extLst>
              </p:cNvPr>
              <p:cNvSpPr>
                <a:spLocks noChangeArrowheads="1"/>
              </p:cNvSpPr>
              <p:nvPr/>
            </p:nvSpPr>
            <p:spPr bwMode="auto">
              <a:xfrm>
                <a:off x="2933700" y="3128963"/>
                <a:ext cx="60325" cy="5873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6" name="Freeform 314">
                <a:extLst>
                  <a:ext uri="{FF2B5EF4-FFF2-40B4-BE49-F238E27FC236}">
                    <a16:creationId xmlns:a16="http://schemas.microsoft.com/office/drawing/2014/main" xmlns="" id="{B3C647A5-00EF-45D7-A795-5CC541EFF1F9}"/>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7" name="Oval 315">
                <a:extLst>
                  <a:ext uri="{FF2B5EF4-FFF2-40B4-BE49-F238E27FC236}">
                    <a16:creationId xmlns:a16="http://schemas.microsoft.com/office/drawing/2014/main" xmlns="" id="{8E007759-5FF7-4D0A-A475-0EAD05E962C7}"/>
                  </a:ext>
                </a:extLst>
              </p:cNvPr>
              <p:cNvSpPr>
                <a:spLocks noChangeArrowheads="1"/>
              </p:cNvSpPr>
              <p:nvPr/>
            </p:nvSpPr>
            <p:spPr bwMode="auto">
              <a:xfrm>
                <a:off x="2933700" y="3128963"/>
                <a:ext cx="60325" cy="5873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8" name="Freeform 316">
                <a:extLst>
                  <a:ext uri="{FF2B5EF4-FFF2-40B4-BE49-F238E27FC236}">
                    <a16:creationId xmlns:a16="http://schemas.microsoft.com/office/drawing/2014/main" xmlns="" id="{42BF9E91-C3D1-479E-A251-AD54A926B6D3}"/>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9" name="Oval 317">
                <a:extLst>
                  <a:ext uri="{FF2B5EF4-FFF2-40B4-BE49-F238E27FC236}">
                    <a16:creationId xmlns:a16="http://schemas.microsoft.com/office/drawing/2014/main" xmlns="" id="{FE52E745-A552-4F06-9535-C6C622D93F35}"/>
                  </a:ext>
                </a:extLst>
              </p:cNvPr>
              <p:cNvSpPr>
                <a:spLocks noChangeArrowheads="1"/>
              </p:cNvSpPr>
              <p:nvPr/>
            </p:nvSpPr>
            <p:spPr bwMode="auto">
              <a:xfrm>
                <a:off x="2820988" y="3128963"/>
                <a:ext cx="60325" cy="5873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0" name="Freeform 318">
                <a:extLst>
                  <a:ext uri="{FF2B5EF4-FFF2-40B4-BE49-F238E27FC236}">
                    <a16:creationId xmlns:a16="http://schemas.microsoft.com/office/drawing/2014/main" xmlns="" id="{A9F3F5BA-CD89-43EF-82A6-14201A89D8AC}"/>
                  </a:ext>
                </a:extLst>
              </p:cNvPr>
              <p:cNvSpPr>
                <a:spLocks/>
              </p:cNvSpPr>
              <p:nvPr/>
            </p:nvSpPr>
            <p:spPr bwMode="auto">
              <a:xfrm>
                <a:off x="2798763"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1" name="Freeform 319">
                <a:extLst>
                  <a:ext uri="{FF2B5EF4-FFF2-40B4-BE49-F238E27FC236}">
                    <a16:creationId xmlns:a16="http://schemas.microsoft.com/office/drawing/2014/main" xmlns="" id="{0C1B8AEB-E335-4D8B-8846-5975E8B3D487}"/>
                  </a:ext>
                </a:extLst>
              </p:cNvPr>
              <p:cNvSpPr>
                <a:spLocks/>
              </p:cNvSpPr>
              <p:nvPr/>
            </p:nvSpPr>
            <p:spPr bwMode="auto">
              <a:xfrm>
                <a:off x="2738438" y="3074988"/>
                <a:ext cx="225425" cy="15875"/>
              </a:xfrm>
              <a:custGeom>
                <a:avLst/>
                <a:gdLst>
                  <a:gd name="T0" fmla="*/ 0 w 142"/>
                  <a:gd name="T1" fmla="*/ 10 h 10"/>
                  <a:gd name="T2" fmla="*/ 0 w 142"/>
                  <a:gd name="T3" fmla="*/ 0 h 10"/>
                  <a:gd name="T4" fmla="*/ 142 w 142"/>
                  <a:gd name="T5" fmla="*/ 0 h 10"/>
                  <a:gd name="T6" fmla="*/ 142 w 142"/>
                  <a:gd name="T7" fmla="*/ 10 h 10"/>
                </a:gdLst>
                <a:ahLst/>
                <a:cxnLst>
                  <a:cxn ang="0">
                    <a:pos x="T0" y="T1"/>
                  </a:cxn>
                  <a:cxn ang="0">
                    <a:pos x="T2" y="T3"/>
                  </a:cxn>
                  <a:cxn ang="0">
                    <a:pos x="T4" y="T5"/>
                  </a:cxn>
                  <a:cxn ang="0">
                    <a:pos x="T6" y="T7"/>
                  </a:cxn>
                </a:cxnLst>
                <a:rect l="0" t="0" r="r" b="b"/>
                <a:pathLst>
                  <a:path w="142" h="10">
                    <a:moveTo>
                      <a:pt x="0" y="10"/>
                    </a:moveTo>
                    <a:lnTo>
                      <a:pt x="0" y="0"/>
                    </a:lnTo>
                    <a:lnTo>
                      <a:pt x="142" y="0"/>
                    </a:lnTo>
                    <a:lnTo>
                      <a:pt x="142" y="10"/>
                    </a:ln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2" name="Line 320">
                <a:extLst>
                  <a:ext uri="{FF2B5EF4-FFF2-40B4-BE49-F238E27FC236}">
                    <a16:creationId xmlns:a16="http://schemas.microsoft.com/office/drawing/2014/main" xmlns="" id="{625F2B4F-F75B-4093-862F-865FC16ABC82}"/>
                  </a:ext>
                </a:extLst>
              </p:cNvPr>
              <p:cNvSpPr>
                <a:spLocks noChangeShapeType="1"/>
              </p:cNvSpPr>
              <p:nvPr/>
            </p:nvSpPr>
            <p:spPr bwMode="auto">
              <a:xfrm>
                <a:off x="2851150" y="3044826"/>
                <a:ext cx="0" cy="46038"/>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73" name="Group 72">
              <a:extLst>
                <a:ext uri="{FF2B5EF4-FFF2-40B4-BE49-F238E27FC236}">
                  <a16:creationId xmlns:a16="http://schemas.microsoft.com/office/drawing/2014/main" xmlns="" id="{B1E38458-8F3E-4314-9FA8-DC2B0EBB7E33}"/>
                </a:ext>
              </a:extLst>
            </p:cNvPr>
            <p:cNvGrpSpPr/>
            <p:nvPr/>
          </p:nvGrpSpPr>
          <p:grpSpPr>
            <a:xfrm>
              <a:off x="3211694" y="4933877"/>
              <a:ext cx="346075" cy="346075"/>
              <a:chOff x="3398838" y="2895601"/>
              <a:chExt cx="346075" cy="346075"/>
            </a:xfrm>
          </p:grpSpPr>
          <p:sp>
            <p:nvSpPr>
              <p:cNvPr id="75" name="Freeform 49">
                <a:extLst>
                  <a:ext uri="{FF2B5EF4-FFF2-40B4-BE49-F238E27FC236}">
                    <a16:creationId xmlns:a16="http://schemas.microsoft.com/office/drawing/2014/main" xmlns="" id="{52F6AE15-148B-4DD3-9B33-E89085198CA5}"/>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6" name="Freeform 50">
                <a:extLst>
                  <a:ext uri="{FF2B5EF4-FFF2-40B4-BE49-F238E27FC236}">
                    <a16:creationId xmlns:a16="http://schemas.microsoft.com/office/drawing/2014/main" xmlns="" id="{B7DF1EA3-5709-492C-BABE-F390B608BAC1}"/>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7" name="Oval 51">
                <a:extLst>
                  <a:ext uri="{FF2B5EF4-FFF2-40B4-BE49-F238E27FC236}">
                    <a16:creationId xmlns:a16="http://schemas.microsoft.com/office/drawing/2014/main" xmlns="" id="{964C8E4A-6689-4008-A522-91B998379766}"/>
                  </a:ext>
                </a:extLst>
              </p:cNvPr>
              <p:cNvSpPr>
                <a:spLocks noChangeArrowheads="1"/>
              </p:cNvSpPr>
              <p:nvPr/>
            </p:nvSpPr>
            <p:spPr bwMode="auto">
              <a:xfrm>
                <a:off x="3429001"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8" name="Freeform 52">
                <a:extLst>
                  <a:ext uri="{FF2B5EF4-FFF2-40B4-BE49-F238E27FC236}">
                    <a16:creationId xmlns:a16="http://schemas.microsoft.com/office/drawing/2014/main" xmlns="" id="{DA8DEA77-BD29-4118-B9AB-E053B3495E6E}"/>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9" name="Freeform 53">
                <a:extLst>
                  <a:ext uri="{FF2B5EF4-FFF2-40B4-BE49-F238E27FC236}">
                    <a16:creationId xmlns:a16="http://schemas.microsoft.com/office/drawing/2014/main" xmlns="" id="{7758711F-A5C0-4C30-A3B1-91B546014B22}"/>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0" name="Freeform 54">
                <a:extLst>
                  <a:ext uri="{FF2B5EF4-FFF2-40B4-BE49-F238E27FC236}">
                    <a16:creationId xmlns:a16="http://schemas.microsoft.com/office/drawing/2014/main" xmlns="" id="{A575C4B8-CC49-4D59-BC4B-A13D8D97AF1D}"/>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1" name="Oval 55">
                <a:extLst>
                  <a:ext uri="{FF2B5EF4-FFF2-40B4-BE49-F238E27FC236}">
                    <a16:creationId xmlns:a16="http://schemas.microsoft.com/office/drawing/2014/main" xmlns="" id="{EE9FF2CA-A0D9-41EF-8A6D-06571B57B1E9}"/>
                  </a:ext>
                </a:extLst>
              </p:cNvPr>
              <p:cNvSpPr>
                <a:spLocks noChangeArrowheads="1"/>
              </p:cNvSpPr>
              <p:nvPr/>
            </p:nvSpPr>
            <p:spPr bwMode="auto">
              <a:xfrm>
                <a:off x="3624263" y="2895601"/>
                <a:ext cx="90488"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2" name="Freeform 56">
                <a:extLst>
                  <a:ext uri="{FF2B5EF4-FFF2-40B4-BE49-F238E27FC236}">
                    <a16:creationId xmlns:a16="http://schemas.microsoft.com/office/drawing/2014/main" xmlns="" id="{74276568-12D5-4791-8AAE-E71301B357CA}"/>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3" name="Freeform 57">
                <a:extLst>
                  <a:ext uri="{FF2B5EF4-FFF2-40B4-BE49-F238E27FC236}">
                    <a16:creationId xmlns:a16="http://schemas.microsoft.com/office/drawing/2014/main" xmlns="" id="{36893D6E-C781-44C6-B4DB-BF8FDD3B4DB8}"/>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4" name="Freeform 58">
                <a:extLst>
                  <a:ext uri="{FF2B5EF4-FFF2-40B4-BE49-F238E27FC236}">
                    <a16:creationId xmlns:a16="http://schemas.microsoft.com/office/drawing/2014/main" xmlns="" id="{E40B690B-BA0B-4EEC-A0CF-7DA3B2E43E8E}"/>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5" name="Oval 59">
                <a:extLst>
                  <a:ext uri="{FF2B5EF4-FFF2-40B4-BE49-F238E27FC236}">
                    <a16:creationId xmlns:a16="http://schemas.microsoft.com/office/drawing/2014/main" xmlns="" id="{971E19C9-854B-41E7-A5D7-36AE58BA61FC}"/>
                  </a:ext>
                </a:extLst>
              </p:cNvPr>
              <p:cNvSpPr>
                <a:spLocks noChangeArrowheads="1"/>
              </p:cNvSpPr>
              <p:nvPr/>
            </p:nvSpPr>
            <p:spPr bwMode="auto">
              <a:xfrm>
                <a:off x="3527426" y="3090864"/>
                <a:ext cx="88900" cy="96838"/>
              </a:xfrm>
              <a:prstGeom prst="ellipse">
                <a:avLst/>
              </a:pr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6" name="Freeform 60">
                <a:extLst>
                  <a:ext uri="{FF2B5EF4-FFF2-40B4-BE49-F238E27FC236}">
                    <a16:creationId xmlns:a16="http://schemas.microsoft.com/office/drawing/2014/main" xmlns="" id="{DE348461-111F-4014-A8A3-F56B07127374}"/>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7" name="Line 61">
                <a:extLst>
                  <a:ext uri="{FF2B5EF4-FFF2-40B4-BE49-F238E27FC236}">
                    <a16:creationId xmlns:a16="http://schemas.microsoft.com/office/drawing/2014/main" xmlns="" id="{22CD114E-A6F0-4722-A4EE-4C318C1DC5BA}"/>
                  </a:ext>
                </a:extLst>
              </p:cNvPr>
              <p:cNvSpPr>
                <a:spLocks noChangeShapeType="1"/>
              </p:cNvSpPr>
              <p:nvPr/>
            </p:nvSpPr>
            <p:spPr bwMode="auto">
              <a:xfrm>
                <a:off x="3451226" y="3074989"/>
                <a:ext cx="38100" cy="3810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8" name="Line 62">
                <a:extLst>
                  <a:ext uri="{FF2B5EF4-FFF2-40B4-BE49-F238E27FC236}">
                    <a16:creationId xmlns:a16="http://schemas.microsoft.com/office/drawing/2014/main" xmlns="" id="{F7E3A019-70E0-420D-BBF5-DAE0B933DE1E}"/>
                  </a:ext>
                </a:extLst>
              </p:cNvPr>
              <p:cNvSpPr>
                <a:spLocks noChangeShapeType="1"/>
              </p:cNvSpPr>
              <p:nvPr/>
            </p:nvSpPr>
            <p:spPr bwMode="auto">
              <a:xfrm flipH="1">
                <a:off x="3654426" y="3074989"/>
                <a:ext cx="38100" cy="38100"/>
              </a:xfrm>
              <a:prstGeom prst="line">
                <a:avLst/>
              </a:prstGeom>
              <a:noFill/>
              <a:ln w="14288" cap="rnd">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2" name="Group 61">
              <a:extLst>
                <a:ext uri="{FF2B5EF4-FFF2-40B4-BE49-F238E27FC236}">
                  <a16:creationId xmlns:a16="http://schemas.microsoft.com/office/drawing/2014/main" xmlns="" id="{18E10038-0AE7-4F94-99B0-CEA210C9535B}"/>
                </a:ext>
              </a:extLst>
            </p:cNvPr>
            <p:cNvGrpSpPr/>
            <p:nvPr/>
          </p:nvGrpSpPr>
          <p:grpSpPr>
            <a:xfrm>
              <a:off x="4359934" y="2904941"/>
              <a:ext cx="330200" cy="315913"/>
              <a:chOff x="4127500" y="2909888"/>
              <a:chExt cx="330200" cy="315913"/>
            </a:xfrm>
          </p:grpSpPr>
          <p:sp>
            <p:nvSpPr>
              <p:cNvPr id="64" name="Oval 268">
                <a:extLst>
                  <a:ext uri="{FF2B5EF4-FFF2-40B4-BE49-F238E27FC236}">
                    <a16:creationId xmlns:a16="http://schemas.microsoft.com/office/drawing/2014/main" xmlns="" id="{F7A8EBC1-9006-4CB5-A698-1D1D62E0DBEA}"/>
                  </a:ext>
                </a:extLst>
              </p:cNvPr>
              <p:cNvSpPr>
                <a:spLocks noChangeArrowheads="1"/>
              </p:cNvSpPr>
              <p:nvPr/>
            </p:nvSpPr>
            <p:spPr bwMode="auto">
              <a:xfrm>
                <a:off x="4149725" y="3060701"/>
                <a:ext cx="76200" cy="74613"/>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5" name="Freeform 269">
                <a:extLst>
                  <a:ext uri="{FF2B5EF4-FFF2-40B4-BE49-F238E27FC236}">
                    <a16:creationId xmlns:a16="http://schemas.microsoft.com/office/drawing/2014/main" xmlns="" id="{0CBCD43D-AE92-41F5-9C2B-B4B3FE6FFC2B}"/>
                  </a:ext>
                </a:extLst>
              </p:cNvPr>
              <p:cNvSpPr>
                <a:spLocks/>
              </p:cNvSpPr>
              <p:nvPr/>
            </p:nvSpPr>
            <p:spPr bwMode="auto">
              <a:xfrm>
                <a:off x="4127500" y="3135313"/>
                <a:ext cx="109538" cy="60325"/>
              </a:xfrm>
              <a:custGeom>
                <a:avLst/>
                <a:gdLst>
                  <a:gd name="T0" fmla="*/ 22 w 29"/>
                  <a:gd name="T1" fmla="*/ 16 h 16"/>
                  <a:gd name="T2" fmla="*/ 0 w 29"/>
                  <a:gd name="T3" fmla="*/ 16 h 16"/>
                  <a:gd name="T4" fmla="*/ 16 w 29"/>
                  <a:gd name="T5" fmla="*/ 0 h 16"/>
                  <a:gd name="T6" fmla="*/ 29 w 29"/>
                  <a:gd name="T7" fmla="*/ 7 h 16"/>
                </a:gdLst>
                <a:ahLst/>
                <a:cxnLst>
                  <a:cxn ang="0">
                    <a:pos x="T0" y="T1"/>
                  </a:cxn>
                  <a:cxn ang="0">
                    <a:pos x="T2" y="T3"/>
                  </a:cxn>
                  <a:cxn ang="0">
                    <a:pos x="T4" y="T5"/>
                  </a:cxn>
                  <a:cxn ang="0">
                    <a:pos x="T6" y="T7"/>
                  </a:cxn>
                </a:cxnLst>
                <a:rect l="0" t="0" r="r" b="b"/>
                <a:pathLst>
                  <a:path w="29" h="16">
                    <a:moveTo>
                      <a:pt x="22" y="16"/>
                    </a:moveTo>
                    <a:cubicBezTo>
                      <a:pt x="0" y="16"/>
                      <a:pt x="0" y="16"/>
                      <a:pt x="0" y="16"/>
                    </a:cubicBezTo>
                    <a:cubicBezTo>
                      <a:pt x="0" y="7"/>
                      <a:pt x="7" y="0"/>
                      <a:pt x="16" y="0"/>
                    </a:cubicBezTo>
                    <a:cubicBezTo>
                      <a:pt x="21" y="0"/>
                      <a:pt x="26" y="3"/>
                      <a:pt x="29" y="7"/>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6" name="Oval 270">
                <a:extLst>
                  <a:ext uri="{FF2B5EF4-FFF2-40B4-BE49-F238E27FC236}">
                    <a16:creationId xmlns:a16="http://schemas.microsoft.com/office/drawing/2014/main" xmlns="" id="{282262E1-7304-47F8-ADFC-CA07C9ADF544}"/>
                  </a:ext>
                </a:extLst>
              </p:cNvPr>
              <p:cNvSpPr>
                <a:spLocks noChangeArrowheads="1"/>
              </p:cNvSpPr>
              <p:nvPr/>
            </p:nvSpPr>
            <p:spPr bwMode="auto">
              <a:xfrm>
                <a:off x="4360863" y="3060701"/>
                <a:ext cx="74613" cy="74613"/>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7" name="Freeform 271">
                <a:extLst>
                  <a:ext uri="{FF2B5EF4-FFF2-40B4-BE49-F238E27FC236}">
                    <a16:creationId xmlns:a16="http://schemas.microsoft.com/office/drawing/2014/main" xmlns="" id="{61422BB8-6120-4583-B04B-D675BF21968F}"/>
                  </a:ext>
                </a:extLst>
              </p:cNvPr>
              <p:cNvSpPr>
                <a:spLocks/>
              </p:cNvSpPr>
              <p:nvPr/>
            </p:nvSpPr>
            <p:spPr bwMode="auto">
              <a:xfrm>
                <a:off x="4349750" y="3135313"/>
                <a:ext cx="107950" cy="60325"/>
              </a:xfrm>
              <a:custGeom>
                <a:avLst/>
                <a:gdLst>
                  <a:gd name="T0" fmla="*/ 0 w 29"/>
                  <a:gd name="T1" fmla="*/ 7 h 16"/>
                  <a:gd name="T2" fmla="*/ 13 w 29"/>
                  <a:gd name="T3" fmla="*/ 0 h 16"/>
                  <a:gd name="T4" fmla="*/ 29 w 29"/>
                  <a:gd name="T5" fmla="*/ 16 h 16"/>
                  <a:gd name="T6" fmla="*/ 7 w 29"/>
                  <a:gd name="T7" fmla="*/ 16 h 16"/>
                </a:gdLst>
                <a:ahLst/>
                <a:cxnLst>
                  <a:cxn ang="0">
                    <a:pos x="T0" y="T1"/>
                  </a:cxn>
                  <a:cxn ang="0">
                    <a:pos x="T2" y="T3"/>
                  </a:cxn>
                  <a:cxn ang="0">
                    <a:pos x="T4" y="T5"/>
                  </a:cxn>
                  <a:cxn ang="0">
                    <a:pos x="T6" y="T7"/>
                  </a:cxn>
                </a:cxnLst>
                <a:rect l="0" t="0" r="r" b="b"/>
                <a:pathLst>
                  <a:path w="29" h="16">
                    <a:moveTo>
                      <a:pt x="0" y="7"/>
                    </a:moveTo>
                    <a:cubicBezTo>
                      <a:pt x="3" y="3"/>
                      <a:pt x="8" y="0"/>
                      <a:pt x="13" y="0"/>
                    </a:cubicBezTo>
                    <a:cubicBezTo>
                      <a:pt x="22" y="0"/>
                      <a:pt x="29" y="7"/>
                      <a:pt x="29" y="16"/>
                    </a:cubicBezTo>
                    <a:cubicBezTo>
                      <a:pt x="7" y="16"/>
                      <a:pt x="7" y="16"/>
                      <a:pt x="7" y="16"/>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8" name="Oval 272">
                <a:extLst>
                  <a:ext uri="{FF2B5EF4-FFF2-40B4-BE49-F238E27FC236}">
                    <a16:creationId xmlns:a16="http://schemas.microsoft.com/office/drawing/2014/main" xmlns="" id="{921647A8-2EB5-4C08-8422-414742FE7757}"/>
                  </a:ext>
                </a:extLst>
              </p:cNvPr>
              <p:cNvSpPr>
                <a:spLocks noChangeArrowheads="1"/>
              </p:cNvSpPr>
              <p:nvPr/>
            </p:nvSpPr>
            <p:spPr bwMode="auto">
              <a:xfrm>
                <a:off x="4240213" y="3030538"/>
                <a:ext cx="104775" cy="109538"/>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9" name="Freeform 273">
                <a:extLst>
                  <a:ext uri="{FF2B5EF4-FFF2-40B4-BE49-F238E27FC236}">
                    <a16:creationId xmlns:a16="http://schemas.microsoft.com/office/drawing/2014/main" xmlns="" id="{453B206B-E6FA-440E-8267-6B4EF680427A}"/>
                  </a:ext>
                </a:extLst>
              </p:cNvPr>
              <p:cNvSpPr>
                <a:spLocks/>
              </p:cNvSpPr>
              <p:nvPr/>
            </p:nvSpPr>
            <p:spPr bwMode="auto">
              <a:xfrm>
                <a:off x="4214813" y="2986088"/>
                <a:ext cx="157163" cy="36513"/>
              </a:xfrm>
              <a:custGeom>
                <a:avLst/>
                <a:gdLst>
                  <a:gd name="T0" fmla="*/ 0 w 42"/>
                  <a:gd name="T1" fmla="*/ 10 h 10"/>
                  <a:gd name="T2" fmla="*/ 21 w 42"/>
                  <a:gd name="T3" fmla="*/ 0 h 10"/>
                  <a:gd name="T4" fmla="*/ 42 w 42"/>
                  <a:gd name="T5" fmla="*/ 10 h 10"/>
                </a:gdLst>
                <a:ahLst/>
                <a:cxnLst>
                  <a:cxn ang="0">
                    <a:pos x="T0" y="T1"/>
                  </a:cxn>
                  <a:cxn ang="0">
                    <a:pos x="T2" y="T3"/>
                  </a:cxn>
                  <a:cxn ang="0">
                    <a:pos x="T4" y="T5"/>
                  </a:cxn>
                </a:cxnLst>
                <a:rect l="0" t="0" r="r" b="b"/>
                <a:pathLst>
                  <a:path w="42" h="10">
                    <a:moveTo>
                      <a:pt x="0" y="10"/>
                    </a:moveTo>
                    <a:cubicBezTo>
                      <a:pt x="5" y="4"/>
                      <a:pt x="13" y="0"/>
                      <a:pt x="21" y="0"/>
                    </a:cubicBezTo>
                    <a:cubicBezTo>
                      <a:pt x="29" y="0"/>
                      <a:pt x="37" y="4"/>
                      <a:pt x="42" y="10"/>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0" name="Freeform 274">
                <a:extLst>
                  <a:ext uri="{FF2B5EF4-FFF2-40B4-BE49-F238E27FC236}">
                    <a16:creationId xmlns:a16="http://schemas.microsoft.com/office/drawing/2014/main" xmlns="" id="{41B368DF-58C1-48A8-8E16-E3B4645A1BD8}"/>
                  </a:ext>
                </a:extLst>
              </p:cNvPr>
              <p:cNvSpPr>
                <a:spLocks/>
              </p:cNvSpPr>
              <p:nvPr/>
            </p:nvSpPr>
            <p:spPr bwMode="auto">
              <a:xfrm>
                <a:off x="4187825" y="2947988"/>
                <a:ext cx="211138" cy="49213"/>
              </a:xfrm>
              <a:custGeom>
                <a:avLst/>
                <a:gdLst>
                  <a:gd name="T0" fmla="*/ 0 w 56"/>
                  <a:gd name="T1" fmla="*/ 13 h 13"/>
                  <a:gd name="T2" fmla="*/ 28 w 56"/>
                  <a:gd name="T3" fmla="*/ 0 h 13"/>
                  <a:gd name="T4" fmla="*/ 56 w 56"/>
                  <a:gd name="T5" fmla="*/ 13 h 13"/>
                </a:gdLst>
                <a:ahLst/>
                <a:cxnLst>
                  <a:cxn ang="0">
                    <a:pos x="T0" y="T1"/>
                  </a:cxn>
                  <a:cxn ang="0">
                    <a:pos x="T2" y="T3"/>
                  </a:cxn>
                  <a:cxn ang="0">
                    <a:pos x="T4" y="T5"/>
                  </a:cxn>
                </a:cxnLst>
                <a:rect l="0" t="0" r="r" b="b"/>
                <a:pathLst>
                  <a:path w="56" h="13">
                    <a:moveTo>
                      <a:pt x="0" y="13"/>
                    </a:moveTo>
                    <a:cubicBezTo>
                      <a:pt x="7" y="5"/>
                      <a:pt x="17" y="0"/>
                      <a:pt x="28" y="0"/>
                    </a:cubicBezTo>
                    <a:cubicBezTo>
                      <a:pt x="39" y="0"/>
                      <a:pt x="49" y="5"/>
                      <a:pt x="56" y="13"/>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1" name="Freeform 275">
                <a:extLst>
                  <a:ext uri="{FF2B5EF4-FFF2-40B4-BE49-F238E27FC236}">
                    <a16:creationId xmlns:a16="http://schemas.microsoft.com/office/drawing/2014/main" xmlns="" id="{75651205-4A53-463F-A685-DE5C8BC6BD7D}"/>
                  </a:ext>
                </a:extLst>
              </p:cNvPr>
              <p:cNvSpPr>
                <a:spLocks/>
              </p:cNvSpPr>
              <p:nvPr/>
            </p:nvSpPr>
            <p:spPr bwMode="auto">
              <a:xfrm>
                <a:off x="4157663" y="2909888"/>
                <a:ext cx="269875" cy="63500"/>
              </a:xfrm>
              <a:custGeom>
                <a:avLst/>
                <a:gdLst>
                  <a:gd name="T0" fmla="*/ 0 w 72"/>
                  <a:gd name="T1" fmla="*/ 17 h 17"/>
                  <a:gd name="T2" fmla="*/ 36 w 72"/>
                  <a:gd name="T3" fmla="*/ 0 h 17"/>
                  <a:gd name="T4" fmla="*/ 72 w 72"/>
                  <a:gd name="T5" fmla="*/ 17 h 17"/>
                </a:gdLst>
                <a:ahLst/>
                <a:cxnLst>
                  <a:cxn ang="0">
                    <a:pos x="T0" y="T1"/>
                  </a:cxn>
                  <a:cxn ang="0">
                    <a:pos x="T2" y="T3"/>
                  </a:cxn>
                  <a:cxn ang="0">
                    <a:pos x="T4" y="T5"/>
                  </a:cxn>
                </a:cxnLst>
                <a:rect l="0" t="0" r="r" b="b"/>
                <a:pathLst>
                  <a:path w="72" h="17">
                    <a:moveTo>
                      <a:pt x="0" y="17"/>
                    </a:moveTo>
                    <a:cubicBezTo>
                      <a:pt x="8" y="7"/>
                      <a:pt x="21" y="0"/>
                      <a:pt x="36" y="0"/>
                    </a:cubicBezTo>
                    <a:cubicBezTo>
                      <a:pt x="51" y="0"/>
                      <a:pt x="64" y="7"/>
                      <a:pt x="72" y="17"/>
                    </a:cubicBezTo>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72" name="Freeform 276">
                <a:extLst>
                  <a:ext uri="{FF2B5EF4-FFF2-40B4-BE49-F238E27FC236}">
                    <a16:creationId xmlns:a16="http://schemas.microsoft.com/office/drawing/2014/main" xmlns="" id="{83B67D48-AF94-4FED-959B-C51A15982CF5}"/>
                  </a:ext>
                </a:extLst>
              </p:cNvPr>
              <p:cNvSpPr>
                <a:spLocks/>
              </p:cNvSpPr>
              <p:nvPr/>
            </p:nvSpPr>
            <p:spPr bwMode="auto">
              <a:xfrm>
                <a:off x="4206875" y="3140076"/>
                <a:ext cx="173038" cy="85725"/>
              </a:xfrm>
              <a:custGeom>
                <a:avLst/>
                <a:gdLst>
                  <a:gd name="T0" fmla="*/ 46 w 46"/>
                  <a:gd name="T1" fmla="*/ 23 h 23"/>
                  <a:gd name="T2" fmla="*/ 0 w 46"/>
                  <a:gd name="T3" fmla="*/ 23 h 23"/>
                  <a:gd name="T4" fmla="*/ 23 w 46"/>
                  <a:gd name="T5" fmla="*/ 0 h 23"/>
                  <a:gd name="T6" fmla="*/ 46 w 46"/>
                  <a:gd name="T7" fmla="*/ 23 h 23"/>
                </a:gdLst>
                <a:ahLst/>
                <a:cxnLst>
                  <a:cxn ang="0">
                    <a:pos x="T0" y="T1"/>
                  </a:cxn>
                  <a:cxn ang="0">
                    <a:pos x="T2" y="T3"/>
                  </a:cxn>
                  <a:cxn ang="0">
                    <a:pos x="T4" y="T5"/>
                  </a:cxn>
                  <a:cxn ang="0">
                    <a:pos x="T6" y="T7"/>
                  </a:cxn>
                </a:cxnLst>
                <a:rect l="0" t="0" r="r" b="b"/>
                <a:pathLst>
                  <a:path w="46" h="23">
                    <a:moveTo>
                      <a:pt x="46" y="23"/>
                    </a:moveTo>
                    <a:cubicBezTo>
                      <a:pt x="0" y="23"/>
                      <a:pt x="0" y="23"/>
                      <a:pt x="0" y="23"/>
                    </a:cubicBezTo>
                    <a:cubicBezTo>
                      <a:pt x="0" y="10"/>
                      <a:pt x="10" y="0"/>
                      <a:pt x="23" y="0"/>
                    </a:cubicBezTo>
                    <a:cubicBezTo>
                      <a:pt x="36" y="0"/>
                      <a:pt x="46" y="10"/>
                      <a:pt x="46" y="23"/>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63" name="Rectangle 62" descr="This image is of three overlapping circles.   ">
              <a:extLst>
                <a:ext uri="{FF2B5EF4-FFF2-40B4-BE49-F238E27FC236}">
                  <a16:creationId xmlns:a16="http://schemas.microsoft.com/office/drawing/2014/main" xmlns="" id="{84BAF14B-A443-42DB-8BF6-893FAE5CCE6F}"/>
                </a:ext>
              </a:extLst>
            </p:cNvPr>
            <p:cNvSpPr/>
            <p:nvPr/>
          </p:nvSpPr>
          <p:spPr>
            <a:xfrm>
              <a:off x="4561225" y="4571423"/>
              <a:ext cx="1260332" cy="246221"/>
            </a:xfrm>
            <a:prstGeom prst="rect">
              <a:avLst/>
            </a:prstGeom>
          </p:spPr>
          <p:txBody>
            <a:bodyPr wrap="square" lIns="0" tIns="0" rIns="0" bIns="0" anchor="t">
              <a:spAutoFit/>
            </a:bodyPr>
            <a:lstStyle/>
            <a:p>
              <a:pPr algn="ctr"/>
              <a:r>
                <a:rPr lang="en-US" sz="1600" i="1" dirty="0">
                  <a:solidFill>
                    <a:schemeClr val="bg1"/>
                  </a:solidFill>
                  <a:latin typeface="+mj-lt"/>
                  <a:ea typeface="Calibri Light"/>
                  <a:cs typeface="Segoe UI"/>
                </a:rPr>
                <a:t>Employment</a:t>
              </a:r>
              <a:endParaRPr lang="en-US" sz="1600" i="1" dirty="0">
                <a:solidFill>
                  <a:schemeClr val="bg1"/>
                </a:solidFill>
                <a:latin typeface="+mj-lt"/>
                <a:ea typeface="Calibri Light"/>
                <a:cs typeface="Segoe UI" panose="020B0502040204020203" pitchFamily="34" charset="0"/>
              </a:endParaRPr>
            </a:p>
          </p:txBody>
        </p:sp>
        <p:grpSp>
          <p:nvGrpSpPr>
            <p:cNvPr id="50" name="Group 49">
              <a:extLst>
                <a:ext uri="{FF2B5EF4-FFF2-40B4-BE49-F238E27FC236}">
                  <a16:creationId xmlns:a16="http://schemas.microsoft.com/office/drawing/2014/main" xmlns="" id="{EF6CD563-9511-4250-BCB0-1FBFAAE1289C}"/>
                </a:ext>
              </a:extLst>
            </p:cNvPr>
            <p:cNvGrpSpPr/>
            <p:nvPr/>
          </p:nvGrpSpPr>
          <p:grpSpPr>
            <a:xfrm>
              <a:off x="2177290" y="2874779"/>
              <a:ext cx="344488" cy="346075"/>
              <a:chOff x="4841875" y="2895601"/>
              <a:chExt cx="344488" cy="346075"/>
            </a:xfrm>
          </p:grpSpPr>
          <p:sp>
            <p:nvSpPr>
              <p:cNvPr id="52" name="Freeform 258">
                <a:extLst>
                  <a:ext uri="{FF2B5EF4-FFF2-40B4-BE49-F238E27FC236}">
                    <a16:creationId xmlns:a16="http://schemas.microsoft.com/office/drawing/2014/main" xmlns="" id="{7B269D94-9FED-4F93-A218-57CD14D4F9C1}"/>
                  </a:ext>
                </a:extLst>
              </p:cNvPr>
              <p:cNvSpPr>
                <a:spLocks/>
              </p:cNvSpPr>
              <p:nvPr/>
            </p:nvSpPr>
            <p:spPr bwMode="auto">
              <a:xfrm>
                <a:off x="4916488" y="2895601"/>
                <a:ext cx="195263" cy="195263"/>
              </a:xfrm>
              <a:custGeom>
                <a:avLst/>
                <a:gdLst>
                  <a:gd name="T0" fmla="*/ 52 w 52"/>
                  <a:gd name="T1" fmla="*/ 26 h 52"/>
                  <a:gd name="T2" fmla="*/ 26 w 52"/>
                  <a:gd name="T3" fmla="*/ 52 h 52"/>
                  <a:gd name="T4" fmla="*/ 0 w 52"/>
                  <a:gd name="T5" fmla="*/ 25 h 52"/>
                  <a:gd name="T6" fmla="*/ 25 w 52"/>
                  <a:gd name="T7" fmla="*/ 0 h 52"/>
                  <a:gd name="T8" fmla="*/ 26 w 52"/>
                  <a:gd name="T9" fmla="*/ 0 h 52"/>
                  <a:gd name="T10" fmla="*/ 52 w 52"/>
                  <a:gd name="T11" fmla="*/ 26 h 52"/>
                </a:gdLst>
                <a:ahLst/>
                <a:cxnLst>
                  <a:cxn ang="0">
                    <a:pos x="T0" y="T1"/>
                  </a:cxn>
                  <a:cxn ang="0">
                    <a:pos x="T2" y="T3"/>
                  </a:cxn>
                  <a:cxn ang="0">
                    <a:pos x="T4" y="T5"/>
                  </a:cxn>
                  <a:cxn ang="0">
                    <a:pos x="T6" y="T7"/>
                  </a:cxn>
                  <a:cxn ang="0">
                    <a:pos x="T8" y="T9"/>
                  </a:cxn>
                  <a:cxn ang="0">
                    <a:pos x="T10" y="T11"/>
                  </a:cxn>
                </a:cxnLst>
                <a:rect l="0" t="0" r="r" b="b"/>
                <a:pathLst>
                  <a:path w="52" h="52">
                    <a:moveTo>
                      <a:pt x="52" y="26"/>
                    </a:moveTo>
                    <a:cubicBezTo>
                      <a:pt x="52" y="40"/>
                      <a:pt x="40" y="52"/>
                      <a:pt x="26" y="52"/>
                    </a:cubicBezTo>
                    <a:cubicBezTo>
                      <a:pt x="12" y="52"/>
                      <a:pt x="0" y="40"/>
                      <a:pt x="0" y="25"/>
                    </a:cubicBezTo>
                    <a:cubicBezTo>
                      <a:pt x="0" y="11"/>
                      <a:pt x="11" y="1"/>
                      <a:pt x="25" y="0"/>
                    </a:cubicBezTo>
                    <a:cubicBezTo>
                      <a:pt x="25" y="0"/>
                      <a:pt x="26" y="0"/>
                      <a:pt x="26" y="0"/>
                    </a:cubicBezTo>
                    <a:cubicBezTo>
                      <a:pt x="40" y="0"/>
                      <a:pt x="52" y="11"/>
                      <a:pt x="52" y="26"/>
                    </a:cubicBezTo>
                    <a:close/>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3" name="Freeform 259">
                <a:extLst>
                  <a:ext uri="{FF2B5EF4-FFF2-40B4-BE49-F238E27FC236}">
                    <a16:creationId xmlns:a16="http://schemas.microsoft.com/office/drawing/2014/main" xmlns="" id="{435DD0CD-FD16-4760-9F43-618A517E32C1}"/>
                  </a:ext>
                </a:extLst>
              </p:cNvPr>
              <p:cNvSpPr>
                <a:spLocks/>
              </p:cNvSpPr>
              <p:nvPr/>
            </p:nvSpPr>
            <p:spPr bwMode="auto">
              <a:xfrm>
                <a:off x="4957763" y="2895601"/>
                <a:ext cx="52388" cy="195263"/>
              </a:xfrm>
              <a:custGeom>
                <a:avLst/>
                <a:gdLst>
                  <a:gd name="T0" fmla="*/ 14 w 14"/>
                  <a:gd name="T1" fmla="*/ 0 h 52"/>
                  <a:gd name="T2" fmla="*/ 14 w 14"/>
                  <a:gd name="T3" fmla="*/ 52 h 52"/>
                </a:gdLst>
                <a:ahLst/>
                <a:cxnLst>
                  <a:cxn ang="0">
                    <a:pos x="T0" y="T1"/>
                  </a:cxn>
                  <a:cxn ang="0">
                    <a:pos x="T2" y="T3"/>
                  </a:cxn>
                </a:cxnLst>
                <a:rect l="0" t="0" r="r" b="b"/>
                <a:pathLst>
                  <a:path w="14" h="52">
                    <a:moveTo>
                      <a:pt x="14" y="0"/>
                    </a:moveTo>
                    <a:cubicBezTo>
                      <a:pt x="0" y="15"/>
                      <a:pt x="0" y="34"/>
                      <a:pt x="14" y="52"/>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4" name="Freeform 260">
                <a:extLst>
                  <a:ext uri="{FF2B5EF4-FFF2-40B4-BE49-F238E27FC236}">
                    <a16:creationId xmlns:a16="http://schemas.microsoft.com/office/drawing/2014/main" xmlns="" id="{11230DFA-75B1-4B65-BDFE-22109071454A}"/>
                  </a:ext>
                </a:extLst>
              </p:cNvPr>
              <p:cNvSpPr>
                <a:spLocks/>
              </p:cNvSpPr>
              <p:nvPr/>
            </p:nvSpPr>
            <p:spPr bwMode="auto">
              <a:xfrm>
                <a:off x="5018088" y="2895601"/>
                <a:ext cx="52388" cy="195263"/>
              </a:xfrm>
              <a:custGeom>
                <a:avLst/>
                <a:gdLst>
                  <a:gd name="T0" fmla="*/ 0 w 14"/>
                  <a:gd name="T1" fmla="*/ 0 h 52"/>
                  <a:gd name="T2" fmla="*/ 0 w 14"/>
                  <a:gd name="T3" fmla="*/ 52 h 52"/>
                </a:gdLst>
                <a:ahLst/>
                <a:cxnLst>
                  <a:cxn ang="0">
                    <a:pos x="T0" y="T1"/>
                  </a:cxn>
                  <a:cxn ang="0">
                    <a:pos x="T2" y="T3"/>
                  </a:cxn>
                </a:cxnLst>
                <a:rect l="0" t="0" r="r" b="b"/>
                <a:pathLst>
                  <a:path w="14" h="52">
                    <a:moveTo>
                      <a:pt x="0" y="0"/>
                    </a:moveTo>
                    <a:cubicBezTo>
                      <a:pt x="14" y="15"/>
                      <a:pt x="14" y="34"/>
                      <a:pt x="0" y="52"/>
                    </a:cubicBezTo>
                  </a:path>
                </a:pathLst>
              </a:custGeom>
              <a:noFill/>
              <a:ln w="14288" cap="flat">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5" name="Line 261">
                <a:extLst>
                  <a:ext uri="{FF2B5EF4-FFF2-40B4-BE49-F238E27FC236}">
                    <a16:creationId xmlns:a16="http://schemas.microsoft.com/office/drawing/2014/main" xmlns="" id="{54B6C7BB-BBA1-4668-9BF5-325AA69CEE65}"/>
                  </a:ext>
                </a:extLst>
              </p:cNvPr>
              <p:cNvSpPr>
                <a:spLocks noChangeShapeType="1"/>
              </p:cNvSpPr>
              <p:nvPr/>
            </p:nvSpPr>
            <p:spPr bwMode="auto">
              <a:xfrm>
                <a:off x="4932363" y="3044826"/>
                <a:ext cx="165100"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6" name="Line 262">
                <a:extLst>
                  <a:ext uri="{FF2B5EF4-FFF2-40B4-BE49-F238E27FC236}">
                    <a16:creationId xmlns:a16="http://schemas.microsoft.com/office/drawing/2014/main" xmlns="" id="{6DC0A898-A566-45D7-BD7F-6205ED16E76E}"/>
                  </a:ext>
                </a:extLst>
              </p:cNvPr>
              <p:cNvSpPr>
                <a:spLocks noChangeShapeType="1"/>
              </p:cNvSpPr>
              <p:nvPr/>
            </p:nvSpPr>
            <p:spPr bwMode="auto">
              <a:xfrm>
                <a:off x="4932363" y="2940051"/>
                <a:ext cx="165100"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7" name="Line 263">
                <a:extLst>
                  <a:ext uri="{FF2B5EF4-FFF2-40B4-BE49-F238E27FC236}">
                    <a16:creationId xmlns:a16="http://schemas.microsoft.com/office/drawing/2014/main" xmlns="" id="{E201D585-E178-408E-A42A-A9FD198C4747}"/>
                  </a:ext>
                </a:extLst>
              </p:cNvPr>
              <p:cNvSpPr>
                <a:spLocks noChangeShapeType="1"/>
              </p:cNvSpPr>
              <p:nvPr/>
            </p:nvSpPr>
            <p:spPr bwMode="auto">
              <a:xfrm>
                <a:off x="4916488" y="2992438"/>
                <a:ext cx="195263" cy="0"/>
              </a:xfrm>
              <a:prstGeom prst="line">
                <a:avLst/>
              </a:prstGeom>
              <a:noFill/>
              <a:ln w="14288" cap="flat">
                <a:solidFill>
                  <a:schemeClr val="bg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8" name="Oval 264">
                <a:extLst>
                  <a:ext uri="{FF2B5EF4-FFF2-40B4-BE49-F238E27FC236}">
                    <a16:creationId xmlns:a16="http://schemas.microsoft.com/office/drawing/2014/main" xmlns="" id="{9C382A44-3942-4A8E-98A1-2685D9AAEEEE}"/>
                  </a:ext>
                </a:extLst>
              </p:cNvPr>
              <p:cNvSpPr>
                <a:spLocks noChangeArrowheads="1"/>
              </p:cNvSpPr>
              <p:nvPr/>
            </p:nvSpPr>
            <p:spPr bwMode="auto">
              <a:xfrm>
                <a:off x="4864100"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59" name="Oval 265">
                <a:extLst>
                  <a:ext uri="{FF2B5EF4-FFF2-40B4-BE49-F238E27FC236}">
                    <a16:creationId xmlns:a16="http://schemas.microsoft.com/office/drawing/2014/main" xmlns="" id="{052D3390-46BC-4B65-B5BE-0A40578F9E61}"/>
                  </a:ext>
                </a:extLst>
              </p:cNvPr>
              <p:cNvSpPr>
                <a:spLocks noChangeArrowheads="1"/>
              </p:cNvSpPr>
              <p:nvPr/>
            </p:nvSpPr>
            <p:spPr bwMode="auto">
              <a:xfrm>
                <a:off x="4976813"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0" name="Oval 266">
                <a:extLst>
                  <a:ext uri="{FF2B5EF4-FFF2-40B4-BE49-F238E27FC236}">
                    <a16:creationId xmlns:a16="http://schemas.microsoft.com/office/drawing/2014/main" xmlns="" id="{0279AB69-DF67-4836-8A04-8F550D181F6D}"/>
                  </a:ext>
                </a:extLst>
              </p:cNvPr>
              <p:cNvSpPr>
                <a:spLocks noChangeArrowheads="1"/>
              </p:cNvSpPr>
              <p:nvPr/>
            </p:nvSpPr>
            <p:spPr bwMode="auto">
              <a:xfrm>
                <a:off x="5089525" y="3105151"/>
                <a:ext cx="74613" cy="76200"/>
              </a:xfrm>
              <a:prstGeom prst="ellipse">
                <a:avLst/>
              </a:pr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61" name="Freeform 267">
                <a:extLst>
                  <a:ext uri="{FF2B5EF4-FFF2-40B4-BE49-F238E27FC236}">
                    <a16:creationId xmlns:a16="http://schemas.microsoft.com/office/drawing/2014/main" xmlns="" id="{E1BFECCB-F108-4293-A159-3CFFB2E29A55}"/>
                  </a:ext>
                </a:extLst>
              </p:cNvPr>
              <p:cNvSpPr>
                <a:spLocks/>
              </p:cNvSpPr>
              <p:nvPr/>
            </p:nvSpPr>
            <p:spPr bwMode="auto">
              <a:xfrm>
                <a:off x="4841875" y="3181351"/>
                <a:ext cx="344488" cy="60325"/>
              </a:xfrm>
              <a:custGeom>
                <a:avLst/>
                <a:gdLst>
                  <a:gd name="T0" fmla="*/ 76 w 92"/>
                  <a:gd name="T1" fmla="*/ 0 h 16"/>
                  <a:gd name="T2" fmla="*/ 61 w 92"/>
                  <a:gd name="T3" fmla="*/ 11 h 16"/>
                  <a:gd name="T4" fmla="*/ 46 w 92"/>
                  <a:gd name="T5" fmla="*/ 0 h 16"/>
                  <a:gd name="T6" fmla="*/ 31 w 92"/>
                  <a:gd name="T7" fmla="*/ 11 h 16"/>
                  <a:gd name="T8" fmla="*/ 16 w 92"/>
                  <a:gd name="T9" fmla="*/ 0 h 16"/>
                  <a:gd name="T10" fmla="*/ 0 w 92"/>
                  <a:gd name="T11" fmla="*/ 16 h 16"/>
                  <a:gd name="T12" fmla="*/ 92 w 92"/>
                  <a:gd name="T13" fmla="*/ 16 h 16"/>
                  <a:gd name="T14" fmla="*/ 76 w 92"/>
                  <a:gd name="T15" fmla="*/ 0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16">
                    <a:moveTo>
                      <a:pt x="76" y="0"/>
                    </a:moveTo>
                    <a:cubicBezTo>
                      <a:pt x="69" y="0"/>
                      <a:pt x="63" y="4"/>
                      <a:pt x="61" y="11"/>
                    </a:cubicBezTo>
                    <a:cubicBezTo>
                      <a:pt x="59" y="4"/>
                      <a:pt x="53" y="0"/>
                      <a:pt x="46" y="0"/>
                    </a:cubicBezTo>
                    <a:cubicBezTo>
                      <a:pt x="39" y="0"/>
                      <a:pt x="33" y="4"/>
                      <a:pt x="31" y="11"/>
                    </a:cubicBezTo>
                    <a:cubicBezTo>
                      <a:pt x="29" y="4"/>
                      <a:pt x="23" y="0"/>
                      <a:pt x="16" y="0"/>
                    </a:cubicBezTo>
                    <a:cubicBezTo>
                      <a:pt x="7" y="0"/>
                      <a:pt x="0" y="8"/>
                      <a:pt x="0" y="16"/>
                    </a:cubicBezTo>
                    <a:cubicBezTo>
                      <a:pt x="92" y="16"/>
                      <a:pt x="92" y="16"/>
                      <a:pt x="92" y="16"/>
                    </a:cubicBezTo>
                    <a:cubicBezTo>
                      <a:pt x="92" y="8"/>
                      <a:pt x="85" y="0"/>
                      <a:pt x="76" y="0"/>
                    </a:cubicBezTo>
                    <a:close/>
                  </a:path>
                </a:pathLst>
              </a:custGeom>
              <a:noFill/>
              <a:ln w="14288" cap="rnd">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grpSp>
        <p:sp>
          <p:nvSpPr>
            <p:cNvPr id="104" name="Rectangle 103">
              <a:extLst>
                <a:ext uri="{FF2B5EF4-FFF2-40B4-BE49-F238E27FC236}">
                  <a16:creationId xmlns:a16="http://schemas.microsoft.com/office/drawing/2014/main" xmlns="" id="{10F61556-59B4-4A9C-90FA-556F81054F9F}"/>
                </a:ext>
              </a:extLst>
            </p:cNvPr>
            <p:cNvSpPr/>
            <p:nvPr/>
          </p:nvSpPr>
          <p:spPr>
            <a:xfrm>
              <a:off x="931858" y="4481916"/>
              <a:ext cx="1260332" cy="246221"/>
            </a:xfrm>
            <a:prstGeom prst="rect">
              <a:avLst/>
            </a:prstGeom>
          </p:spPr>
          <p:txBody>
            <a:bodyPr wrap="square" lIns="0" tIns="0" rIns="0" bIns="0" anchor="t">
              <a:spAutoFit/>
            </a:bodyPr>
            <a:lstStyle/>
            <a:p>
              <a:pPr algn="ctr"/>
              <a:r>
                <a:rPr lang="en-US" sz="1600" i="1" dirty="0">
                  <a:solidFill>
                    <a:schemeClr val="bg1"/>
                  </a:solidFill>
                  <a:latin typeface="+mj-lt"/>
                  <a:ea typeface="Calibri Light"/>
                  <a:cs typeface="Segoe UI"/>
                </a:rPr>
                <a:t>Literacy</a:t>
              </a:r>
              <a:endParaRPr lang="en-US" sz="1600" i="1" dirty="0">
                <a:solidFill>
                  <a:schemeClr val="bg1"/>
                </a:solidFill>
                <a:latin typeface="+mj-lt"/>
                <a:ea typeface="Calibri Light"/>
                <a:cs typeface="Segoe UI" panose="020B0502040204020203" pitchFamily="34" charset="0"/>
              </a:endParaRPr>
            </a:p>
          </p:txBody>
        </p:sp>
        <p:sp>
          <p:nvSpPr>
            <p:cNvPr id="105" name="Rectangle 104">
              <a:extLst>
                <a:ext uri="{FF2B5EF4-FFF2-40B4-BE49-F238E27FC236}">
                  <a16:creationId xmlns:a16="http://schemas.microsoft.com/office/drawing/2014/main" xmlns="" id="{F5EBCB29-78BB-40FE-BAC2-F83D56B8F2B7}"/>
                </a:ext>
              </a:extLst>
            </p:cNvPr>
            <p:cNvSpPr/>
            <p:nvPr/>
          </p:nvSpPr>
          <p:spPr>
            <a:xfrm>
              <a:off x="2776791" y="1495581"/>
              <a:ext cx="1260332" cy="246221"/>
            </a:xfrm>
            <a:prstGeom prst="rect">
              <a:avLst/>
            </a:prstGeom>
          </p:spPr>
          <p:txBody>
            <a:bodyPr wrap="square" lIns="0" tIns="0" rIns="0" bIns="0" anchor="t">
              <a:spAutoFit/>
            </a:bodyPr>
            <a:lstStyle/>
            <a:p>
              <a:pPr algn="ctr"/>
              <a:r>
                <a:rPr lang="en-US" sz="1600" i="1" dirty="0">
                  <a:solidFill>
                    <a:schemeClr val="bg1"/>
                  </a:solidFill>
                  <a:latin typeface="+mj-lt"/>
                  <a:ea typeface="Calibri Light"/>
                  <a:cs typeface="Segoe UI"/>
                </a:rPr>
                <a:t>Population</a:t>
              </a:r>
              <a:endParaRPr lang="en-US" sz="1600" i="1" dirty="0">
                <a:solidFill>
                  <a:schemeClr val="bg1"/>
                </a:solidFill>
                <a:latin typeface="+mj-lt"/>
                <a:ea typeface="Calibri Light"/>
                <a:cs typeface="Segoe UI" panose="020B0502040204020203" pitchFamily="34" charset="0"/>
              </a:endParaRPr>
            </a:p>
          </p:txBody>
        </p:sp>
      </p:grpSp>
      <p:cxnSp>
        <p:nvCxnSpPr>
          <p:cNvPr id="110" name="Straight Connector 109">
            <a:extLst>
              <a:ext uri="{FF2B5EF4-FFF2-40B4-BE49-F238E27FC236}">
                <a16:creationId xmlns:a16="http://schemas.microsoft.com/office/drawing/2014/main" xmlns="" id="{6D08E99A-0644-4757-9F3A-BBA1A4F39081}"/>
              </a:ext>
              <a:ext uri="{C183D7F6-B498-43B3-948B-1728B52AA6E4}">
                <adec:decorative xmlns:adec="http://schemas.microsoft.com/office/drawing/2017/decorative" xmlns="" val="1"/>
              </a:ext>
            </a:extLst>
          </p:cNvPr>
          <p:cNvCxnSpPr/>
          <p:nvPr/>
        </p:nvCxnSpPr>
        <p:spPr>
          <a:xfrm>
            <a:off x="6751014" y="0"/>
            <a:ext cx="0" cy="635725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4" name="Oval 123">
            <a:extLst>
              <a:ext uri="{FF2B5EF4-FFF2-40B4-BE49-F238E27FC236}">
                <a16:creationId xmlns:a16="http://schemas.microsoft.com/office/drawing/2014/main" xmlns="" id="{0B8C9A86-3574-4A2E-BC62-481A2BE7FBED}"/>
              </a:ext>
              <a:ext uri="{C183D7F6-B498-43B3-948B-1728B52AA6E4}">
                <adec:decorative xmlns:adec="http://schemas.microsoft.com/office/drawing/2017/decorative" xmlns="" val="1"/>
              </a:ext>
            </a:extLst>
          </p:cNvPr>
          <p:cNvSpPr/>
          <p:nvPr/>
        </p:nvSpPr>
        <p:spPr>
          <a:xfrm>
            <a:off x="6724637" y="567838"/>
            <a:ext cx="52754" cy="5275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8" name="Rectangle: Rounded Corners 117">
            <a:extLst>
              <a:ext uri="{FF2B5EF4-FFF2-40B4-BE49-F238E27FC236}">
                <a16:creationId xmlns:a16="http://schemas.microsoft.com/office/drawing/2014/main" xmlns="" id="{A21B85DB-181D-46E7-A9DF-F92B1DF032FD}"/>
              </a:ext>
              <a:ext uri="{C183D7F6-B498-43B3-948B-1728B52AA6E4}">
                <adec:decorative xmlns:adec="http://schemas.microsoft.com/office/drawing/2017/decorative" xmlns="" val="1"/>
              </a:ext>
            </a:extLst>
          </p:cNvPr>
          <p:cNvSpPr/>
          <p:nvPr/>
        </p:nvSpPr>
        <p:spPr>
          <a:xfrm>
            <a:off x="6505891" y="1686260"/>
            <a:ext cx="443592" cy="232296"/>
          </a:xfrm>
          <a:prstGeom prst="roundRect">
            <a:avLst>
              <a:gd name="adj" fmla="val 50000"/>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 name="TextBox 106">
            <a:extLst>
              <a:ext uri="{FF2B5EF4-FFF2-40B4-BE49-F238E27FC236}">
                <a16:creationId xmlns:a16="http://schemas.microsoft.com/office/drawing/2014/main" xmlns="" id="{54EA7ED5-6E34-4D47-91B6-F78F5F8B4C6E}"/>
              </a:ext>
            </a:extLst>
          </p:cNvPr>
          <p:cNvSpPr txBox="1"/>
          <p:nvPr/>
        </p:nvSpPr>
        <p:spPr>
          <a:xfrm>
            <a:off x="7313768" y="1459746"/>
            <a:ext cx="3603287" cy="512961"/>
          </a:xfrm>
          <a:prstGeom prst="rect">
            <a:avLst/>
          </a:prstGeom>
          <a:noFill/>
        </p:spPr>
        <p:txBody>
          <a:bodyPr wrap="square" lIns="0" tIns="0" rIns="0" bIns="0" rtlCol="0" anchor="t">
            <a:spAutoFit/>
          </a:bodyPr>
          <a:lstStyle/>
          <a:p>
            <a:pPr>
              <a:lnSpc>
                <a:spcPts val="4000"/>
              </a:lnSpc>
            </a:pPr>
            <a:r>
              <a:rPr lang="en-US" sz="4400" b="1" dirty="0">
                <a:solidFill>
                  <a:srgbClr val="002060"/>
                </a:solidFill>
                <a:latin typeface="Segoe UI"/>
                <a:cs typeface="Segoe UI"/>
              </a:rPr>
              <a:t>DATASETS</a:t>
            </a:r>
            <a:endParaRPr lang="en-US" sz="4400" b="1" dirty="0">
              <a:solidFill>
                <a:srgbClr val="002060"/>
              </a:solidFill>
              <a:latin typeface="Segoe UI" panose="020B0502040204020203" pitchFamily="34" charset="0"/>
              <a:cs typeface="Segoe UI" panose="020B0502040204020203" pitchFamily="34" charset="0"/>
            </a:endParaRPr>
          </a:p>
        </p:txBody>
      </p:sp>
      <p:sp>
        <p:nvSpPr>
          <p:cNvPr id="119" name="Rectangle 118">
            <a:extLst>
              <a:ext uri="{FF2B5EF4-FFF2-40B4-BE49-F238E27FC236}">
                <a16:creationId xmlns:a16="http://schemas.microsoft.com/office/drawing/2014/main" xmlns="" id="{EE9F5B85-E2F5-4C15-9A02-657F53EEE3BD}"/>
              </a:ext>
            </a:extLst>
          </p:cNvPr>
          <p:cNvSpPr/>
          <p:nvPr/>
        </p:nvSpPr>
        <p:spPr>
          <a:xfrm>
            <a:off x="7378415" y="2201554"/>
            <a:ext cx="3536195" cy="1231106"/>
          </a:xfrm>
          <a:prstGeom prst="rect">
            <a:avLst/>
          </a:prstGeom>
        </p:spPr>
        <p:txBody>
          <a:bodyPr wrap="square" lIns="0" tIns="0" rIns="0" bIns="0" anchor="t">
            <a:spAutoFit/>
          </a:bodyPr>
          <a:lstStyle/>
          <a:p>
            <a:r>
              <a:rPr lang="en-US" sz="1600" i="1" dirty="0">
                <a:solidFill>
                  <a:srgbClr val="002060"/>
                </a:solidFill>
                <a:latin typeface="+mj-lt"/>
                <a:ea typeface="Calibri Light"/>
                <a:cs typeface="Segoe UI"/>
              </a:rPr>
              <a:t>Region</a:t>
            </a:r>
          </a:p>
          <a:p>
            <a:r>
              <a:rPr lang="en-US" sz="1600" dirty="0">
                <a:solidFill>
                  <a:srgbClr val="002060"/>
                </a:solidFill>
                <a:ea typeface="+mn-lt"/>
                <a:cs typeface="+mn-lt"/>
              </a:rPr>
              <a:t>The region dataset defines the geographical hierarchy used across the project.</a:t>
            </a:r>
            <a:endParaRPr lang="en-US" dirty="0"/>
          </a:p>
          <a:p>
            <a:endParaRPr lang="en-US" sz="1600" i="1" dirty="0">
              <a:solidFill>
                <a:srgbClr val="002060"/>
              </a:solidFill>
              <a:latin typeface="+mj-lt"/>
              <a:ea typeface="Calibri Light"/>
              <a:cs typeface="Segoe UI" panose="020B0502040204020203" pitchFamily="34" charset="0"/>
            </a:endParaRPr>
          </a:p>
        </p:txBody>
      </p:sp>
      <p:grpSp>
        <p:nvGrpSpPr>
          <p:cNvPr id="206" name="Group 205" descr="This image is an icon of one person interacting with three people ">
            <a:extLst>
              <a:ext uri="{FF2B5EF4-FFF2-40B4-BE49-F238E27FC236}">
                <a16:creationId xmlns:a16="http://schemas.microsoft.com/office/drawing/2014/main" xmlns="" id="{23348E2E-A7EF-4B89-8F8D-D88C5354E9D5}"/>
              </a:ext>
            </a:extLst>
          </p:cNvPr>
          <p:cNvGrpSpPr/>
          <p:nvPr/>
        </p:nvGrpSpPr>
        <p:grpSpPr>
          <a:xfrm>
            <a:off x="7319810" y="3356071"/>
            <a:ext cx="3075173" cy="1261884"/>
            <a:chOff x="7999616" y="3356071"/>
            <a:chExt cx="3075173" cy="1261884"/>
          </a:xfrm>
        </p:grpSpPr>
        <p:sp>
          <p:nvSpPr>
            <p:cNvPr id="190" name="Rectangle 189">
              <a:extLst>
                <a:ext uri="{FF2B5EF4-FFF2-40B4-BE49-F238E27FC236}">
                  <a16:creationId xmlns:a16="http://schemas.microsoft.com/office/drawing/2014/main" xmlns="" id="{80F4EEC6-F407-4E25-BBB6-C506B28F5A4C}"/>
                </a:ext>
              </a:extLst>
            </p:cNvPr>
            <p:cNvSpPr/>
            <p:nvPr/>
          </p:nvSpPr>
          <p:spPr>
            <a:xfrm>
              <a:off x="8586494" y="3356071"/>
              <a:ext cx="2488295" cy="1261884"/>
            </a:xfrm>
            <a:prstGeom prst="rect">
              <a:avLst/>
            </a:prstGeom>
          </p:spPr>
          <p:txBody>
            <a:bodyPr wrap="square" lIns="0" tIns="0" rIns="0" bIns="0" anchor="t">
              <a:spAutoFit/>
            </a:bodyPr>
            <a:lstStyle/>
            <a:p>
              <a:r>
                <a:rPr lang="en-US" sz="1600" i="1" dirty="0">
                  <a:solidFill>
                    <a:srgbClr val="002060"/>
                  </a:solidFill>
                  <a:latin typeface="+mj-lt"/>
                  <a:ea typeface="Calibri Light"/>
                  <a:cs typeface="Segoe UI"/>
                </a:rPr>
                <a:t>Population</a:t>
              </a:r>
            </a:p>
            <a:p>
              <a:r>
                <a:rPr lang="en-US" sz="1600" dirty="0">
                  <a:solidFill>
                    <a:srgbClr val="002060"/>
                  </a:solidFill>
                  <a:ea typeface="+mn-lt"/>
                  <a:cs typeface="+mn-lt"/>
                </a:rPr>
                <a:t>To capture population distribution across regions and demographic dimensions.</a:t>
              </a:r>
              <a:endParaRPr lang="en-US" dirty="0"/>
            </a:p>
            <a:p>
              <a:endParaRPr lang="en-US" dirty="0"/>
            </a:p>
          </p:txBody>
        </p:sp>
        <p:grpSp>
          <p:nvGrpSpPr>
            <p:cNvPr id="191" name="Group 190">
              <a:extLst>
                <a:ext uri="{FF2B5EF4-FFF2-40B4-BE49-F238E27FC236}">
                  <a16:creationId xmlns:a16="http://schemas.microsoft.com/office/drawing/2014/main" xmlns="" id="{0FD0F77B-65FD-413C-B2B0-1AD539DC68D3}"/>
                </a:ext>
              </a:extLst>
            </p:cNvPr>
            <p:cNvGrpSpPr/>
            <p:nvPr/>
          </p:nvGrpSpPr>
          <p:grpSpPr>
            <a:xfrm>
              <a:off x="7999616" y="3639194"/>
              <a:ext cx="330200" cy="346075"/>
              <a:chOff x="2686050" y="2895601"/>
              <a:chExt cx="330200" cy="346075"/>
            </a:xfrm>
          </p:grpSpPr>
          <p:sp>
            <p:nvSpPr>
              <p:cNvPr id="192" name="Oval 309">
                <a:extLst>
                  <a:ext uri="{FF2B5EF4-FFF2-40B4-BE49-F238E27FC236}">
                    <a16:creationId xmlns:a16="http://schemas.microsoft.com/office/drawing/2014/main" xmlns="" id="{C57EF862-9A10-430C-8004-66A9241CE18B}"/>
                  </a:ext>
                </a:extLst>
              </p:cNvPr>
              <p:cNvSpPr>
                <a:spLocks noChangeArrowheads="1"/>
              </p:cNvSpPr>
              <p:nvPr/>
            </p:nvSpPr>
            <p:spPr bwMode="auto">
              <a:xfrm>
                <a:off x="2809875" y="2895601"/>
                <a:ext cx="82550" cy="82550"/>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3" name="Freeform 310">
                <a:extLst>
                  <a:ext uri="{FF2B5EF4-FFF2-40B4-BE49-F238E27FC236}">
                    <a16:creationId xmlns:a16="http://schemas.microsoft.com/office/drawing/2014/main" xmlns="" id="{13EA5F29-D427-40C4-AB4D-3D59B3F699E4}"/>
                  </a:ext>
                </a:extLst>
              </p:cNvPr>
              <p:cNvSpPr>
                <a:spLocks/>
              </p:cNvSpPr>
              <p:nvPr/>
            </p:nvSpPr>
            <p:spPr bwMode="auto">
              <a:xfrm>
                <a:off x="2782888" y="2978151"/>
                <a:ext cx="134938" cy="66675"/>
              </a:xfrm>
              <a:custGeom>
                <a:avLst/>
                <a:gdLst>
                  <a:gd name="T0" fmla="*/ 36 w 36"/>
                  <a:gd name="T1" fmla="*/ 18 h 18"/>
                  <a:gd name="T2" fmla="*/ 0 w 36"/>
                  <a:gd name="T3" fmla="*/ 18 h 18"/>
                  <a:gd name="T4" fmla="*/ 18 w 36"/>
                  <a:gd name="T5" fmla="*/ 0 h 18"/>
                  <a:gd name="T6" fmla="*/ 36 w 36"/>
                  <a:gd name="T7" fmla="*/ 18 h 18"/>
                </a:gdLst>
                <a:ahLst/>
                <a:cxnLst>
                  <a:cxn ang="0">
                    <a:pos x="T0" y="T1"/>
                  </a:cxn>
                  <a:cxn ang="0">
                    <a:pos x="T2" y="T3"/>
                  </a:cxn>
                  <a:cxn ang="0">
                    <a:pos x="T4" y="T5"/>
                  </a:cxn>
                  <a:cxn ang="0">
                    <a:pos x="T6" y="T7"/>
                  </a:cxn>
                </a:cxnLst>
                <a:rect l="0" t="0" r="r" b="b"/>
                <a:pathLst>
                  <a:path w="36" h="18">
                    <a:moveTo>
                      <a:pt x="36" y="18"/>
                    </a:moveTo>
                    <a:cubicBezTo>
                      <a:pt x="0" y="18"/>
                      <a:pt x="0" y="18"/>
                      <a:pt x="0" y="18"/>
                    </a:cubicBezTo>
                    <a:cubicBezTo>
                      <a:pt x="0" y="8"/>
                      <a:pt x="8" y="0"/>
                      <a:pt x="18" y="0"/>
                    </a:cubicBezTo>
                    <a:cubicBezTo>
                      <a:pt x="28" y="0"/>
                      <a:pt x="36" y="8"/>
                      <a:pt x="36" y="18"/>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4" name="Oval 311">
                <a:extLst>
                  <a:ext uri="{FF2B5EF4-FFF2-40B4-BE49-F238E27FC236}">
                    <a16:creationId xmlns:a16="http://schemas.microsoft.com/office/drawing/2014/main" xmlns="" id="{D591DE3C-214D-426A-9B8E-741D87BAFB46}"/>
                  </a:ext>
                </a:extLst>
              </p:cNvPr>
              <p:cNvSpPr>
                <a:spLocks noChangeArrowheads="1"/>
              </p:cNvSpPr>
              <p:nvPr/>
            </p:nvSpPr>
            <p:spPr bwMode="auto">
              <a:xfrm>
                <a:off x="2708275"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5" name="Freeform 312">
                <a:extLst>
                  <a:ext uri="{FF2B5EF4-FFF2-40B4-BE49-F238E27FC236}">
                    <a16:creationId xmlns:a16="http://schemas.microsoft.com/office/drawing/2014/main" xmlns="" id="{921D329D-AC5C-496B-96D4-A220BC49B579}"/>
                  </a:ext>
                </a:extLst>
              </p:cNvPr>
              <p:cNvSpPr>
                <a:spLocks/>
              </p:cNvSpPr>
              <p:nvPr/>
            </p:nvSpPr>
            <p:spPr bwMode="auto">
              <a:xfrm>
                <a:off x="2686050"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6" name="Oval 313">
                <a:extLst>
                  <a:ext uri="{FF2B5EF4-FFF2-40B4-BE49-F238E27FC236}">
                    <a16:creationId xmlns:a16="http://schemas.microsoft.com/office/drawing/2014/main" xmlns="" id="{87933186-B346-44AC-85AA-CA346F5FBDEE}"/>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7" name="Freeform 314">
                <a:extLst>
                  <a:ext uri="{FF2B5EF4-FFF2-40B4-BE49-F238E27FC236}">
                    <a16:creationId xmlns:a16="http://schemas.microsoft.com/office/drawing/2014/main" xmlns="" id="{E0E3BA39-8375-478D-9CF6-4EC7438136A6}"/>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8" name="Oval 315">
                <a:extLst>
                  <a:ext uri="{FF2B5EF4-FFF2-40B4-BE49-F238E27FC236}">
                    <a16:creationId xmlns:a16="http://schemas.microsoft.com/office/drawing/2014/main" xmlns="" id="{550D4481-BC6A-476D-80E1-F12F8ED9F75F}"/>
                  </a:ext>
                </a:extLst>
              </p:cNvPr>
              <p:cNvSpPr>
                <a:spLocks noChangeArrowheads="1"/>
              </p:cNvSpPr>
              <p:nvPr/>
            </p:nvSpPr>
            <p:spPr bwMode="auto">
              <a:xfrm>
                <a:off x="2933700"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99" name="Freeform 316">
                <a:extLst>
                  <a:ext uri="{FF2B5EF4-FFF2-40B4-BE49-F238E27FC236}">
                    <a16:creationId xmlns:a16="http://schemas.microsoft.com/office/drawing/2014/main" xmlns="" id="{951EE685-6291-44F0-81B1-A3B5791D1C54}"/>
                  </a:ext>
                </a:extLst>
              </p:cNvPr>
              <p:cNvSpPr>
                <a:spLocks/>
              </p:cNvSpPr>
              <p:nvPr/>
            </p:nvSpPr>
            <p:spPr bwMode="auto">
              <a:xfrm>
                <a:off x="2911475"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200" name="Oval 317">
                <a:extLst>
                  <a:ext uri="{FF2B5EF4-FFF2-40B4-BE49-F238E27FC236}">
                    <a16:creationId xmlns:a16="http://schemas.microsoft.com/office/drawing/2014/main" xmlns="" id="{1822195B-E26A-4DF0-B1B1-A36823632E74}"/>
                  </a:ext>
                </a:extLst>
              </p:cNvPr>
              <p:cNvSpPr>
                <a:spLocks noChangeArrowheads="1"/>
              </p:cNvSpPr>
              <p:nvPr/>
            </p:nvSpPr>
            <p:spPr bwMode="auto">
              <a:xfrm>
                <a:off x="2820988" y="3128963"/>
                <a:ext cx="60325" cy="587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201" name="Freeform 318">
                <a:extLst>
                  <a:ext uri="{FF2B5EF4-FFF2-40B4-BE49-F238E27FC236}">
                    <a16:creationId xmlns:a16="http://schemas.microsoft.com/office/drawing/2014/main" xmlns="" id="{E33AF9C8-AD93-4E36-9887-B8B748838EED}"/>
                  </a:ext>
                </a:extLst>
              </p:cNvPr>
              <p:cNvSpPr>
                <a:spLocks/>
              </p:cNvSpPr>
              <p:nvPr/>
            </p:nvSpPr>
            <p:spPr bwMode="auto">
              <a:xfrm>
                <a:off x="2798763" y="3187701"/>
                <a:ext cx="104775" cy="53975"/>
              </a:xfrm>
              <a:custGeom>
                <a:avLst/>
                <a:gdLst>
                  <a:gd name="T0" fmla="*/ 28 w 28"/>
                  <a:gd name="T1" fmla="*/ 14 h 14"/>
                  <a:gd name="T2" fmla="*/ 0 w 28"/>
                  <a:gd name="T3" fmla="*/ 14 h 14"/>
                  <a:gd name="T4" fmla="*/ 14 w 28"/>
                  <a:gd name="T5" fmla="*/ 0 h 14"/>
                  <a:gd name="T6" fmla="*/ 28 w 28"/>
                  <a:gd name="T7" fmla="*/ 14 h 14"/>
                </a:gdLst>
                <a:ahLst/>
                <a:cxnLst>
                  <a:cxn ang="0">
                    <a:pos x="T0" y="T1"/>
                  </a:cxn>
                  <a:cxn ang="0">
                    <a:pos x="T2" y="T3"/>
                  </a:cxn>
                  <a:cxn ang="0">
                    <a:pos x="T4" y="T5"/>
                  </a:cxn>
                  <a:cxn ang="0">
                    <a:pos x="T6" y="T7"/>
                  </a:cxn>
                </a:cxnLst>
                <a:rect l="0" t="0" r="r" b="b"/>
                <a:pathLst>
                  <a:path w="28" h="14">
                    <a:moveTo>
                      <a:pt x="28" y="14"/>
                    </a:moveTo>
                    <a:cubicBezTo>
                      <a:pt x="0" y="14"/>
                      <a:pt x="0" y="14"/>
                      <a:pt x="0" y="14"/>
                    </a:cubicBezTo>
                    <a:cubicBezTo>
                      <a:pt x="0" y="6"/>
                      <a:pt x="6" y="0"/>
                      <a:pt x="14" y="0"/>
                    </a:cubicBezTo>
                    <a:cubicBezTo>
                      <a:pt x="22" y="0"/>
                      <a:pt x="28" y="6"/>
                      <a:pt x="28" y="14"/>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202" name="Freeform 319">
                <a:extLst>
                  <a:ext uri="{FF2B5EF4-FFF2-40B4-BE49-F238E27FC236}">
                    <a16:creationId xmlns:a16="http://schemas.microsoft.com/office/drawing/2014/main" xmlns="" id="{3E3913FB-5C76-4699-89D5-5A71454116E9}"/>
                  </a:ext>
                </a:extLst>
              </p:cNvPr>
              <p:cNvSpPr>
                <a:spLocks/>
              </p:cNvSpPr>
              <p:nvPr/>
            </p:nvSpPr>
            <p:spPr bwMode="auto">
              <a:xfrm>
                <a:off x="2738438" y="3074988"/>
                <a:ext cx="225425" cy="15875"/>
              </a:xfrm>
              <a:custGeom>
                <a:avLst/>
                <a:gdLst>
                  <a:gd name="T0" fmla="*/ 0 w 142"/>
                  <a:gd name="T1" fmla="*/ 10 h 10"/>
                  <a:gd name="T2" fmla="*/ 0 w 142"/>
                  <a:gd name="T3" fmla="*/ 0 h 10"/>
                  <a:gd name="T4" fmla="*/ 142 w 142"/>
                  <a:gd name="T5" fmla="*/ 0 h 10"/>
                  <a:gd name="T6" fmla="*/ 142 w 142"/>
                  <a:gd name="T7" fmla="*/ 10 h 10"/>
                </a:gdLst>
                <a:ahLst/>
                <a:cxnLst>
                  <a:cxn ang="0">
                    <a:pos x="T0" y="T1"/>
                  </a:cxn>
                  <a:cxn ang="0">
                    <a:pos x="T2" y="T3"/>
                  </a:cxn>
                  <a:cxn ang="0">
                    <a:pos x="T4" y="T5"/>
                  </a:cxn>
                  <a:cxn ang="0">
                    <a:pos x="T6" y="T7"/>
                  </a:cxn>
                </a:cxnLst>
                <a:rect l="0" t="0" r="r" b="b"/>
                <a:pathLst>
                  <a:path w="142" h="10">
                    <a:moveTo>
                      <a:pt x="0" y="10"/>
                    </a:moveTo>
                    <a:lnTo>
                      <a:pt x="0" y="0"/>
                    </a:lnTo>
                    <a:lnTo>
                      <a:pt x="142" y="0"/>
                    </a:lnTo>
                    <a:lnTo>
                      <a:pt x="142" y="10"/>
                    </a:ln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203" name="Line 320">
                <a:extLst>
                  <a:ext uri="{FF2B5EF4-FFF2-40B4-BE49-F238E27FC236}">
                    <a16:creationId xmlns:a16="http://schemas.microsoft.com/office/drawing/2014/main" xmlns="" id="{C96335B1-62B8-4482-A67B-BE60CF58E363}"/>
                  </a:ext>
                </a:extLst>
              </p:cNvPr>
              <p:cNvSpPr>
                <a:spLocks noChangeShapeType="1"/>
              </p:cNvSpPr>
              <p:nvPr/>
            </p:nvSpPr>
            <p:spPr bwMode="auto">
              <a:xfrm>
                <a:off x="2851150" y="3044826"/>
                <a:ext cx="0" cy="46038"/>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grpSp>
      <p:grpSp>
        <p:nvGrpSpPr>
          <p:cNvPr id="205" name="Group 204" descr="This image is an icon of three people interacting. ">
            <a:extLst>
              <a:ext uri="{FF2B5EF4-FFF2-40B4-BE49-F238E27FC236}">
                <a16:creationId xmlns:a16="http://schemas.microsoft.com/office/drawing/2014/main" xmlns="" id="{45696519-F308-4262-9DC5-C541B866A807}"/>
              </a:ext>
            </a:extLst>
          </p:cNvPr>
          <p:cNvGrpSpPr/>
          <p:nvPr/>
        </p:nvGrpSpPr>
        <p:grpSpPr>
          <a:xfrm>
            <a:off x="7311873" y="4585210"/>
            <a:ext cx="3697374" cy="984885"/>
            <a:chOff x="7991679" y="4585210"/>
            <a:chExt cx="3697374" cy="984885"/>
          </a:xfrm>
        </p:grpSpPr>
        <p:grpSp>
          <p:nvGrpSpPr>
            <p:cNvPr id="174" name="Group 173">
              <a:extLst>
                <a:ext uri="{FF2B5EF4-FFF2-40B4-BE49-F238E27FC236}">
                  <a16:creationId xmlns:a16="http://schemas.microsoft.com/office/drawing/2014/main" xmlns="" id="{292DC2AF-B08E-43EC-A60D-B71EFEF8E4D1}"/>
                </a:ext>
              </a:extLst>
            </p:cNvPr>
            <p:cNvGrpSpPr/>
            <p:nvPr/>
          </p:nvGrpSpPr>
          <p:grpSpPr>
            <a:xfrm>
              <a:off x="7991679" y="4627292"/>
              <a:ext cx="346075" cy="346075"/>
              <a:chOff x="3398838" y="2895601"/>
              <a:chExt cx="346075" cy="346075"/>
            </a:xfrm>
          </p:grpSpPr>
          <p:sp>
            <p:nvSpPr>
              <p:cNvPr id="176" name="Freeform 49">
                <a:extLst>
                  <a:ext uri="{FF2B5EF4-FFF2-40B4-BE49-F238E27FC236}">
                    <a16:creationId xmlns:a16="http://schemas.microsoft.com/office/drawing/2014/main" xmlns="" id="{17CD577B-CBE6-4837-A90F-4F36762E5332}"/>
                  </a:ext>
                </a:extLst>
              </p:cNvPr>
              <p:cNvSpPr>
                <a:spLocks/>
              </p:cNvSpPr>
              <p:nvPr/>
            </p:nvSpPr>
            <p:spPr bwMode="auto">
              <a:xfrm>
                <a:off x="3398838"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7" name="Freeform 50">
                <a:extLst>
                  <a:ext uri="{FF2B5EF4-FFF2-40B4-BE49-F238E27FC236}">
                    <a16:creationId xmlns:a16="http://schemas.microsoft.com/office/drawing/2014/main" xmlns="" id="{8BB81587-7777-4AE5-985D-5B14D33AD60C}"/>
                  </a:ext>
                </a:extLst>
              </p:cNvPr>
              <p:cNvSpPr>
                <a:spLocks/>
              </p:cNvSpPr>
              <p:nvPr/>
            </p:nvSpPr>
            <p:spPr bwMode="auto">
              <a:xfrm>
                <a:off x="3467101"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8" name="Oval 51">
                <a:extLst>
                  <a:ext uri="{FF2B5EF4-FFF2-40B4-BE49-F238E27FC236}">
                    <a16:creationId xmlns:a16="http://schemas.microsoft.com/office/drawing/2014/main" xmlns="" id="{49EA0197-339C-4417-A18C-DC15037A9717}"/>
                  </a:ext>
                </a:extLst>
              </p:cNvPr>
              <p:cNvSpPr>
                <a:spLocks noChangeArrowheads="1"/>
              </p:cNvSpPr>
              <p:nvPr/>
            </p:nvSpPr>
            <p:spPr bwMode="auto">
              <a:xfrm>
                <a:off x="3429001"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9" name="Freeform 52">
                <a:extLst>
                  <a:ext uri="{FF2B5EF4-FFF2-40B4-BE49-F238E27FC236}">
                    <a16:creationId xmlns:a16="http://schemas.microsoft.com/office/drawing/2014/main" xmlns="" id="{203C108E-5283-4E7B-B970-0E4DF3AF3AEC}"/>
                  </a:ext>
                </a:extLst>
              </p:cNvPr>
              <p:cNvSpPr>
                <a:spLocks/>
              </p:cNvSpPr>
              <p:nvPr/>
            </p:nvSpPr>
            <p:spPr bwMode="auto">
              <a:xfrm>
                <a:off x="3429001"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0" name="Freeform 53">
                <a:extLst>
                  <a:ext uri="{FF2B5EF4-FFF2-40B4-BE49-F238E27FC236}">
                    <a16:creationId xmlns:a16="http://schemas.microsoft.com/office/drawing/2014/main" xmlns="" id="{4A82F405-C833-4408-A2F0-752E2D6C80A8}"/>
                  </a:ext>
                </a:extLst>
              </p:cNvPr>
              <p:cNvSpPr>
                <a:spLocks/>
              </p:cNvSpPr>
              <p:nvPr/>
            </p:nvSpPr>
            <p:spPr bwMode="auto">
              <a:xfrm>
                <a:off x="3594101" y="2986089"/>
                <a:ext cx="82550" cy="58738"/>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1" name="Freeform 54">
                <a:extLst>
                  <a:ext uri="{FF2B5EF4-FFF2-40B4-BE49-F238E27FC236}">
                    <a16:creationId xmlns:a16="http://schemas.microsoft.com/office/drawing/2014/main" xmlns="" id="{895EA8D0-BBA4-4370-A965-F96A9EDD4249}"/>
                  </a:ext>
                </a:extLst>
              </p:cNvPr>
              <p:cNvSpPr>
                <a:spLocks/>
              </p:cNvSpPr>
              <p:nvPr/>
            </p:nvSpPr>
            <p:spPr bwMode="auto">
              <a:xfrm>
                <a:off x="3662363" y="2986089"/>
                <a:ext cx="82550" cy="58738"/>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2" name="Oval 55">
                <a:extLst>
                  <a:ext uri="{FF2B5EF4-FFF2-40B4-BE49-F238E27FC236}">
                    <a16:creationId xmlns:a16="http://schemas.microsoft.com/office/drawing/2014/main" xmlns="" id="{94D90E4F-09C7-44B0-9D11-E32A4A0208BC}"/>
                  </a:ext>
                </a:extLst>
              </p:cNvPr>
              <p:cNvSpPr>
                <a:spLocks noChangeArrowheads="1"/>
              </p:cNvSpPr>
              <p:nvPr/>
            </p:nvSpPr>
            <p:spPr bwMode="auto">
              <a:xfrm>
                <a:off x="3624263" y="2895601"/>
                <a:ext cx="90488"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3" name="Freeform 56">
                <a:extLst>
                  <a:ext uri="{FF2B5EF4-FFF2-40B4-BE49-F238E27FC236}">
                    <a16:creationId xmlns:a16="http://schemas.microsoft.com/office/drawing/2014/main" xmlns="" id="{0D6D6DA1-3425-44CA-B1CB-B326D2C50D5D}"/>
                  </a:ext>
                </a:extLst>
              </p:cNvPr>
              <p:cNvSpPr>
                <a:spLocks/>
              </p:cNvSpPr>
              <p:nvPr/>
            </p:nvSpPr>
            <p:spPr bwMode="auto">
              <a:xfrm>
                <a:off x="3624263" y="2928939"/>
                <a:ext cx="90488" cy="14288"/>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4" name="Freeform 57">
                <a:extLst>
                  <a:ext uri="{FF2B5EF4-FFF2-40B4-BE49-F238E27FC236}">
                    <a16:creationId xmlns:a16="http://schemas.microsoft.com/office/drawing/2014/main" xmlns="" id="{A25CE64B-B92A-4562-B048-0FA2A21CB7F4}"/>
                  </a:ext>
                </a:extLst>
              </p:cNvPr>
              <p:cNvSpPr>
                <a:spLocks/>
              </p:cNvSpPr>
              <p:nvPr/>
            </p:nvSpPr>
            <p:spPr bwMode="auto">
              <a:xfrm>
                <a:off x="3497263" y="3181351"/>
                <a:ext cx="82550" cy="60325"/>
              </a:xfrm>
              <a:custGeom>
                <a:avLst/>
                <a:gdLst>
                  <a:gd name="T0" fmla="*/ 14 w 22"/>
                  <a:gd name="T1" fmla="*/ 0 h 16"/>
                  <a:gd name="T2" fmla="*/ 14 w 22"/>
                  <a:gd name="T3" fmla="*/ 6 h 16"/>
                  <a:gd name="T4" fmla="*/ 4 w 22"/>
                  <a:gd name="T5" fmla="*/ 9 h 16"/>
                  <a:gd name="T6" fmla="*/ 0 w 22"/>
                  <a:gd name="T7" fmla="*/ 14 h 16"/>
                  <a:gd name="T8" fmla="*/ 0 w 22"/>
                  <a:gd name="T9" fmla="*/ 16 h 16"/>
                  <a:gd name="T10" fmla="*/ 22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5" name="Freeform 58">
                <a:extLst>
                  <a:ext uri="{FF2B5EF4-FFF2-40B4-BE49-F238E27FC236}">
                    <a16:creationId xmlns:a16="http://schemas.microsoft.com/office/drawing/2014/main" xmlns="" id="{80861AE6-B038-4B8C-9EF0-109DEB591A97}"/>
                  </a:ext>
                </a:extLst>
              </p:cNvPr>
              <p:cNvSpPr>
                <a:spLocks/>
              </p:cNvSpPr>
              <p:nvPr/>
            </p:nvSpPr>
            <p:spPr bwMode="auto">
              <a:xfrm>
                <a:off x="3563938" y="3181351"/>
                <a:ext cx="82550" cy="60325"/>
              </a:xfrm>
              <a:custGeom>
                <a:avLst/>
                <a:gdLst>
                  <a:gd name="T0" fmla="*/ 8 w 22"/>
                  <a:gd name="T1" fmla="*/ 0 h 16"/>
                  <a:gd name="T2" fmla="*/ 8 w 22"/>
                  <a:gd name="T3" fmla="*/ 6 h 16"/>
                  <a:gd name="T4" fmla="*/ 18 w 22"/>
                  <a:gd name="T5" fmla="*/ 9 h 16"/>
                  <a:gd name="T6" fmla="*/ 22 w 22"/>
                  <a:gd name="T7" fmla="*/ 14 h 16"/>
                  <a:gd name="T8" fmla="*/ 22 w 22"/>
                  <a:gd name="T9" fmla="*/ 16 h 16"/>
                  <a:gd name="T10" fmla="*/ 0 w 22"/>
                  <a:gd name="T11" fmla="*/ 16 h 16"/>
                </a:gdLst>
                <a:ahLst/>
                <a:cxnLst>
                  <a:cxn ang="0">
                    <a:pos x="T0" y="T1"/>
                  </a:cxn>
                  <a:cxn ang="0">
                    <a:pos x="T2" y="T3"/>
                  </a:cxn>
                  <a:cxn ang="0">
                    <a:pos x="T4" y="T5"/>
                  </a:cxn>
                  <a:cxn ang="0">
                    <a:pos x="T6" y="T7"/>
                  </a:cxn>
                  <a:cxn ang="0">
                    <a:pos x="T8" y="T9"/>
                  </a:cxn>
                  <a:cxn ang="0">
                    <a:pos x="T10" y="T11"/>
                  </a:cxn>
                </a:cxnLst>
                <a:rect l="0" t="0" r="r" b="b"/>
                <a:pathLst>
                  <a:path w="22" h="16">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6" name="Oval 59">
                <a:extLst>
                  <a:ext uri="{FF2B5EF4-FFF2-40B4-BE49-F238E27FC236}">
                    <a16:creationId xmlns:a16="http://schemas.microsoft.com/office/drawing/2014/main" xmlns="" id="{2505D730-7819-4CDD-9F00-8E9CEC3DF49F}"/>
                  </a:ext>
                </a:extLst>
              </p:cNvPr>
              <p:cNvSpPr>
                <a:spLocks noChangeArrowheads="1"/>
              </p:cNvSpPr>
              <p:nvPr/>
            </p:nvSpPr>
            <p:spPr bwMode="auto">
              <a:xfrm>
                <a:off x="3527426" y="3090864"/>
                <a:ext cx="88900" cy="96838"/>
              </a:xfrm>
              <a:prstGeom prst="ellipse">
                <a:avLst/>
              </a:pr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7" name="Freeform 60">
                <a:extLst>
                  <a:ext uri="{FF2B5EF4-FFF2-40B4-BE49-F238E27FC236}">
                    <a16:creationId xmlns:a16="http://schemas.microsoft.com/office/drawing/2014/main" xmlns="" id="{88FBFC84-B4E6-4DDD-9DD0-1BB91EA0E022}"/>
                  </a:ext>
                </a:extLst>
              </p:cNvPr>
              <p:cNvSpPr>
                <a:spLocks/>
              </p:cNvSpPr>
              <p:nvPr/>
            </p:nvSpPr>
            <p:spPr bwMode="auto">
              <a:xfrm>
                <a:off x="3527426" y="3124201"/>
                <a:ext cx="88900" cy="15875"/>
              </a:xfrm>
              <a:custGeom>
                <a:avLst/>
                <a:gdLst>
                  <a:gd name="T0" fmla="*/ 24 w 24"/>
                  <a:gd name="T1" fmla="*/ 2 h 4"/>
                  <a:gd name="T2" fmla="*/ 14 w 24"/>
                  <a:gd name="T3" fmla="*/ 0 h 4"/>
                  <a:gd name="T4" fmla="*/ 0 w 24"/>
                  <a:gd name="T5" fmla="*/ 1 h 4"/>
                </a:gdLst>
                <a:ahLst/>
                <a:cxnLst>
                  <a:cxn ang="0">
                    <a:pos x="T0" y="T1"/>
                  </a:cxn>
                  <a:cxn ang="0">
                    <a:pos x="T2" y="T3"/>
                  </a:cxn>
                  <a:cxn ang="0">
                    <a:pos x="T4" y="T5"/>
                  </a:cxn>
                </a:cxnLst>
                <a:rect l="0" t="0" r="r" b="b"/>
                <a:pathLst>
                  <a:path w="24" h="4">
                    <a:moveTo>
                      <a:pt x="24" y="2"/>
                    </a:moveTo>
                    <a:cubicBezTo>
                      <a:pt x="22" y="4"/>
                      <a:pt x="16" y="4"/>
                      <a:pt x="14" y="0"/>
                    </a:cubicBezTo>
                    <a:cubicBezTo>
                      <a:pt x="10" y="4"/>
                      <a:pt x="3" y="4"/>
                      <a:pt x="0" y="1"/>
                    </a:cubicBezTo>
                  </a:path>
                </a:pathLst>
              </a:custGeom>
              <a:noFill/>
              <a:ln w="14288" cap="flat">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8" name="Line 61">
                <a:extLst>
                  <a:ext uri="{FF2B5EF4-FFF2-40B4-BE49-F238E27FC236}">
                    <a16:creationId xmlns:a16="http://schemas.microsoft.com/office/drawing/2014/main" xmlns="" id="{9689C86A-B365-433F-B326-C60DC116B48F}"/>
                  </a:ext>
                </a:extLst>
              </p:cNvPr>
              <p:cNvSpPr>
                <a:spLocks noChangeShapeType="1"/>
              </p:cNvSpPr>
              <p:nvPr/>
            </p:nvSpPr>
            <p:spPr bwMode="auto">
              <a:xfrm>
                <a:off x="34512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89" name="Line 62">
                <a:extLst>
                  <a:ext uri="{FF2B5EF4-FFF2-40B4-BE49-F238E27FC236}">
                    <a16:creationId xmlns:a16="http://schemas.microsoft.com/office/drawing/2014/main" xmlns="" id="{ED368EF9-22A8-4990-9D2E-549C76157C0F}"/>
                  </a:ext>
                </a:extLst>
              </p:cNvPr>
              <p:cNvSpPr>
                <a:spLocks noChangeShapeType="1"/>
              </p:cNvSpPr>
              <p:nvPr/>
            </p:nvSpPr>
            <p:spPr bwMode="auto">
              <a:xfrm flipH="1">
                <a:off x="3654426" y="3074989"/>
                <a:ext cx="38100" cy="38100"/>
              </a:xfrm>
              <a:prstGeom prst="line">
                <a:avLst/>
              </a:prstGeom>
              <a:noFill/>
              <a:ln w="14288" cap="rnd">
                <a:solidFill>
                  <a:srgbClr val="002060"/>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sp>
          <p:nvSpPr>
            <p:cNvPr id="175" name="Rectangle 174">
              <a:extLst>
                <a:ext uri="{FF2B5EF4-FFF2-40B4-BE49-F238E27FC236}">
                  <a16:creationId xmlns:a16="http://schemas.microsoft.com/office/drawing/2014/main" xmlns="" id="{E522F3F9-ECF0-4D2A-9244-1942DCB20E98}"/>
                </a:ext>
              </a:extLst>
            </p:cNvPr>
            <p:cNvSpPr/>
            <p:nvPr/>
          </p:nvSpPr>
          <p:spPr>
            <a:xfrm>
              <a:off x="8578718" y="4585210"/>
              <a:ext cx="3110335" cy="984885"/>
            </a:xfrm>
            <a:prstGeom prst="rect">
              <a:avLst/>
            </a:prstGeom>
          </p:spPr>
          <p:txBody>
            <a:bodyPr wrap="square" lIns="0" tIns="0" rIns="0" bIns="0" anchor="t">
              <a:spAutoFit/>
            </a:bodyPr>
            <a:lstStyle/>
            <a:p>
              <a:r>
                <a:rPr lang="en-US" sz="1600" i="1" dirty="0">
                  <a:solidFill>
                    <a:srgbClr val="002060"/>
                  </a:solidFill>
                  <a:latin typeface="Calibri Light"/>
                  <a:ea typeface="Calibri"/>
                  <a:cs typeface="Calibri"/>
                </a:rPr>
                <a:t>Literacy</a:t>
              </a:r>
            </a:p>
            <a:p>
              <a:r>
                <a:rPr lang="en-US" sz="1600" dirty="0">
                  <a:solidFill>
                    <a:srgbClr val="002060"/>
                  </a:solidFill>
                  <a:latin typeface="Calibri"/>
                  <a:ea typeface="Calibri"/>
                  <a:cs typeface="Calibri"/>
                </a:rPr>
                <a:t>To analyze literacy levels across regions and demographic groups.</a:t>
              </a:r>
              <a:endParaRPr lang="en-US" sz="1600">
                <a:solidFill>
                  <a:srgbClr val="000000"/>
                </a:solidFill>
                <a:latin typeface="Calibri"/>
                <a:ea typeface="Calibri"/>
                <a:cs typeface="Calibri"/>
              </a:endParaRPr>
            </a:p>
            <a:p>
              <a:endParaRPr lang="en-US" sz="1600" dirty="0">
                <a:solidFill>
                  <a:srgbClr val="002060"/>
                </a:solidFill>
                <a:latin typeface="Calibri"/>
                <a:ea typeface="Calibri"/>
                <a:cs typeface="Calibri"/>
              </a:endParaRPr>
            </a:p>
          </p:txBody>
        </p:sp>
      </p:grpSp>
      <p:grpSp>
        <p:nvGrpSpPr>
          <p:cNvPr id="204" name="Group 203" descr="This image is an icon of three people with a symbol that indicates connection to the internet. ">
            <a:extLst>
              <a:ext uri="{FF2B5EF4-FFF2-40B4-BE49-F238E27FC236}">
                <a16:creationId xmlns:a16="http://schemas.microsoft.com/office/drawing/2014/main" xmlns="" id="{BCE3CAEB-5C3F-4903-9D74-1EC0A2984EE9}"/>
              </a:ext>
            </a:extLst>
          </p:cNvPr>
          <p:cNvGrpSpPr/>
          <p:nvPr/>
        </p:nvGrpSpPr>
        <p:grpSpPr>
          <a:xfrm>
            <a:off x="7319810" y="5549982"/>
            <a:ext cx="3456172" cy="1231106"/>
            <a:chOff x="7999616" y="5549982"/>
            <a:chExt cx="3456172" cy="1231106"/>
          </a:xfrm>
        </p:grpSpPr>
        <p:grpSp>
          <p:nvGrpSpPr>
            <p:cNvPr id="163" name="Group 162">
              <a:extLst>
                <a:ext uri="{FF2B5EF4-FFF2-40B4-BE49-F238E27FC236}">
                  <a16:creationId xmlns:a16="http://schemas.microsoft.com/office/drawing/2014/main" xmlns="" id="{E79FB62D-7154-40A3-BB31-9A0934208E2F}"/>
                </a:ext>
              </a:extLst>
            </p:cNvPr>
            <p:cNvGrpSpPr/>
            <p:nvPr/>
          </p:nvGrpSpPr>
          <p:grpSpPr>
            <a:xfrm>
              <a:off x="7999616" y="5630472"/>
              <a:ext cx="330200" cy="315913"/>
              <a:chOff x="4127500" y="2909888"/>
              <a:chExt cx="330200" cy="315913"/>
            </a:xfrm>
          </p:grpSpPr>
          <p:sp>
            <p:nvSpPr>
              <p:cNvPr id="165" name="Oval 268">
                <a:extLst>
                  <a:ext uri="{FF2B5EF4-FFF2-40B4-BE49-F238E27FC236}">
                    <a16:creationId xmlns:a16="http://schemas.microsoft.com/office/drawing/2014/main" xmlns="" id="{BD72EF5D-EE26-4982-B3AB-9CF584441806}"/>
                  </a:ext>
                </a:extLst>
              </p:cNvPr>
              <p:cNvSpPr>
                <a:spLocks noChangeArrowheads="1"/>
              </p:cNvSpPr>
              <p:nvPr/>
            </p:nvSpPr>
            <p:spPr bwMode="auto">
              <a:xfrm>
                <a:off x="4149725" y="3060701"/>
                <a:ext cx="76200" cy="74613"/>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66" name="Freeform 269">
                <a:extLst>
                  <a:ext uri="{FF2B5EF4-FFF2-40B4-BE49-F238E27FC236}">
                    <a16:creationId xmlns:a16="http://schemas.microsoft.com/office/drawing/2014/main" xmlns="" id="{D9F3CD5B-3BA2-4D51-A0BD-6E802941FDCF}"/>
                  </a:ext>
                </a:extLst>
              </p:cNvPr>
              <p:cNvSpPr>
                <a:spLocks/>
              </p:cNvSpPr>
              <p:nvPr/>
            </p:nvSpPr>
            <p:spPr bwMode="auto">
              <a:xfrm>
                <a:off x="4127500" y="3135313"/>
                <a:ext cx="109538" cy="60325"/>
              </a:xfrm>
              <a:custGeom>
                <a:avLst/>
                <a:gdLst>
                  <a:gd name="T0" fmla="*/ 22 w 29"/>
                  <a:gd name="T1" fmla="*/ 16 h 16"/>
                  <a:gd name="T2" fmla="*/ 0 w 29"/>
                  <a:gd name="T3" fmla="*/ 16 h 16"/>
                  <a:gd name="T4" fmla="*/ 16 w 29"/>
                  <a:gd name="T5" fmla="*/ 0 h 16"/>
                  <a:gd name="T6" fmla="*/ 29 w 29"/>
                  <a:gd name="T7" fmla="*/ 7 h 16"/>
                </a:gdLst>
                <a:ahLst/>
                <a:cxnLst>
                  <a:cxn ang="0">
                    <a:pos x="T0" y="T1"/>
                  </a:cxn>
                  <a:cxn ang="0">
                    <a:pos x="T2" y="T3"/>
                  </a:cxn>
                  <a:cxn ang="0">
                    <a:pos x="T4" y="T5"/>
                  </a:cxn>
                  <a:cxn ang="0">
                    <a:pos x="T6" y="T7"/>
                  </a:cxn>
                </a:cxnLst>
                <a:rect l="0" t="0" r="r" b="b"/>
                <a:pathLst>
                  <a:path w="29" h="16">
                    <a:moveTo>
                      <a:pt x="22" y="16"/>
                    </a:moveTo>
                    <a:cubicBezTo>
                      <a:pt x="0" y="16"/>
                      <a:pt x="0" y="16"/>
                      <a:pt x="0" y="16"/>
                    </a:cubicBezTo>
                    <a:cubicBezTo>
                      <a:pt x="0" y="7"/>
                      <a:pt x="7" y="0"/>
                      <a:pt x="16" y="0"/>
                    </a:cubicBezTo>
                    <a:cubicBezTo>
                      <a:pt x="21" y="0"/>
                      <a:pt x="26" y="3"/>
                      <a:pt x="29" y="7"/>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67" name="Oval 270">
                <a:extLst>
                  <a:ext uri="{FF2B5EF4-FFF2-40B4-BE49-F238E27FC236}">
                    <a16:creationId xmlns:a16="http://schemas.microsoft.com/office/drawing/2014/main" xmlns="" id="{85B43E76-36A9-4667-852E-AD239EC04C43}"/>
                  </a:ext>
                </a:extLst>
              </p:cNvPr>
              <p:cNvSpPr>
                <a:spLocks noChangeArrowheads="1"/>
              </p:cNvSpPr>
              <p:nvPr/>
            </p:nvSpPr>
            <p:spPr bwMode="auto">
              <a:xfrm>
                <a:off x="4360863" y="3060701"/>
                <a:ext cx="74613" cy="74613"/>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68" name="Freeform 271">
                <a:extLst>
                  <a:ext uri="{FF2B5EF4-FFF2-40B4-BE49-F238E27FC236}">
                    <a16:creationId xmlns:a16="http://schemas.microsoft.com/office/drawing/2014/main" xmlns="" id="{DFF4B198-89FE-47D5-B7B7-8C893ABCC5FF}"/>
                  </a:ext>
                </a:extLst>
              </p:cNvPr>
              <p:cNvSpPr>
                <a:spLocks/>
              </p:cNvSpPr>
              <p:nvPr/>
            </p:nvSpPr>
            <p:spPr bwMode="auto">
              <a:xfrm>
                <a:off x="4349750" y="3135313"/>
                <a:ext cx="107950" cy="60325"/>
              </a:xfrm>
              <a:custGeom>
                <a:avLst/>
                <a:gdLst>
                  <a:gd name="T0" fmla="*/ 0 w 29"/>
                  <a:gd name="T1" fmla="*/ 7 h 16"/>
                  <a:gd name="T2" fmla="*/ 13 w 29"/>
                  <a:gd name="T3" fmla="*/ 0 h 16"/>
                  <a:gd name="T4" fmla="*/ 29 w 29"/>
                  <a:gd name="T5" fmla="*/ 16 h 16"/>
                  <a:gd name="T6" fmla="*/ 7 w 29"/>
                  <a:gd name="T7" fmla="*/ 16 h 16"/>
                </a:gdLst>
                <a:ahLst/>
                <a:cxnLst>
                  <a:cxn ang="0">
                    <a:pos x="T0" y="T1"/>
                  </a:cxn>
                  <a:cxn ang="0">
                    <a:pos x="T2" y="T3"/>
                  </a:cxn>
                  <a:cxn ang="0">
                    <a:pos x="T4" y="T5"/>
                  </a:cxn>
                  <a:cxn ang="0">
                    <a:pos x="T6" y="T7"/>
                  </a:cxn>
                </a:cxnLst>
                <a:rect l="0" t="0" r="r" b="b"/>
                <a:pathLst>
                  <a:path w="29" h="16">
                    <a:moveTo>
                      <a:pt x="0" y="7"/>
                    </a:moveTo>
                    <a:cubicBezTo>
                      <a:pt x="3" y="3"/>
                      <a:pt x="8" y="0"/>
                      <a:pt x="13" y="0"/>
                    </a:cubicBezTo>
                    <a:cubicBezTo>
                      <a:pt x="22" y="0"/>
                      <a:pt x="29" y="7"/>
                      <a:pt x="29" y="16"/>
                    </a:cubicBezTo>
                    <a:cubicBezTo>
                      <a:pt x="7" y="16"/>
                      <a:pt x="7" y="16"/>
                      <a:pt x="7" y="16"/>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69" name="Oval 272">
                <a:extLst>
                  <a:ext uri="{FF2B5EF4-FFF2-40B4-BE49-F238E27FC236}">
                    <a16:creationId xmlns:a16="http://schemas.microsoft.com/office/drawing/2014/main" xmlns="" id="{CE8C1F83-6F38-4A0B-8E08-4398BEC1DDBB}"/>
                  </a:ext>
                </a:extLst>
              </p:cNvPr>
              <p:cNvSpPr>
                <a:spLocks noChangeArrowheads="1"/>
              </p:cNvSpPr>
              <p:nvPr/>
            </p:nvSpPr>
            <p:spPr bwMode="auto">
              <a:xfrm>
                <a:off x="4240213" y="3030538"/>
                <a:ext cx="104775" cy="109538"/>
              </a:xfrm>
              <a:prstGeom prst="ellipse">
                <a:avLst/>
              </a:pr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0" name="Freeform 273">
                <a:extLst>
                  <a:ext uri="{FF2B5EF4-FFF2-40B4-BE49-F238E27FC236}">
                    <a16:creationId xmlns:a16="http://schemas.microsoft.com/office/drawing/2014/main" xmlns="" id="{F5C16A34-C88B-42FA-BC46-1C9471DB8B0A}"/>
                  </a:ext>
                </a:extLst>
              </p:cNvPr>
              <p:cNvSpPr>
                <a:spLocks/>
              </p:cNvSpPr>
              <p:nvPr/>
            </p:nvSpPr>
            <p:spPr bwMode="auto">
              <a:xfrm>
                <a:off x="4214813" y="2986088"/>
                <a:ext cx="157163" cy="36513"/>
              </a:xfrm>
              <a:custGeom>
                <a:avLst/>
                <a:gdLst>
                  <a:gd name="T0" fmla="*/ 0 w 42"/>
                  <a:gd name="T1" fmla="*/ 10 h 10"/>
                  <a:gd name="T2" fmla="*/ 21 w 42"/>
                  <a:gd name="T3" fmla="*/ 0 h 10"/>
                  <a:gd name="T4" fmla="*/ 42 w 42"/>
                  <a:gd name="T5" fmla="*/ 10 h 10"/>
                </a:gdLst>
                <a:ahLst/>
                <a:cxnLst>
                  <a:cxn ang="0">
                    <a:pos x="T0" y="T1"/>
                  </a:cxn>
                  <a:cxn ang="0">
                    <a:pos x="T2" y="T3"/>
                  </a:cxn>
                  <a:cxn ang="0">
                    <a:pos x="T4" y="T5"/>
                  </a:cxn>
                </a:cxnLst>
                <a:rect l="0" t="0" r="r" b="b"/>
                <a:pathLst>
                  <a:path w="42" h="10">
                    <a:moveTo>
                      <a:pt x="0" y="10"/>
                    </a:moveTo>
                    <a:cubicBezTo>
                      <a:pt x="5" y="4"/>
                      <a:pt x="13" y="0"/>
                      <a:pt x="21" y="0"/>
                    </a:cubicBezTo>
                    <a:cubicBezTo>
                      <a:pt x="29" y="0"/>
                      <a:pt x="37" y="4"/>
                      <a:pt x="42" y="10"/>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1" name="Freeform 274">
                <a:extLst>
                  <a:ext uri="{FF2B5EF4-FFF2-40B4-BE49-F238E27FC236}">
                    <a16:creationId xmlns:a16="http://schemas.microsoft.com/office/drawing/2014/main" xmlns="" id="{1D976AB4-49AA-4482-B357-FA665EA7852A}"/>
                  </a:ext>
                </a:extLst>
              </p:cNvPr>
              <p:cNvSpPr>
                <a:spLocks/>
              </p:cNvSpPr>
              <p:nvPr/>
            </p:nvSpPr>
            <p:spPr bwMode="auto">
              <a:xfrm>
                <a:off x="4187825" y="2947988"/>
                <a:ext cx="211138" cy="49213"/>
              </a:xfrm>
              <a:custGeom>
                <a:avLst/>
                <a:gdLst>
                  <a:gd name="T0" fmla="*/ 0 w 56"/>
                  <a:gd name="T1" fmla="*/ 13 h 13"/>
                  <a:gd name="T2" fmla="*/ 28 w 56"/>
                  <a:gd name="T3" fmla="*/ 0 h 13"/>
                  <a:gd name="T4" fmla="*/ 56 w 56"/>
                  <a:gd name="T5" fmla="*/ 13 h 13"/>
                </a:gdLst>
                <a:ahLst/>
                <a:cxnLst>
                  <a:cxn ang="0">
                    <a:pos x="T0" y="T1"/>
                  </a:cxn>
                  <a:cxn ang="0">
                    <a:pos x="T2" y="T3"/>
                  </a:cxn>
                  <a:cxn ang="0">
                    <a:pos x="T4" y="T5"/>
                  </a:cxn>
                </a:cxnLst>
                <a:rect l="0" t="0" r="r" b="b"/>
                <a:pathLst>
                  <a:path w="56" h="13">
                    <a:moveTo>
                      <a:pt x="0" y="13"/>
                    </a:moveTo>
                    <a:cubicBezTo>
                      <a:pt x="7" y="5"/>
                      <a:pt x="17" y="0"/>
                      <a:pt x="28" y="0"/>
                    </a:cubicBezTo>
                    <a:cubicBezTo>
                      <a:pt x="39" y="0"/>
                      <a:pt x="49" y="5"/>
                      <a:pt x="56" y="13"/>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2" name="Freeform 275">
                <a:extLst>
                  <a:ext uri="{FF2B5EF4-FFF2-40B4-BE49-F238E27FC236}">
                    <a16:creationId xmlns:a16="http://schemas.microsoft.com/office/drawing/2014/main" xmlns="" id="{40CDCACF-1136-47C8-A50F-2C6DCEFC7055}"/>
                  </a:ext>
                </a:extLst>
              </p:cNvPr>
              <p:cNvSpPr>
                <a:spLocks/>
              </p:cNvSpPr>
              <p:nvPr/>
            </p:nvSpPr>
            <p:spPr bwMode="auto">
              <a:xfrm>
                <a:off x="4157663" y="2909888"/>
                <a:ext cx="269875" cy="63500"/>
              </a:xfrm>
              <a:custGeom>
                <a:avLst/>
                <a:gdLst>
                  <a:gd name="T0" fmla="*/ 0 w 72"/>
                  <a:gd name="T1" fmla="*/ 17 h 17"/>
                  <a:gd name="T2" fmla="*/ 36 w 72"/>
                  <a:gd name="T3" fmla="*/ 0 h 17"/>
                  <a:gd name="T4" fmla="*/ 72 w 72"/>
                  <a:gd name="T5" fmla="*/ 17 h 17"/>
                </a:gdLst>
                <a:ahLst/>
                <a:cxnLst>
                  <a:cxn ang="0">
                    <a:pos x="T0" y="T1"/>
                  </a:cxn>
                  <a:cxn ang="0">
                    <a:pos x="T2" y="T3"/>
                  </a:cxn>
                  <a:cxn ang="0">
                    <a:pos x="T4" y="T5"/>
                  </a:cxn>
                </a:cxnLst>
                <a:rect l="0" t="0" r="r" b="b"/>
                <a:pathLst>
                  <a:path w="72" h="17">
                    <a:moveTo>
                      <a:pt x="0" y="17"/>
                    </a:moveTo>
                    <a:cubicBezTo>
                      <a:pt x="8" y="7"/>
                      <a:pt x="21" y="0"/>
                      <a:pt x="36" y="0"/>
                    </a:cubicBezTo>
                    <a:cubicBezTo>
                      <a:pt x="51" y="0"/>
                      <a:pt x="64" y="7"/>
                      <a:pt x="72" y="17"/>
                    </a:cubicBezTo>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73" name="Freeform 276">
                <a:extLst>
                  <a:ext uri="{FF2B5EF4-FFF2-40B4-BE49-F238E27FC236}">
                    <a16:creationId xmlns:a16="http://schemas.microsoft.com/office/drawing/2014/main" xmlns="" id="{E1D8459C-3776-4E84-AC6C-5275955B3DDE}"/>
                  </a:ext>
                </a:extLst>
              </p:cNvPr>
              <p:cNvSpPr>
                <a:spLocks/>
              </p:cNvSpPr>
              <p:nvPr/>
            </p:nvSpPr>
            <p:spPr bwMode="auto">
              <a:xfrm>
                <a:off x="4206875" y="3140076"/>
                <a:ext cx="173038" cy="85725"/>
              </a:xfrm>
              <a:custGeom>
                <a:avLst/>
                <a:gdLst>
                  <a:gd name="T0" fmla="*/ 46 w 46"/>
                  <a:gd name="T1" fmla="*/ 23 h 23"/>
                  <a:gd name="T2" fmla="*/ 0 w 46"/>
                  <a:gd name="T3" fmla="*/ 23 h 23"/>
                  <a:gd name="T4" fmla="*/ 23 w 46"/>
                  <a:gd name="T5" fmla="*/ 0 h 23"/>
                  <a:gd name="T6" fmla="*/ 46 w 46"/>
                  <a:gd name="T7" fmla="*/ 23 h 23"/>
                </a:gdLst>
                <a:ahLst/>
                <a:cxnLst>
                  <a:cxn ang="0">
                    <a:pos x="T0" y="T1"/>
                  </a:cxn>
                  <a:cxn ang="0">
                    <a:pos x="T2" y="T3"/>
                  </a:cxn>
                  <a:cxn ang="0">
                    <a:pos x="T4" y="T5"/>
                  </a:cxn>
                  <a:cxn ang="0">
                    <a:pos x="T6" y="T7"/>
                  </a:cxn>
                </a:cxnLst>
                <a:rect l="0" t="0" r="r" b="b"/>
                <a:pathLst>
                  <a:path w="46" h="23">
                    <a:moveTo>
                      <a:pt x="46" y="23"/>
                    </a:moveTo>
                    <a:cubicBezTo>
                      <a:pt x="0" y="23"/>
                      <a:pt x="0" y="23"/>
                      <a:pt x="0" y="23"/>
                    </a:cubicBezTo>
                    <a:cubicBezTo>
                      <a:pt x="0" y="10"/>
                      <a:pt x="10" y="0"/>
                      <a:pt x="23" y="0"/>
                    </a:cubicBezTo>
                    <a:cubicBezTo>
                      <a:pt x="36" y="0"/>
                      <a:pt x="46" y="10"/>
                      <a:pt x="46" y="23"/>
                    </a:cubicBezTo>
                    <a:close/>
                  </a:path>
                </a:pathLst>
              </a:custGeom>
              <a:noFill/>
              <a:ln w="14288" cap="rnd">
                <a:solidFill>
                  <a:srgbClr val="00206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sp>
          <p:nvSpPr>
            <p:cNvPr id="164" name="Rectangle 163">
              <a:extLst>
                <a:ext uri="{FF2B5EF4-FFF2-40B4-BE49-F238E27FC236}">
                  <a16:creationId xmlns:a16="http://schemas.microsoft.com/office/drawing/2014/main" xmlns="" id="{3E886A0B-A097-4934-BAAA-53B791623B0B}"/>
                </a:ext>
              </a:extLst>
            </p:cNvPr>
            <p:cNvSpPr/>
            <p:nvPr/>
          </p:nvSpPr>
          <p:spPr>
            <a:xfrm>
              <a:off x="8578718" y="5549982"/>
              <a:ext cx="2877070" cy="1231106"/>
            </a:xfrm>
            <a:prstGeom prst="rect">
              <a:avLst/>
            </a:prstGeom>
          </p:spPr>
          <p:txBody>
            <a:bodyPr wrap="square" lIns="0" tIns="0" rIns="0" bIns="0" anchor="t">
              <a:spAutoFit/>
            </a:bodyPr>
            <a:lstStyle/>
            <a:p>
              <a:r>
                <a:rPr lang="en-US" sz="1600" i="1" dirty="0">
                  <a:solidFill>
                    <a:srgbClr val="002060"/>
                  </a:solidFill>
                  <a:latin typeface="+mj-lt"/>
                  <a:ea typeface="Calibri Light"/>
                  <a:cs typeface="Segoe UI"/>
                </a:rPr>
                <a:t>Employment</a:t>
              </a:r>
            </a:p>
            <a:p>
              <a:r>
                <a:rPr lang="en-US" sz="1600" dirty="0">
                  <a:solidFill>
                    <a:srgbClr val="002060"/>
                  </a:solidFill>
                  <a:latin typeface="Calibri"/>
                  <a:ea typeface="Calibri"/>
                  <a:cs typeface="Calibri"/>
                </a:rPr>
                <a:t>To study workforce participation and employment structure.</a:t>
              </a:r>
              <a:endParaRPr lang="en-US" sz="1600">
                <a:solidFill>
                  <a:srgbClr val="000000"/>
                </a:solidFill>
                <a:latin typeface="Calibri"/>
                <a:ea typeface="Calibri"/>
                <a:cs typeface="Calibri"/>
              </a:endParaRPr>
            </a:p>
            <a:p>
              <a:endParaRPr lang="en-US" sz="1600" dirty="0">
                <a:solidFill>
                  <a:srgbClr val="000000"/>
                </a:solidFill>
                <a:latin typeface="+mj-lt"/>
                <a:ea typeface="Calibri Light"/>
                <a:cs typeface="Calibri Light"/>
              </a:endParaRPr>
            </a:p>
            <a:p>
              <a:endParaRPr lang="en-US" sz="1600" i="1" dirty="0">
                <a:solidFill>
                  <a:srgbClr val="002060"/>
                </a:solidFill>
                <a:latin typeface="+mj-lt"/>
                <a:ea typeface="Calibri Light"/>
                <a:cs typeface="Segoe UI" panose="020B0502040204020203" pitchFamily="34" charset="0"/>
              </a:endParaRPr>
            </a:p>
          </p:txBody>
        </p:sp>
      </p:grpSp>
    </p:spTree>
    <p:extLst>
      <p:ext uri="{BB962C8B-B14F-4D97-AF65-F5344CB8AC3E}">
        <p14:creationId xmlns:p14="http://schemas.microsoft.com/office/powerpoint/2010/main" val="37400253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rallelogram 3">
            <a:extLst>
              <a:ext uri="{FF2B5EF4-FFF2-40B4-BE49-F238E27FC236}">
                <a16:creationId xmlns:a16="http://schemas.microsoft.com/office/drawing/2014/main" xmlns="" id="{9CE75D52-93F1-6C26-0AA9-FCAE7EBF9A02}"/>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a:extLst>
              <a:ext uri="{FF2B5EF4-FFF2-40B4-BE49-F238E27FC236}">
                <a16:creationId xmlns:a16="http://schemas.microsoft.com/office/drawing/2014/main" xmlns="" id="{57921AD1-9075-02CF-111E-226869F68493}"/>
              </a:ext>
            </a:extLst>
          </p:cNvPr>
          <p:cNvSpPr>
            <a:spLocks noGrp="1"/>
          </p:cNvSpPr>
          <p:nvPr>
            <p:ph type="title"/>
          </p:nvPr>
        </p:nvSpPr>
        <p:spPr/>
        <p:txBody>
          <a:bodyPr>
            <a:normAutofit/>
          </a:bodyPr>
          <a:lstStyle/>
          <a:p>
            <a:r>
              <a:rPr lang="en-US" sz="4000" b="1" dirty="0">
                <a:solidFill>
                  <a:schemeClr val="bg1"/>
                </a:solidFill>
                <a:latin typeface="Segoe UI"/>
                <a:ea typeface="Calibri Light"/>
                <a:cs typeface="Calibri Light"/>
              </a:rPr>
              <a:t>DATASETS DESCRIPTION</a:t>
            </a:r>
          </a:p>
        </p:txBody>
      </p:sp>
      <p:sp>
        <p:nvSpPr>
          <p:cNvPr id="5" name="TextBox 4">
            <a:extLst>
              <a:ext uri="{FF2B5EF4-FFF2-40B4-BE49-F238E27FC236}">
                <a16:creationId xmlns:a16="http://schemas.microsoft.com/office/drawing/2014/main" xmlns="" id="{A4FAE3C0-98A9-D7CC-2B96-6C61977F32F9}"/>
              </a:ext>
            </a:extLst>
          </p:cNvPr>
          <p:cNvSpPr txBox="1"/>
          <p:nvPr/>
        </p:nvSpPr>
        <p:spPr>
          <a:xfrm>
            <a:off x="513184" y="2006081"/>
            <a:ext cx="11383346" cy="45858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ea typeface="Calibri"/>
                <a:cs typeface="Calibri"/>
              </a:rPr>
              <a:t>Region</a:t>
            </a:r>
          </a:p>
          <a:p>
            <a:r>
              <a:rPr lang="en-US" sz="1600" dirty="0">
                <a:ea typeface="+mn-lt"/>
                <a:cs typeface="+mn-lt"/>
              </a:rPr>
              <a:t>Description:</a:t>
            </a:r>
            <a:br>
              <a:rPr lang="en-US" sz="1600" dirty="0">
                <a:ea typeface="+mn-lt"/>
                <a:cs typeface="+mn-lt"/>
              </a:rPr>
            </a:br>
            <a:r>
              <a:rPr lang="en-US" sz="1600" dirty="0">
                <a:ea typeface="+mn-lt"/>
                <a:cs typeface="+mn-lt"/>
              </a:rPr>
              <a:t>It contains official state and district identifiers along with their names and administrative classification (state or union territory). This dataset acts as a master reference and is used to validate regional identifiers in other datasets.</a:t>
            </a:r>
            <a:endParaRPr lang="en-US" sz="1600" dirty="0">
              <a:ea typeface="Calibri"/>
              <a:cs typeface="Calibri"/>
            </a:endParaRPr>
          </a:p>
          <a:p>
            <a:r>
              <a:rPr lang="en-US" sz="1600" i="1" dirty="0">
                <a:ea typeface="+mn-lt"/>
                <a:cs typeface="+mn-lt"/>
              </a:rPr>
              <a:t>Key Use Cases In Project:</a:t>
            </a:r>
            <a:endParaRPr lang="en-US" sz="1600" i="1" dirty="0">
              <a:ea typeface="Calibri"/>
              <a:cs typeface="Calibri"/>
            </a:endParaRPr>
          </a:p>
          <a:p>
            <a:pPr marL="285750" indent="-285750">
              <a:buFont typeface="Arial"/>
              <a:buChar char="•"/>
            </a:pPr>
            <a:r>
              <a:rPr lang="en-US" sz="1600" i="1" dirty="0">
                <a:ea typeface="+mn-lt"/>
                <a:cs typeface="+mn-lt"/>
              </a:rPr>
              <a:t>Regional validation and consistency checks</a:t>
            </a:r>
            <a:endParaRPr lang="en-US" sz="1600" i="1" dirty="0">
              <a:ea typeface="Calibri"/>
              <a:cs typeface="Calibri"/>
            </a:endParaRPr>
          </a:p>
          <a:p>
            <a:pPr marL="285750" indent="-285750">
              <a:buFont typeface="Arial"/>
              <a:buChar char="•"/>
            </a:pPr>
            <a:r>
              <a:rPr lang="en-US" sz="1600" i="1" dirty="0">
                <a:ea typeface="+mn-lt"/>
                <a:cs typeface="+mn-lt"/>
              </a:rPr>
              <a:t>Joining population, literacy, and employment data</a:t>
            </a:r>
            <a:endParaRPr lang="en-US" sz="1600" i="1" dirty="0">
              <a:ea typeface="Calibri"/>
              <a:cs typeface="Calibri"/>
            </a:endParaRPr>
          </a:p>
          <a:p>
            <a:pPr marL="285750" indent="-285750">
              <a:buFont typeface="Arial"/>
              <a:buChar char="•"/>
            </a:pPr>
            <a:r>
              <a:rPr lang="en-US" sz="1600" i="1" dirty="0">
                <a:ea typeface="+mn-lt"/>
                <a:cs typeface="+mn-lt"/>
              </a:rPr>
              <a:t>Enabling region-wise analytics and comparisons</a:t>
            </a:r>
            <a:endParaRPr lang="en-US" sz="1600" i="1" dirty="0">
              <a:ea typeface="Calibri"/>
              <a:cs typeface="Calibri"/>
            </a:endParaRPr>
          </a:p>
          <a:p>
            <a:endParaRPr lang="en-US" sz="1600" dirty="0">
              <a:ea typeface="Calibri"/>
              <a:cs typeface="Calibri"/>
            </a:endParaRPr>
          </a:p>
          <a:p>
            <a:r>
              <a:rPr lang="en-US" b="1" dirty="0">
                <a:ea typeface="Calibri"/>
                <a:cs typeface="Calibri"/>
              </a:rPr>
              <a:t>Population</a:t>
            </a:r>
          </a:p>
          <a:p>
            <a:r>
              <a:rPr lang="en-US" sz="1600" dirty="0">
                <a:ea typeface="+mn-lt"/>
                <a:cs typeface="+mn-lt"/>
              </a:rPr>
              <a:t>Description:</a:t>
            </a:r>
            <a:br>
              <a:rPr lang="en-US" sz="1600" dirty="0">
                <a:ea typeface="+mn-lt"/>
                <a:cs typeface="+mn-lt"/>
              </a:rPr>
            </a:br>
            <a:r>
              <a:rPr lang="en-US" sz="1600" dirty="0">
                <a:ea typeface="+mn-lt"/>
                <a:cs typeface="+mn-lt"/>
              </a:rPr>
              <a:t>This dataset records population counts by state and district, segmented by year, age group, gender, ethnic group, and area type (total, rural, urban). It provides the foundation for demographic and growth analysis.</a:t>
            </a:r>
            <a:endParaRPr lang="en-US" sz="1600" dirty="0">
              <a:ea typeface="Calibri"/>
              <a:cs typeface="Calibri"/>
            </a:endParaRPr>
          </a:p>
          <a:p>
            <a:r>
              <a:rPr lang="en-US" sz="1600" i="1" dirty="0">
                <a:ea typeface="+mn-lt"/>
                <a:cs typeface="+mn-lt"/>
              </a:rPr>
              <a:t>Key Use Cases In project:</a:t>
            </a:r>
            <a:endParaRPr lang="en-US" sz="1600" i="1" dirty="0">
              <a:ea typeface="Calibri"/>
              <a:cs typeface="Calibri"/>
            </a:endParaRPr>
          </a:p>
          <a:p>
            <a:pPr marL="285750" indent="-285750">
              <a:buFont typeface="Arial"/>
              <a:buChar char="•"/>
            </a:pPr>
            <a:r>
              <a:rPr lang="en-US" sz="1600" i="1" dirty="0">
                <a:ea typeface="+mn-lt"/>
                <a:cs typeface="+mn-lt"/>
              </a:rPr>
              <a:t>Population growth analysis</a:t>
            </a:r>
            <a:endParaRPr lang="en-US" sz="1600" i="1" dirty="0">
              <a:ea typeface="Calibri"/>
              <a:cs typeface="Calibri"/>
            </a:endParaRPr>
          </a:p>
          <a:p>
            <a:pPr marL="285750" indent="-285750">
              <a:buFont typeface="Arial"/>
              <a:buChar char="•"/>
            </a:pPr>
            <a:r>
              <a:rPr lang="en-US" sz="1600" i="1" dirty="0">
                <a:ea typeface="+mn-lt"/>
                <a:cs typeface="+mn-lt"/>
              </a:rPr>
              <a:t>Age and gender distribution trends</a:t>
            </a:r>
            <a:endParaRPr lang="en-US" sz="1600" i="1" dirty="0">
              <a:ea typeface="Calibri"/>
              <a:cs typeface="Calibri"/>
            </a:endParaRPr>
          </a:p>
          <a:p>
            <a:pPr marL="285750" indent="-285750">
              <a:buFont typeface="Arial"/>
              <a:buChar char="•"/>
            </a:pPr>
            <a:r>
              <a:rPr lang="en-US" sz="1600" i="1" dirty="0">
                <a:ea typeface="+mn-lt"/>
                <a:cs typeface="+mn-lt"/>
              </a:rPr>
              <a:t>Rural vs urban population comparison</a:t>
            </a:r>
            <a:endParaRPr lang="en-US" sz="1600" i="1" dirty="0">
              <a:ea typeface="Calibri"/>
              <a:cs typeface="Calibri"/>
            </a:endParaRPr>
          </a:p>
          <a:p>
            <a:endParaRPr lang="en-US" sz="1600" dirty="0">
              <a:ea typeface="Calibri"/>
              <a:cs typeface="Calibri"/>
            </a:endParaRPr>
          </a:p>
        </p:txBody>
      </p:sp>
    </p:spTree>
    <p:extLst>
      <p:ext uri="{BB962C8B-B14F-4D97-AF65-F5344CB8AC3E}">
        <p14:creationId xmlns:p14="http://schemas.microsoft.com/office/powerpoint/2010/main" val="1421459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BC55A6-EA98-2C2A-6A4B-024EAB16EEAF}"/>
            </a:ext>
          </a:extLst>
        </p:cNvPr>
        <p:cNvGrpSpPr/>
        <p:nvPr/>
      </p:nvGrpSpPr>
      <p:grpSpPr>
        <a:xfrm>
          <a:off x="0" y="0"/>
          <a:ext cx="0" cy="0"/>
          <a:chOff x="0" y="0"/>
          <a:chExt cx="0" cy="0"/>
        </a:xfrm>
      </p:grpSpPr>
      <p:sp>
        <p:nvSpPr>
          <p:cNvPr id="4" name="Parallelogram 3">
            <a:extLst>
              <a:ext uri="{FF2B5EF4-FFF2-40B4-BE49-F238E27FC236}">
                <a16:creationId xmlns:a16="http://schemas.microsoft.com/office/drawing/2014/main" xmlns="" id="{70098F65-7322-1443-3807-DCD0BC5031DD}"/>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a:extLst>
              <a:ext uri="{FF2B5EF4-FFF2-40B4-BE49-F238E27FC236}">
                <a16:creationId xmlns:a16="http://schemas.microsoft.com/office/drawing/2014/main" xmlns="" id="{8DAD5FA5-3C8A-EC39-76A1-21D0E09B9CC7}"/>
              </a:ext>
            </a:extLst>
          </p:cNvPr>
          <p:cNvSpPr>
            <a:spLocks noGrp="1"/>
          </p:cNvSpPr>
          <p:nvPr>
            <p:ph type="title"/>
          </p:nvPr>
        </p:nvSpPr>
        <p:spPr/>
        <p:txBody>
          <a:bodyPr>
            <a:normAutofit/>
          </a:bodyPr>
          <a:lstStyle/>
          <a:p>
            <a:r>
              <a:rPr lang="en-US" sz="4000" b="1" dirty="0">
                <a:solidFill>
                  <a:schemeClr val="bg1"/>
                </a:solidFill>
                <a:latin typeface="Segoe UI"/>
                <a:ea typeface="Calibri Light"/>
                <a:cs typeface="Calibri Light"/>
              </a:rPr>
              <a:t>DATASETS DESCRIPTION</a:t>
            </a:r>
          </a:p>
        </p:txBody>
      </p:sp>
      <p:pic>
        <p:nvPicPr>
          <p:cNvPr id="3" name="Picture 2"/>
          <p:cNvPicPr>
            <a:picLocks noChangeAspect="1"/>
          </p:cNvPicPr>
          <p:nvPr/>
        </p:nvPicPr>
        <p:blipFill rotWithShape="1">
          <a:blip r:embed="rId2"/>
          <a:srcRect r="44042"/>
          <a:stretch/>
        </p:blipFill>
        <p:spPr>
          <a:xfrm>
            <a:off x="838200" y="2591324"/>
            <a:ext cx="4998244" cy="4156948"/>
          </a:xfrm>
          <a:prstGeom prst="rect">
            <a:avLst/>
          </a:prstGeom>
        </p:spPr>
      </p:pic>
      <p:sp>
        <p:nvSpPr>
          <p:cNvPr id="6" name="TextBox 5"/>
          <p:cNvSpPr txBox="1"/>
          <p:nvPr/>
        </p:nvSpPr>
        <p:spPr>
          <a:xfrm>
            <a:off x="801386" y="2151091"/>
            <a:ext cx="3038856" cy="369332"/>
          </a:xfrm>
          <a:prstGeom prst="rect">
            <a:avLst/>
          </a:prstGeom>
          <a:noFill/>
        </p:spPr>
        <p:txBody>
          <a:bodyPr wrap="square" rtlCol="0">
            <a:spAutoFit/>
          </a:bodyPr>
          <a:lstStyle/>
          <a:p>
            <a:r>
              <a:rPr lang="en-US" dirty="0" smtClean="0"/>
              <a:t>Region Dataset-182 Records</a:t>
            </a:r>
            <a:endParaRPr lang="en-US" dirty="0"/>
          </a:p>
        </p:txBody>
      </p:sp>
      <p:pic>
        <p:nvPicPr>
          <p:cNvPr id="7" name="Picture 6"/>
          <p:cNvPicPr>
            <a:picLocks noChangeAspect="1"/>
          </p:cNvPicPr>
          <p:nvPr/>
        </p:nvPicPr>
        <p:blipFill>
          <a:blip r:embed="rId3"/>
          <a:stretch>
            <a:fillRect/>
          </a:stretch>
        </p:blipFill>
        <p:spPr>
          <a:xfrm>
            <a:off x="6096000" y="2591324"/>
            <a:ext cx="5838227" cy="4156948"/>
          </a:xfrm>
          <a:prstGeom prst="rect">
            <a:avLst/>
          </a:prstGeom>
        </p:spPr>
      </p:pic>
      <p:sp>
        <p:nvSpPr>
          <p:cNvPr id="8" name="TextBox 7"/>
          <p:cNvSpPr txBox="1"/>
          <p:nvPr/>
        </p:nvSpPr>
        <p:spPr>
          <a:xfrm>
            <a:off x="6006320" y="2151091"/>
            <a:ext cx="3549160" cy="369332"/>
          </a:xfrm>
          <a:prstGeom prst="rect">
            <a:avLst/>
          </a:prstGeom>
          <a:noFill/>
        </p:spPr>
        <p:txBody>
          <a:bodyPr wrap="square" rtlCol="0">
            <a:spAutoFit/>
          </a:bodyPr>
          <a:lstStyle/>
          <a:p>
            <a:r>
              <a:rPr lang="en-US" dirty="0" smtClean="0"/>
              <a:t>Population Dataset-120330 Records</a:t>
            </a:r>
            <a:endParaRPr lang="en-US" dirty="0"/>
          </a:p>
        </p:txBody>
      </p:sp>
      <p:cxnSp>
        <p:nvCxnSpPr>
          <p:cNvPr id="10" name="Straight Connector 9"/>
          <p:cNvCxnSpPr/>
          <p:nvPr/>
        </p:nvCxnSpPr>
        <p:spPr>
          <a:xfrm>
            <a:off x="6006320" y="1848345"/>
            <a:ext cx="0" cy="500965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96097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BC55A6-EA98-2C2A-6A4B-024EAB16EEAF}"/>
            </a:ext>
          </a:extLst>
        </p:cNvPr>
        <p:cNvGrpSpPr/>
        <p:nvPr/>
      </p:nvGrpSpPr>
      <p:grpSpPr>
        <a:xfrm>
          <a:off x="0" y="0"/>
          <a:ext cx="0" cy="0"/>
          <a:chOff x="0" y="0"/>
          <a:chExt cx="0" cy="0"/>
        </a:xfrm>
      </p:grpSpPr>
      <p:sp>
        <p:nvSpPr>
          <p:cNvPr id="4" name="Parallelogram 3">
            <a:extLst>
              <a:ext uri="{FF2B5EF4-FFF2-40B4-BE49-F238E27FC236}">
                <a16:creationId xmlns:a16="http://schemas.microsoft.com/office/drawing/2014/main" xmlns="" id="{70098F65-7322-1443-3807-DCD0BC5031DD}"/>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a:extLst>
              <a:ext uri="{FF2B5EF4-FFF2-40B4-BE49-F238E27FC236}">
                <a16:creationId xmlns:a16="http://schemas.microsoft.com/office/drawing/2014/main" xmlns="" id="{8DAD5FA5-3C8A-EC39-76A1-21D0E09B9CC7}"/>
              </a:ext>
            </a:extLst>
          </p:cNvPr>
          <p:cNvSpPr>
            <a:spLocks noGrp="1"/>
          </p:cNvSpPr>
          <p:nvPr>
            <p:ph type="title"/>
          </p:nvPr>
        </p:nvSpPr>
        <p:spPr/>
        <p:txBody>
          <a:bodyPr>
            <a:normAutofit/>
          </a:bodyPr>
          <a:lstStyle/>
          <a:p>
            <a:r>
              <a:rPr lang="en-US" sz="4000" b="1" dirty="0">
                <a:solidFill>
                  <a:schemeClr val="bg1"/>
                </a:solidFill>
                <a:latin typeface="Segoe UI"/>
                <a:ea typeface="Calibri Light"/>
                <a:cs typeface="Calibri Light"/>
              </a:rPr>
              <a:t>DATASETS DESCRIPTION</a:t>
            </a:r>
          </a:p>
        </p:txBody>
      </p:sp>
      <p:sp>
        <p:nvSpPr>
          <p:cNvPr id="5" name="TextBox 4">
            <a:extLst>
              <a:ext uri="{FF2B5EF4-FFF2-40B4-BE49-F238E27FC236}">
                <a16:creationId xmlns:a16="http://schemas.microsoft.com/office/drawing/2014/main" xmlns="" id="{FA075037-8F52-08BB-3153-5EC6B270FC55}"/>
              </a:ext>
            </a:extLst>
          </p:cNvPr>
          <p:cNvSpPr txBox="1"/>
          <p:nvPr/>
        </p:nvSpPr>
        <p:spPr>
          <a:xfrm>
            <a:off x="513184" y="2006081"/>
            <a:ext cx="11383346"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Calibri"/>
                <a:cs typeface="Calibri"/>
              </a:rPr>
              <a:t>Literacy</a:t>
            </a:r>
          </a:p>
          <a:p>
            <a:r>
              <a:rPr lang="en-US" sz="1600" dirty="0">
                <a:ea typeface="+mn-lt"/>
                <a:cs typeface="+mn-lt"/>
              </a:rPr>
              <a:t>Description:</a:t>
            </a:r>
            <a:br>
              <a:rPr lang="en-US" sz="1600" dirty="0">
                <a:ea typeface="+mn-lt"/>
                <a:cs typeface="+mn-lt"/>
              </a:rPr>
            </a:br>
            <a:r>
              <a:rPr lang="en-US" sz="1600" dirty="0">
                <a:ea typeface="+mn-lt"/>
                <a:cs typeface="+mn-lt"/>
              </a:rPr>
              <a:t>The literacy dataset contains population counts classified by literacy status (Literate or Illiterate), along with age group, gender, ethnic group, year, and area type. It is used to compute literacy rates and identify regional disparities.</a:t>
            </a:r>
            <a:endParaRPr lang="en-US" sz="1600" dirty="0">
              <a:ea typeface="Calibri"/>
              <a:cs typeface="Calibri"/>
            </a:endParaRPr>
          </a:p>
          <a:p>
            <a:r>
              <a:rPr lang="en-US" sz="1600" i="1" dirty="0">
                <a:ea typeface="+mn-lt"/>
                <a:cs typeface="+mn-lt"/>
              </a:rPr>
              <a:t>Key Use Cases In Project:</a:t>
            </a:r>
            <a:endParaRPr lang="en-US" sz="1600" i="1" dirty="0">
              <a:ea typeface="Calibri"/>
              <a:cs typeface="Calibri"/>
            </a:endParaRPr>
          </a:p>
          <a:p>
            <a:pPr marL="285750" indent="-285750">
              <a:buFont typeface="Arial"/>
              <a:buChar char="•"/>
            </a:pPr>
            <a:r>
              <a:rPr lang="en-US" sz="1600" i="1" dirty="0">
                <a:ea typeface="+mn-lt"/>
                <a:cs typeface="+mn-lt"/>
              </a:rPr>
              <a:t>Literacy rate calculation</a:t>
            </a:r>
            <a:endParaRPr lang="en-US" sz="1600" i="1" dirty="0">
              <a:ea typeface="Calibri"/>
              <a:cs typeface="Calibri"/>
            </a:endParaRPr>
          </a:p>
          <a:p>
            <a:pPr marL="285750" indent="-285750">
              <a:buFont typeface="Arial"/>
              <a:buChar char="•"/>
            </a:pPr>
            <a:r>
              <a:rPr lang="en-US" sz="1600" i="1" dirty="0">
                <a:ea typeface="+mn-lt"/>
                <a:cs typeface="+mn-lt"/>
              </a:rPr>
              <a:t>State and district-level literacy comparison</a:t>
            </a:r>
            <a:endParaRPr lang="en-US" sz="1600" i="1" dirty="0">
              <a:ea typeface="Calibri"/>
              <a:cs typeface="Calibri"/>
            </a:endParaRPr>
          </a:p>
          <a:p>
            <a:pPr marL="285750" indent="-285750">
              <a:buFont typeface="Arial"/>
              <a:buChar char="•"/>
            </a:pPr>
            <a:r>
              <a:rPr lang="en-US" sz="1600" i="1" dirty="0">
                <a:ea typeface="+mn-lt"/>
                <a:cs typeface="+mn-lt"/>
              </a:rPr>
              <a:t>Correlation analysis with employment and population</a:t>
            </a:r>
            <a:endParaRPr lang="en-US" sz="1600" i="1" dirty="0">
              <a:ea typeface="Calibri"/>
              <a:cs typeface="Calibri"/>
            </a:endParaRPr>
          </a:p>
          <a:p>
            <a:endParaRPr lang="en-US" dirty="0">
              <a:ea typeface="Calibri"/>
              <a:cs typeface="Calibri"/>
            </a:endParaRPr>
          </a:p>
          <a:p>
            <a:r>
              <a:rPr lang="en-US" b="1" dirty="0">
                <a:ea typeface="Calibri"/>
                <a:cs typeface="Calibri"/>
              </a:rPr>
              <a:t>Employment</a:t>
            </a:r>
          </a:p>
          <a:p>
            <a:r>
              <a:rPr lang="en-US" sz="1600" dirty="0">
                <a:ea typeface="+mn-lt"/>
                <a:cs typeface="+mn-lt"/>
              </a:rPr>
              <a:t>Description:</a:t>
            </a:r>
            <a:br>
              <a:rPr lang="en-US" sz="1600" dirty="0">
                <a:ea typeface="+mn-lt"/>
                <a:cs typeface="+mn-lt"/>
              </a:rPr>
            </a:br>
            <a:r>
              <a:rPr lang="en-US" sz="1600" dirty="0">
                <a:ea typeface="+mn-lt"/>
                <a:cs typeface="+mn-lt"/>
              </a:rPr>
              <a:t>This dataset records employment counts by State and District, categorized by age group, gender, ethnic group, employment status, and economic sector (Primary, Secondary, Tertiary, and Not in </a:t>
            </a:r>
            <a:r>
              <a:rPr lang="en-US" sz="1600" dirty="0" err="1">
                <a:ea typeface="+mn-lt"/>
                <a:cs typeface="+mn-lt"/>
              </a:rPr>
              <a:t>Labour</a:t>
            </a:r>
            <a:r>
              <a:rPr lang="en-US" sz="1600" dirty="0">
                <a:ea typeface="+mn-lt"/>
                <a:cs typeface="+mn-lt"/>
              </a:rPr>
              <a:t> Force). Special handling is applied for age groups not eligible for employment.</a:t>
            </a:r>
            <a:endParaRPr lang="en-US" sz="1600" dirty="0">
              <a:ea typeface="Calibri"/>
              <a:cs typeface="Calibri"/>
            </a:endParaRPr>
          </a:p>
          <a:p>
            <a:r>
              <a:rPr lang="en-US" sz="1600" i="1" dirty="0">
                <a:ea typeface="+mn-lt"/>
                <a:cs typeface="+mn-lt"/>
              </a:rPr>
              <a:t>Key Use Cases In Project:</a:t>
            </a:r>
            <a:endParaRPr lang="en-US" sz="1600" i="1" dirty="0">
              <a:ea typeface="Calibri"/>
              <a:cs typeface="Calibri"/>
            </a:endParaRPr>
          </a:p>
          <a:p>
            <a:pPr marL="285750" indent="-285750">
              <a:buFont typeface="Arial"/>
              <a:buChar char="•"/>
            </a:pPr>
            <a:r>
              <a:rPr lang="en-US" sz="1600" i="1" dirty="0">
                <a:ea typeface="+mn-lt"/>
                <a:cs typeface="+mn-lt"/>
              </a:rPr>
              <a:t>Employment rate analysis</a:t>
            </a:r>
            <a:endParaRPr lang="en-US" sz="1600" i="1" dirty="0">
              <a:ea typeface="Calibri"/>
              <a:cs typeface="Calibri"/>
            </a:endParaRPr>
          </a:p>
          <a:p>
            <a:pPr marL="285750" indent="-285750">
              <a:buFont typeface="Arial"/>
              <a:buChar char="•"/>
            </a:pPr>
            <a:r>
              <a:rPr lang="en-US" sz="1600" i="1" dirty="0">
                <a:ea typeface="+mn-lt"/>
                <a:cs typeface="+mn-lt"/>
              </a:rPr>
              <a:t>Sector-wise employment distribution</a:t>
            </a:r>
            <a:endParaRPr lang="en-US" sz="1600" i="1" dirty="0">
              <a:ea typeface="Calibri"/>
              <a:cs typeface="Calibri"/>
            </a:endParaRPr>
          </a:p>
          <a:p>
            <a:pPr marL="285750" indent="-285750">
              <a:buFont typeface="Arial"/>
              <a:buChar char="•"/>
            </a:pPr>
            <a:r>
              <a:rPr lang="en-US" sz="1600" i="1" dirty="0">
                <a:ea typeface="+mn-lt"/>
                <a:cs typeface="+mn-lt"/>
              </a:rPr>
              <a:t>Workforce planning and policy insights</a:t>
            </a:r>
            <a:endParaRPr lang="en-US" sz="1600" i="1" dirty="0">
              <a:ea typeface="Calibri"/>
              <a:cs typeface="Calibri"/>
            </a:endParaRPr>
          </a:p>
          <a:p>
            <a:endParaRPr lang="en-US" sz="1600" dirty="0">
              <a:ea typeface="Calibri"/>
              <a:cs typeface="Calibri"/>
            </a:endParaRPr>
          </a:p>
          <a:p>
            <a:pPr algn="l"/>
            <a:endParaRPr lang="en-US" sz="1600" dirty="0">
              <a:ea typeface="Calibri"/>
              <a:cs typeface="Calibri"/>
            </a:endParaRPr>
          </a:p>
        </p:txBody>
      </p:sp>
    </p:spTree>
    <p:extLst>
      <p:ext uri="{BB962C8B-B14F-4D97-AF65-F5344CB8AC3E}">
        <p14:creationId xmlns:p14="http://schemas.microsoft.com/office/powerpoint/2010/main" val="2805010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0BC55A6-EA98-2C2A-6A4B-024EAB16EEAF}"/>
            </a:ext>
          </a:extLst>
        </p:cNvPr>
        <p:cNvGrpSpPr/>
        <p:nvPr/>
      </p:nvGrpSpPr>
      <p:grpSpPr>
        <a:xfrm>
          <a:off x="0" y="0"/>
          <a:ext cx="0" cy="0"/>
          <a:chOff x="0" y="0"/>
          <a:chExt cx="0" cy="0"/>
        </a:xfrm>
      </p:grpSpPr>
      <p:sp>
        <p:nvSpPr>
          <p:cNvPr id="4" name="Parallelogram 3">
            <a:extLst>
              <a:ext uri="{FF2B5EF4-FFF2-40B4-BE49-F238E27FC236}">
                <a16:creationId xmlns:a16="http://schemas.microsoft.com/office/drawing/2014/main" xmlns="" id="{70098F65-7322-1443-3807-DCD0BC5031DD}"/>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a:extLst>
              <a:ext uri="{FF2B5EF4-FFF2-40B4-BE49-F238E27FC236}">
                <a16:creationId xmlns:a16="http://schemas.microsoft.com/office/drawing/2014/main" xmlns="" id="{8DAD5FA5-3C8A-EC39-76A1-21D0E09B9CC7}"/>
              </a:ext>
            </a:extLst>
          </p:cNvPr>
          <p:cNvSpPr>
            <a:spLocks noGrp="1"/>
          </p:cNvSpPr>
          <p:nvPr>
            <p:ph type="title"/>
          </p:nvPr>
        </p:nvSpPr>
        <p:spPr/>
        <p:txBody>
          <a:bodyPr>
            <a:normAutofit/>
          </a:bodyPr>
          <a:lstStyle/>
          <a:p>
            <a:r>
              <a:rPr lang="en-US" sz="4000" b="1" dirty="0">
                <a:solidFill>
                  <a:schemeClr val="bg1"/>
                </a:solidFill>
                <a:latin typeface="Segoe UI"/>
                <a:ea typeface="Calibri Light"/>
                <a:cs typeface="Calibri Light"/>
              </a:rPr>
              <a:t>DATASETS DESCRIPTION</a:t>
            </a:r>
          </a:p>
        </p:txBody>
      </p:sp>
      <p:sp>
        <p:nvSpPr>
          <p:cNvPr id="6" name="TextBox 5"/>
          <p:cNvSpPr txBox="1"/>
          <p:nvPr/>
        </p:nvSpPr>
        <p:spPr>
          <a:xfrm>
            <a:off x="801386" y="2151091"/>
            <a:ext cx="3514582" cy="369332"/>
          </a:xfrm>
          <a:prstGeom prst="rect">
            <a:avLst/>
          </a:prstGeom>
          <a:noFill/>
        </p:spPr>
        <p:txBody>
          <a:bodyPr wrap="square" rtlCol="0">
            <a:spAutoFit/>
          </a:bodyPr>
          <a:lstStyle/>
          <a:p>
            <a:r>
              <a:rPr lang="en-US" dirty="0" smtClean="0"/>
              <a:t>Literacy Dataset-240661 Records</a:t>
            </a:r>
            <a:endParaRPr lang="en-US" dirty="0"/>
          </a:p>
        </p:txBody>
      </p:sp>
      <p:sp>
        <p:nvSpPr>
          <p:cNvPr id="8" name="TextBox 7"/>
          <p:cNvSpPr txBox="1"/>
          <p:nvPr/>
        </p:nvSpPr>
        <p:spPr>
          <a:xfrm>
            <a:off x="6006319" y="2151091"/>
            <a:ext cx="3840241" cy="369332"/>
          </a:xfrm>
          <a:prstGeom prst="rect">
            <a:avLst/>
          </a:prstGeom>
          <a:noFill/>
        </p:spPr>
        <p:txBody>
          <a:bodyPr wrap="square" rtlCol="0">
            <a:spAutoFit/>
          </a:bodyPr>
          <a:lstStyle/>
          <a:p>
            <a:r>
              <a:rPr lang="en-US" dirty="0" smtClean="0"/>
              <a:t>Employment Dataset- 312859 Records</a:t>
            </a:r>
            <a:endParaRPr lang="en-US" dirty="0"/>
          </a:p>
        </p:txBody>
      </p:sp>
      <p:cxnSp>
        <p:nvCxnSpPr>
          <p:cNvPr id="10" name="Straight Connector 9"/>
          <p:cNvCxnSpPr/>
          <p:nvPr/>
        </p:nvCxnSpPr>
        <p:spPr>
          <a:xfrm>
            <a:off x="6006320" y="1848345"/>
            <a:ext cx="0" cy="5009655"/>
          </a:xfrm>
          <a:prstGeom prst="line">
            <a:avLst/>
          </a:prstGeom>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801387" y="2591324"/>
            <a:ext cx="5160094" cy="4156948"/>
          </a:xfrm>
          <a:prstGeom prst="rect">
            <a:avLst/>
          </a:prstGeom>
        </p:spPr>
      </p:pic>
      <p:pic>
        <p:nvPicPr>
          <p:cNvPr id="9" name="Picture 8"/>
          <p:cNvPicPr>
            <a:picLocks noChangeAspect="1"/>
          </p:cNvPicPr>
          <p:nvPr/>
        </p:nvPicPr>
        <p:blipFill>
          <a:blip r:embed="rId3"/>
          <a:stretch>
            <a:fillRect/>
          </a:stretch>
        </p:blipFill>
        <p:spPr>
          <a:xfrm>
            <a:off x="6142653" y="2591324"/>
            <a:ext cx="5760720" cy="4156948"/>
          </a:xfrm>
          <a:prstGeom prst="rect">
            <a:avLst/>
          </a:prstGeom>
        </p:spPr>
      </p:pic>
    </p:spTree>
    <p:extLst>
      <p:ext uri="{BB962C8B-B14F-4D97-AF65-F5344CB8AC3E}">
        <p14:creationId xmlns:p14="http://schemas.microsoft.com/office/powerpoint/2010/main" val="881439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hidden="1">
            <a:extLst>
              <a:ext uri="{FF2B5EF4-FFF2-40B4-BE49-F238E27FC236}">
                <a16:creationId xmlns:a16="http://schemas.microsoft.com/office/drawing/2014/main" xmlns="" id="{8336C4B5-E15C-4086-8FF8-C33A073734A2}"/>
              </a:ext>
            </a:extLst>
          </p:cNvPr>
          <p:cNvSpPr>
            <a:spLocks noGrp="1"/>
          </p:cNvSpPr>
          <p:nvPr>
            <p:ph type="title"/>
          </p:nvPr>
        </p:nvSpPr>
        <p:spPr/>
        <p:txBody>
          <a:bodyPr/>
          <a:lstStyle/>
          <a:p>
            <a:r>
              <a:rPr lang="en-US" dirty="0"/>
              <a:t>Human resources slide 7</a:t>
            </a:r>
          </a:p>
        </p:txBody>
      </p:sp>
      <p:sp>
        <p:nvSpPr>
          <p:cNvPr id="57" name="TextBox 56">
            <a:extLst>
              <a:ext uri="{FF2B5EF4-FFF2-40B4-BE49-F238E27FC236}">
                <a16:creationId xmlns:a16="http://schemas.microsoft.com/office/drawing/2014/main" xmlns="" id="{25264A13-2CF6-4653-9A8E-AE29B6F25F8E}"/>
              </a:ext>
            </a:extLst>
          </p:cNvPr>
          <p:cNvSpPr txBox="1"/>
          <p:nvPr/>
        </p:nvSpPr>
        <p:spPr>
          <a:xfrm>
            <a:off x="234043" y="1133760"/>
            <a:ext cx="3803018" cy="1159742"/>
          </a:xfrm>
          <a:prstGeom prst="rect">
            <a:avLst/>
          </a:prstGeom>
          <a:noFill/>
        </p:spPr>
        <p:txBody>
          <a:bodyPr wrap="square" lIns="0" tIns="0" rIns="0" bIns="0" rtlCol="0" anchor="t">
            <a:noAutofit/>
          </a:bodyPr>
          <a:lstStyle/>
          <a:p>
            <a:pPr>
              <a:lnSpc>
                <a:spcPts val="4000"/>
              </a:lnSpc>
            </a:pPr>
            <a:r>
              <a:rPr lang="en-US" sz="4000" b="1" dirty="0">
                <a:solidFill>
                  <a:srgbClr val="002060"/>
                </a:solidFill>
                <a:latin typeface="Segoe UI"/>
                <a:cs typeface="Segoe UI"/>
              </a:rPr>
              <a:t>PROJECT</a:t>
            </a:r>
          </a:p>
          <a:p>
            <a:pPr>
              <a:lnSpc>
                <a:spcPts val="4000"/>
              </a:lnSpc>
            </a:pPr>
            <a:r>
              <a:rPr lang="en-US" sz="4000" b="1" dirty="0">
                <a:solidFill>
                  <a:srgbClr val="002060"/>
                </a:solidFill>
                <a:latin typeface="Segoe UI"/>
                <a:cs typeface="Segoe UI"/>
              </a:rPr>
              <a:t>ARCHITECTURE</a:t>
            </a:r>
            <a:endParaRPr lang="en-US" sz="4000" b="1">
              <a:solidFill>
                <a:srgbClr val="002060"/>
              </a:solidFill>
              <a:latin typeface="Segoe UI" panose="020B0502040204020203" pitchFamily="34" charset="0"/>
              <a:cs typeface="Segoe UI" panose="020B0502040204020203" pitchFamily="34" charset="0"/>
            </a:endParaRPr>
          </a:p>
        </p:txBody>
      </p:sp>
      <p:grpSp>
        <p:nvGrpSpPr>
          <p:cNvPr id="67" name="Group 66">
            <a:extLst>
              <a:ext uri="{FF2B5EF4-FFF2-40B4-BE49-F238E27FC236}">
                <a16:creationId xmlns:a16="http://schemas.microsoft.com/office/drawing/2014/main" xmlns="" id="{A6D12FB3-2E0E-4392-B30A-8FABD55972D2}"/>
              </a:ext>
              <a:ext uri="{C183D7F6-B498-43B3-948B-1728B52AA6E4}">
                <adec:decorative xmlns:adec="http://schemas.microsoft.com/office/drawing/2017/decorative" xmlns="" val="1"/>
              </a:ext>
            </a:extLst>
          </p:cNvPr>
          <p:cNvGrpSpPr/>
          <p:nvPr/>
        </p:nvGrpSpPr>
        <p:grpSpPr>
          <a:xfrm>
            <a:off x="2851" y="2550098"/>
            <a:ext cx="12204700" cy="2514602"/>
            <a:chOff x="-12700" y="2162907"/>
            <a:chExt cx="12204700" cy="2514602"/>
          </a:xfrm>
        </p:grpSpPr>
        <p:pic>
          <p:nvPicPr>
            <p:cNvPr id="2" name="Picture 1" descr="A group of people sitting at a desk&#10;">
              <a:extLst>
                <a:ext uri="{FF2B5EF4-FFF2-40B4-BE49-F238E27FC236}">
                  <a16:creationId xmlns:a16="http://schemas.microsoft.com/office/drawing/2014/main" xmlns="" id="{2D62790E-5C31-4474-BE12-F50234A0C76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4"/>
            <a:stretch/>
          </p:blipFill>
          <p:spPr>
            <a:xfrm>
              <a:off x="-12700" y="2162908"/>
              <a:ext cx="12192000" cy="2514601"/>
            </a:xfrm>
            <a:prstGeom prst="rect">
              <a:avLst/>
            </a:prstGeom>
          </p:spPr>
        </p:pic>
        <p:sp>
          <p:nvSpPr>
            <p:cNvPr id="3" name="Rectangle 2" descr="This is an image of a desk with laptop computers and people working.">
              <a:extLst>
                <a:ext uri="{FF2B5EF4-FFF2-40B4-BE49-F238E27FC236}">
                  <a16:creationId xmlns:a16="http://schemas.microsoft.com/office/drawing/2014/main" xmlns="" id="{53AEFB1F-87BB-40C6-9BC7-E1CE0AC0AC1B}"/>
                </a:ext>
              </a:extLst>
            </p:cNvPr>
            <p:cNvSpPr/>
            <p:nvPr/>
          </p:nvSpPr>
          <p:spPr>
            <a:xfrm>
              <a:off x="0" y="2162907"/>
              <a:ext cx="12192000" cy="2514601"/>
            </a:xfrm>
            <a:prstGeom prst="rect">
              <a:avLst/>
            </a:prstGeom>
            <a:gradFill>
              <a:gsLst>
                <a:gs pos="1000">
                  <a:srgbClr val="7CEFD8">
                    <a:alpha val="79000"/>
                  </a:srgbClr>
                </a:gs>
                <a:gs pos="61000">
                  <a:srgbClr val="6672E4">
                    <a:alpha val="84000"/>
                  </a:srgbClr>
                </a:gs>
                <a:gs pos="98000">
                  <a:srgbClr val="882BE5">
                    <a:alpha val="66000"/>
                  </a:srgbClr>
                </a:gs>
              </a:gsLst>
              <a:lin ang="5400000" scaled="1"/>
            </a:gradFill>
            <a:ln w="12700" cap="flat">
              <a:noFill/>
              <a:prstDash val="solid"/>
              <a:miter lim="800000"/>
              <a:headEnd/>
              <a:tailEnd/>
            </a:ln>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dirty="0">
                <a:solidFill>
                  <a:schemeClr val="tx1"/>
                </a:solidFill>
              </a:endParaRPr>
            </a:p>
          </p:txBody>
        </p:sp>
        <p:sp>
          <p:nvSpPr>
            <p:cNvPr id="14" name="Oval 13">
              <a:extLst>
                <a:ext uri="{FF2B5EF4-FFF2-40B4-BE49-F238E27FC236}">
                  <a16:creationId xmlns:a16="http://schemas.microsoft.com/office/drawing/2014/main" xmlns="" id="{3CFBA714-94A9-4CEA-9D73-2E90A898B450}"/>
                </a:ext>
                <a:ext uri="{C183D7F6-B498-43B3-948B-1728B52AA6E4}">
                  <adec:decorative xmlns:adec="http://schemas.microsoft.com/office/drawing/2017/decorative" xmlns="" val="1"/>
                </a:ext>
              </a:extLst>
            </p:cNvPr>
            <p:cNvSpPr/>
            <p:nvPr/>
          </p:nvSpPr>
          <p:spPr>
            <a:xfrm>
              <a:off x="852826" y="2694293"/>
              <a:ext cx="1431828" cy="1431827"/>
            </a:xfrm>
            <a:prstGeom prst="ellipse">
              <a:avLst/>
            </a:prstGeom>
            <a:solidFill>
              <a:schemeClr val="bg1">
                <a:alpha val="19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6" name="Oval 15">
              <a:extLst>
                <a:ext uri="{FF2B5EF4-FFF2-40B4-BE49-F238E27FC236}">
                  <a16:creationId xmlns:a16="http://schemas.microsoft.com/office/drawing/2014/main" xmlns="" id="{3EB48CA9-382A-48A4-B5F2-BBE91C08FD62}"/>
                </a:ext>
              </a:extLst>
            </p:cNvPr>
            <p:cNvSpPr/>
            <p:nvPr/>
          </p:nvSpPr>
          <p:spPr>
            <a:xfrm>
              <a:off x="1737814" y="3936470"/>
              <a:ext cx="239688" cy="239688"/>
            </a:xfrm>
            <a:prstGeom prst="ellipse">
              <a:avLst/>
            </a:prstGeom>
            <a:solidFill>
              <a:srgbClr val="8335E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xmlns="" id="{B20BBE89-8E4D-448A-8F53-F45437DD24BB}"/>
                </a:ext>
              </a:extLst>
            </p:cNvPr>
            <p:cNvSpPr/>
            <p:nvPr/>
          </p:nvSpPr>
          <p:spPr>
            <a:xfrm>
              <a:off x="1782422" y="3981078"/>
              <a:ext cx="150473" cy="150473"/>
            </a:xfrm>
            <a:prstGeom prst="ellipse">
              <a:avLst/>
            </a:prstGeom>
            <a:solidFill>
              <a:srgbClr val="833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xmlns="" id="{DC02C732-8960-4820-B185-F087E030DAAA}"/>
                </a:ext>
              </a:extLst>
            </p:cNvPr>
            <p:cNvSpPr txBox="1"/>
            <p:nvPr/>
          </p:nvSpPr>
          <p:spPr>
            <a:xfrm>
              <a:off x="1088801" y="3119024"/>
              <a:ext cx="959878" cy="646331"/>
            </a:xfrm>
            <a:prstGeom prst="rect">
              <a:avLst/>
            </a:prstGeom>
            <a:noFill/>
          </p:spPr>
          <p:txBody>
            <a:bodyPr wrap="none" lIns="0" tIns="0" rIns="0" bIns="0" rtlCol="0" anchor="t">
              <a:spAutoFit/>
            </a:bodyPr>
            <a:lstStyle/>
            <a:p>
              <a:pPr algn="ctr"/>
              <a:r>
                <a:rPr lang="en-US" sz="1400" b="1" dirty="0">
                  <a:solidFill>
                    <a:schemeClr val="bg1"/>
                  </a:solidFill>
                  <a:latin typeface="Calibri"/>
                  <a:ea typeface="Calibri Light"/>
                  <a:cs typeface="Calibri Light"/>
                </a:rPr>
                <a:t>DATA </a:t>
              </a:r>
              <a:endParaRPr lang="en-US" sz="1400">
                <a:solidFill>
                  <a:schemeClr val="bg1"/>
                </a:solidFill>
                <a:latin typeface="Calibri"/>
                <a:ea typeface="Calibri"/>
                <a:cs typeface="Calibri"/>
              </a:endParaRPr>
            </a:p>
            <a:p>
              <a:pPr algn="ctr"/>
              <a:r>
                <a:rPr lang="en-US" sz="1400" b="1" dirty="0">
                  <a:solidFill>
                    <a:schemeClr val="bg1"/>
                  </a:solidFill>
                  <a:latin typeface="Calibri"/>
                  <a:ea typeface="Calibri Light"/>
                  <a:cs typeface="Calibri Light"/>
                </a:rPr>
                <a:t>INGESTION</a:t>
              </a:r>
            </a:p>
            <a:p>
              <a:pPr algn="ctr"/>
              <a:r>
                <a:rPr lang="en-US" sz="1400" b="1" i="1" dirty="0">
                  <a:solidFill>
                    <a:schemeClr val="bg1"/>
                  </a:solidFill>
                  <a:latin typeface="Calibri"/>
                  <a:ea typeface="Calibri Light"/>
                  <a:cs typeface="Calibri Light"/>
                </a:rPr>
                <a:t>Bronze Lay</a:t>
              </a:r>
              <a:r>
                <a:rPr lang="en-US" sz="1400" b="1" dirty="0">
                  <a:solidFill>
                    <a:schemeClr val="bg1"/>
                  </a:solidFill>
                  <a:latin typeface="Calibri"/>
                  <a:ea typeface="Calibri Light"/>
                  <a:cs typeface="Calibri Light"/>
                </a:rPr>
                <a:t>er</a:t>
              </a:r>
            </a:p>
          </p:txBody>
        </p:sp>
        <p:sp>
          <p:nvSpPr>
            <p:cNvPr id="29" name="Oval 28">
              <a:extLst>
                <a:ext uri="{FF2B5EF4-FFF2-40B4-BE49-F238E27FC236}">
                  <a16:creationId xmlns:a16="http://schemas.microsoft.com/office/drawing/2014/main" xmlns="" id="{1B02FFA3-53E3-4FFD-922C-CCB9EFEA5C8A}"/>
                </a:ext>
                <a:ext uri="{C183D7F6-B498-43B3-948B-1728B52AA6E4}">
                  <adec:decorative xmlns:adec="http://schemas.microsoft.com/office/drawing/2017/decorative" xmlns="" val="1"/>
                </a:ext>
              </a:extLst>
            </p:cNvPr>
            <p:cNvSpPr/>
            <p:nvPr/>
          </p:nvSpPr>
          <p:spPr>
            <a:xfrm>
              <a:off x="3044200" y="2703762"/>
              <a:ext cx="1416277" cy="1431826"/>
            </a:xfrm>
            <a:prstGeom prst="ellipse">
              <a:avLst/>
            </a:prstGeom>
            <a:solidFill>
              <a:schemeClr val="bg1">
                <a:alpha val="19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algn="ctr"/>
              <a:r>
                <a:rPr lang="en-US" sz="1400" dirty="0">
                  <a:solidFill>
                    <a:schemeClr val="bg1"/>
                  </a:solidFill>
                  <a:ea typeface="Calibri"/>
                  <a:cs typeface="Calibri"/>
                </a:rPr>
                <a:t>DATA CLEANING AND TRANSFOR-MATION</a:t>
              </a:r>
            </a:p>
            <a:p>
              <a:pPr algn="ctr"/>
              <a:r>
                <a:rPr lang="en-US" sz="1400" i="1" dirty="0">
                  <a:solidFill>
                    <a:schemeClr val="bg1"/>
                  </a:solidFill>
                  <a:ea typeface="Calibri" panose="020F0502020204030204"/>
                  <a:cs typeface="Calibri" panose="020F0502020204030204"/>
                </a:rPr>
                <a:t>Silver Layer</a:t>
              </a:r>
            </a:p>
          </p:txBody>
        </p:sp>
        <p:sp>
          <p:nvSpPr>
            <p:cNvPr id="31" name="Oval 30">
              <a:extLst>
                <a:ext uri="{FF2B5EF4-FFF2-40B4-BE49-F238E27FC236}">
                  <a16:creationId xmlns:a16="http://schemas.microsoft.com/office/drawing/2014/main" xmlns="" id="{0EB5F512-613A-44CC-ACE3-5B63ACC24F3F}"/>
                </a:ext>
              </a:extLst>
            </p:cNvPr>
            <p:cNvSpPr/>
            <p:nvPr/>
          </p:nvSpPr>
          <p:spPr>
            <a:xfrm>
              <a:off x="4199911" y="2835086"/>
              <a:ext cx="239688" cy="239688"/>
            </a:xfrm>
            <a:prstGeom prst="ellipse">
              <a:avLst/>
            </a:prstGeom>
            <a:solidFill>
              <a:srgbClr val="8335E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xmlns="" id="{CDD030F3-5250-4104-9D3A-3BDB421469D0}"/>
                </a:ext>
              </a:extLst>
            </p:cNvPr>
            <p:cNvSpPr/>
            <p:nvPr/>
          </p:nvSpPr>
          <p:spPr>
            <a:xfrm>
              <a:off x="4244518" y="2879693"/>
              <a:ext cx="150473" cy="150473"/>
            </a:xfrm>
            <a:prstGeom prst="ellipse">
              <a:avLst/>
            </a:prstGeom>
            <a:solidFill>
              <a:srgbClr val="833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xmlns="" id="{9AA6EBCD-B27A-4FC4-87A8-ED6638C5545A}"/>
                </a:ext>
              </a:extLst>
            </p:cNvPr>
            <p:cNvSpPr/>
            <p:nvPr/>
          </p:nvSpPr>
          <p:spPr>
            <a:xfrm>
              <a:off x="7708624" y="2703762"/>
              <a:ext cx="1431828" cy="1431826"/>
            </a:xfrm>
            <a:prstGeom prst="ellipse">
              <a:avLst/>
            </a:prstGeom>
            <a:solidFill>
              <a:schemeClr val="bg1">
                <a:alpha val="19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algn="ctr"/>
              <a:endParaRPr lang="en-US" dirty="0"/>
            </a:p>
          </p:txBody>
        </p:sp>
        <p:sp>
          <p:nvSpPr>
            <p:cNvPr id="42" name="Arc 41">
              <a:extLst>
                <a:ext uri="{FF2B5EF4-FFF2-40B4-BE49-F238E27FC236}">
                  <a16:creationId xmlns:a16="http://schemas.microsoft.com/office/drawing/2014/main" xmlns="" id="{63F2913C-4436-40AC-9048-54405BD23C0C}"/>
                </a:ext>
                <a:ext uri="{C183D7F6-B498-43B3-948B-1728B52AA6E4}">
                  <adec:decorative xmlns:adec="http://schemas.microsoft.com/office/drawing/2017/decorative" xmlns="" val="1"/>
                </a:ext>
              </a:extLst>
            </p:cNvPr>
            <p:cNvSpPr/>
            <p:nvPr/>
          </p:nvSpPr>
          <p:spPr>
            <a:xfrm>
              <a:off x="7708624" y="2703762"/>
              <a:ext cx="1431827" cy="1431826"/>
            </a:xfrm>
            <a:prstGeom prst="arc">
              <a:avLst>
                <a:gd name="adj1" fmla="val 16200000"/>
                <a:gd name="adj2" fmla="val 755116"/>
              </a:avLst>
            </a:prstGeom>
            <a:ln w="38100">
              <a:gradFill>
                <a:gsLst>
                  <a:gs pos="0">
                    <a:srgbClr val="7BEBD8"/>
                  </a:gs>
                  <a:gs pos="8000">
                    <a:srgbClr val="6B8DE1"/>
                  </a:gs>
                  <a:gs pos="100000">
                    <a:srgbClr val="8335E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4" name="Oval 43">
              <a:extLst>
                <a:ext uri="{FF2B5EF4-FFF2-40B4-BE49-F238E27FC236}">
                  <a16:creationId xmlns:a16="http://schemas.microsoft.com/office/drawing/2014/main" xmlns="" id="{7668F955-7C8C-4C69-AA19-CD562C2DFDCC}"/>
                </a:ext>
              </a:extLst>
            </p:cNvPr>
            <p:cNvSpPr/>
            <p:nvPr/>
          </p:nvSpPr>
          <p:spPr>
            <a:xfrm>
              <a:off x="8318011" y="2636373"/>
              <a:ext cx="150473" cy="150473"/>
            </a:xfrm>
            <a:prstGeom prst="ellipse">
              <a:avLst/>
            </a:prstGeom>
            <a:solidFill>
              <a:srgbClr val="833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xmlns="" id="{5C436978-7B84-4F27-8A32-574050B29AD0}"/>
                </a:ext>
              </a:extLst>
            </p:cNvPr>
            <p:cNvSpPr txBox="1"/>
            <p:nvPr/>
          </p:nvSpPr>
          <p:spPr>
            <a:xfrm>
              <a:off x="7964636" y="3206690"/>
              <a:ext cx="1056892" cy="430887"/>
            </a:xfrm>
            <a:prstGeom prst="rect">
              <a:avLst/>
            </a:prstGeom>
            <a:noFill/>
          </p:spPr>
          <p:txBody>
            <a:bodyPr wrap="none" lIns="0" tIns="0" rIns="0" bIns="0" rtlCol="0" anchor="t">
              <a:spAutoFit/>
            </a:bodyPr>
            <a:lstStyle/>
            <a:p>
              <a:pPr algn="ctr"/>
              <a:r>
                <a:rPr lang="en-US" sz="1400" b="1" dirty="0">
                  <a:solidFill>
                    <a:schemeClr val="bg1"/>
                  </a:solidFill>
                  <a:latin typeface="Calibri"/>
                  <a:ea typeface="Calibri Light"/>
                  <a:cs typeface="Calibri Light"/>
                </a:rPr>
                <a:t>WORKFLOW </a:t>
              </a:r>
            </a:p>
            <a:p>
              <a:pPr algn="ctr"/>
              <a:r>
                <a:rPr lang="en-US" sz="1400" b="1" dirty="0">
                  <a:solidFill>
                    <a:schemeClr val="bg1"/>
                  </a:solidFill>
                  <a:latin typeface="Calibri"/>
                  <a:ea typeface="Calibri Light"/>
                  <a:cs typeface="Calibri Light"/>
                </a:rPr>
                <a:t>AUTOMATION</a:t>
              </a:r>
              <a:endParaRPr lang="en-US" sz="1400" b="1">
                <a:solidFill>
                  <a:schemeClr val="bg1"/>
                </a:solidFill>
                <a:latin typeface="Calibri"/>
                <a:ea typeface="Calibri Light"/>
                <a:cs typeface="Calibri Light"/>
              </a:endParaRPr>
            </a:p>
          </p:txBody>
        </p:sp>
        <p:grpSp>
          <p:nvGrpSpPr>
            <p:cNvPr id="46" name="Group 45">
              <a:extLst>
                <a:ext uri="{FF2B5EF4-FFF2-40B4-BE49-F238E27FC236}">
                  <a16:creationId xmlns:a16="http://schemas.microsoft.com/office/drawing/2014/main" xmlns="" id="{65E89B9B-4C47-402B-9C75-47765E1F7593}"/>
                </a:ext>
              </a:extLst>
            </p:cNvPr>
            <p:cNvGrpSpPr/>
            <p:nvPr/>
          </p:nvGrpSpPr>
          <p:grpSpPr>
            <a:xfrm>
              <a:off x="9871788" y="2706779"/>
              <a:ext cx="1431828" cy="1456895"/>
              <a:chOff x="7168469" y="2677815"/>
              <a:chExt cx="1431828" cy="1456895"/>
            </a:xfrm>
          </p:grpSpPr>
          <p:grpSp>
            <p:nvGrpSpPr>
              <p:cNvPr id="51" name="Group 50">
                <a:extLst>
                  <a:ext uri="{FF2B5EF4-FFF2-40B4-BE49-F238E27FC236}">
                    <a16:creationId xmlns:a16="http://schemas.microsoft.com/office/drawing/2014/main" xmlns="" id="{02C4BAC1-CFE0-4BB6-AB1E-3D97B9D3C37C}"/>
                  </a:ext>
                </a:extLst>
              </p:cNvPr>
              <p:cNvGrpSpPr/>
              <p:nvPr/>
            </p:nvGrpSpPr>
            <p:grpSpPr>
              <a:xfrm>
                <a:off x="7168469" y="2677815"/>
                <a:ext cx="1431828" cy="1456895"/>
                <a:chOff x="7168469" y="2677815"/>
                <a:chExt cx="1431828" cy="1456895"/>
              </a:xfrm>
            </p:grpSpPr>
            <p:sp>
              <p:nvSpPr>
                <p:cNvPr id="53" name="Oval 52">
                  <a:extLst>
                    <a:ext uri="{FF2B5EF4-FFF2-40B4-BE49-F238E27FC236}">
                      <a16:creationId xmlns:a16="http://schemas.microsoft.com/office/drawing/2014/main" xmlns="" id="{52EBF013-87F7-4305-9CC9-737BE16F0D9F}"/>
                    </a:ext>
                    <a:ext uri="{C183D7F6-B498-43B3-948B-1728B52AA6E4}">
                      <adec:decorative xmlns:adec="http://schemas.microsoft.com/office/drawing/2017/decorative" xmlns="" val="1"/>
                    </a:ext>
                  </a:extLst>
                </p:cNvPr>
                <p:cNvSpPr/>
                <p:nvPr/>
              </p:nvSpPr>
              <p:spPr>
                <a:xfrm>
                  <a:off x="7168469" y="2702884"/>
                  <a:ext cx="1431828" cy="1431826"/>
                </a:xfrm>
                <a:prstGeom prst="ellipse">
                  <a:avLst/>
                </a:prstGeom>
                <a:solidFill>
                  <a:schemeClr val="bg1">
                    <a:alpha val="19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4" name="Arc 53">
                  <a:extLst>
                    <a:ext uri="{FF2B5EF4-FFF2-40B4-BE49-F238E27FC236}">
                      <a16:creationId xmlns:a16="http://schemas.microsoft.com/office/drawing/2014/main" xmlns="" id="{2CC348C5-CD52-4041-A9DC-8F47C9D04352}"/>
                    </a:ext>
                  </a:extLst>
                </p:cNvPr>
                <p:cNvSpPr/>
                <p:nvPr/>
              </p:nvSpPr>
              <p:spPr>
                <a:xfrm>
                  <a:off x="7168469" y="2702884"/>
                  <a:ext cx="1431827" cy="1431826"/>
                </a:xfrm>
                <a:prstGeom prst="arc">
                  <a:avLst>
                    <a:gd name="adj1" fmla="val 16200000"/>
                    <a:gd name="adj2" fmla="val 17724961"/>
                  </a:avLst>
                </a:prstGeom>
                <a:ln w="38100">
                  <a:gradFill>
                    <a:gsLst>
                      <a:gs pos="0">
                        <a:srgbClr val="7BEBD8"/>
                      </a:gs>
                      <a:gs pos="8000">
                        <a:srgbClr val="6B8DE1"/>
                      </a:gs>
                      <a:gs pos="100000">
                        <a:srgbClr val="8335E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5" name="Oval 54">
                  <a:extLst>
                    <a:ext uri="{FF2B5EF4-FFF2-40B4-BE49-F238E27FC236}">
                      <a16:creationId xmlns:a16="http://schemas.microsoft.com/office/drawing/2014/main" xmlns="" id="{083CA45F-7535-4D5F-A010-B7B38ED57BC7}"/>
                    </a:ext>
                  </a:extLst>
                </p:cNvPr>
                <p:cNvSpPr/>
                <p:nvPr/>
              </p:nvSpPr>
              <p:spPr>
                <a:xfrm>
                  <a:off x="8095353" y="2677815"/>
                  <a:ext cx="239688" cy="239687"/>
                </a:xfrm>
                <a:prstGeom prst="ellipse">
                  <a:avLst/>
                </a:prstGeom>
                <a:solidFill>
                  <a:srgbClr val="8335E5">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Oval 55">
                  <a:extLst>
                    <a:ext uri="{FF2B5EF4-FFF2-40B4-BE49-F238E27FC236}">
                      <a16:creationId xmlns:a16="http://schemas.microsoft.com/office/drawing/2014/main" xmlns="" id="{43FCBFAE-6E88-440A-ACEC-41E289885112}"/>
                    </a:ext>
                  </a:extLst>
                </p:cNvPr>
                <p:cNvSpPr/>
                <p:nvPr/>
              </p:nvSpPr>
              <p:spPr>
                <a:xfrm>
                  <a:off x="8139961" y="2722422"/>
                  <a:ext cx="150473" cy="150473"/>
                </a:xfrm>
                <a:prstGeom prst="ellipse">
                  <a:avLst/>
                </a:prstGeom>
                <a:solidFill>
                  <a:srgbClr val="833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2" name="TextBox 51">
                <a:extLst>
                  <a:ext uri="{FF2B5EF4-FFF2-40B4-BE49-F238E27FC236}">
                    <a16:creationId xmlns:a16="http://schemas.microsoft.com/office/drawing/2014/main" xmlns="" id="{38F4B3FC-E555-4F37-BC12-4940EF773A7E}"/>
                  </a:ext>
                </a:extLst>
              </p:cNvPr>
              <p:cNvSpPr txBox="1"/>
              <p:nvPr/>
            </p:nvSpPr>
            <p:spPr>
              <a:xfrm>
                <a:off x="7232219" y="3268898"/>
                <a:ext cx="1304331" cy="246221"/>
              </a:xfrm>
              <a:prstGeom prst="rect">
                <a:avLst/>
              </a:prstGeom>
              <a:noFill/>
            </p:spPr>
            <p:txBody>
              <a:bodyPr wrap="none" lIns="0" tIns="0" rIns="0" bIns="0" rtlCol="0" anchor="t">
                <a:spAutoFit/>
              </a:bodyPr>
              <a:lstStyle/>
              <a:p>
                <a:pPr algn="ctr"/>
                <a:r>
                  <a:rPr lang="en-US" sz="1600" b="1" dirty="0">
                    <a:solidFill>
                      <a:schemeClr val="bg1"/>
                    </a:solidFill>
                    <a:latin typeface="Calibri"/>
                    <a:ea typeface="Calibri Light"/>
                    <a:cs typeface="Calibri Light"/>
                  </a:rPr>
                  <a:t>VISUALIZATION</a:t>
                </a:r>
              </a:p>
            </p:txBody>
          </p:sp>
        </p:grpSp>
        <p:sp>
          <p:nvSpPr>
            <p:cNvPr id="64" name="Arc 63">
              <a:extLst>
                <a:ext uri="{FF2B5EF4-FFF2-40B4-BE49-F238E27FC236}">
                  <a16:creationId xmlns:a16="http://schemas.microsoft.com/office/drawing/2014/main" xmlns="" id="{CAE87D92-1F07-49DE-BFD7-F74BD728BD31}"/>
                </a:ext>
              </a:extLst>
            </p:cNvPr>
            <p:cNvSpPr/>
            <p:nvPr/>
          </p:nvSpPr>
          <p:spPr>
            <a:xfrm>
              <a:off x="3034836" y="2697654"/>
              <a:ext cx="1431827" cy="1431826"/>
            </a:xfrm>
            <a:prstGeom prst="arc">
              <a:avLst>
                <a:gd name="adj1" fmla="val 16200000"/>
                <a:gd name="adj2" fmla="val 19003948"/>
              </a:avLst>
            </a:prstGeom>
            <a:ln w="38100">
              <a:gradFill>
                <a:gsLst>
                  <a:gs pos="0">
                    <a:srgbClr val="7BEBD8"/>
                  </a:gs>
                  <a:gs pos="8000">
                    <a:srgbClr val="6B8DE1"/>
                  </a:gs>
                  <a:gs pos="100000">
                    <a:srgbClr val="8335E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6" name="Arc 65">
              <a:extLst>
                <a:ext uri="{FF2B5EF4-FFF2-40B4-BE49-F238E27FC236}">
                  <a16:creationId xmlns:a16="http://schemas.microsoft.com/office/drawing/2014/main" xmlns="" id="{45B3FF71-3684-4143-BA68-D4583307C956}"/>
                </a:ext>
              </a:extLst>
            </p:cNvPr>
            <p:cNvSpPr/>
            <p:nvPr/>
          </p:nvSpPr>
          <p:spPr>
            <a:xfrm>
              <a:off x="852826" y="2694293"/>
              <a:ext cx="1431827" cy="1431826"/>
            </a:xfrm>
            <a:prstGeom prst="arc">
              <a:avLst>
                <a:gd name="adj1" fmla="val 16200000"/>
                <a:gd name="adj2" fmla="val 3850353"/>
              </a:avLst>
            </a:prstGeom>
            <a:ln w="38100">
              <a:gradFill>
                <a:gsLst>
                  <a:gs pos="0">
                    <a:srgbClr val="7BEBD8"/>
                  </a:gs>
                  <a:gs pos="8000">
                    <a:srgbClr val="6B8DE1"/>
                  </a:gs>
                  <a:gs pos="100000">
                    <a:srgbClr val="8335E5"/>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sp>
        <p:nvSpPr>
          <p:cNvPr id="9" name="Oval 8">
            <a:extLst>
              <a:ext uri="{FF2B5EF4-FFF2-40B4-BE49-F238E27FC236}">
                <a16:creationId xmlns:a16="http://schemas.microsoft.com/office/drawing/2014/main" xmlns="" id="{C850D980-2EA3-4B24-91E3-82E5A56B7DD0}"/>
              </a:ext>
              <a:ext uri="{C183D7F6-B498-43B3-948B-1728B52AA6E4}">
                <adec:decorative xmlns:adec="http://schemas.microsoft.com/office/drawing/2017/decorative" xmlns="" val="1"/>
              </a:ext>
            </a:extLst>
          </p:cNvPr>
          <p:cNvSpPr/>
          <p:nvPr/>
        </p:nvSpPr>
        <p:spPr>
          <a:xfrm>
            <a:off x="5373742" y="3093754"/>
            <a:ext cx="1447379" cy="1431826"/>
          </a:xfrm>
          <a:prstGeom prst="ellipse">
            <a:avLst/>
          </a:prstGeom>
          <a:solidFill>
            <a:schemeClr val="bg1">
              <a:alpha val="19000"/>
            </a:schemeClr>
          </a:solidFill>
          <a:ln w="38100">
            <a:solidFill>
              <a:schemeClr val="bg1"/>
            </a:solidFill>
          </a:ln>
        </p:spPr>
        <p:style>
          <a:lnRef idx="1">
            <a:schemeClr val="accent1"/>
          </a:lnRef>
          <a:fillRef idx="0">
            <a:schemeClr val="accent1"/>
          </a:fillRef>
          <a:effectRef idx="0">
            <a:schemeClr val="accent1"/>
          </a:effectRef>
          <a:fontRef idx="minor">
            <a:schemeClr val="tx1"/>
          </a:fontRef>
        </p:style>
        <p:txBody>
          <a:bodyPr lIns="91440" tIns="45720" rIns="91440" bIns="45720" rtlCol="0" anchor="ctr"/>
          <a:lstStyle/>
          <a:p>
            <a:pPr algn="ctr"/>
            <a:r>
              <a:rPr lang="en-US" sz="1400" dirty="0">
                <a:solidFill>
                  <a:schemeClr val="bg1"/>
                </a:solidFill>
                <a:ea typeface="Calibri"/>
                <a:cs typeface="Calibri"/>
              </a:rPr>
              <a:t>DEMOGRA-PHIC ANALYTICS</a:t>
            </a:r>
          </a:p>
          <a:p>
            <a:pPr algn="ctr"/>
            <a:r>
              <a:rPr lang="en-US" sz="1400" i="1" dirty="0">
                <a:solidFill>
                  <a:schemeClr val="bg1"/>
                </a:solidFill>
                <a:ea typeface="Calibri"/>
                <a:cs typeface="Calibri"/>
              </a:rPr>
              <a:t>Gold Layer</a:t>
            </a:r>
          </a:p>
        </p:txBody>
      </p:sp>
    </p:spTree>
    <p:extLst>
      <p:ext uri="{BB962C8B-B14F-4D97-AF65-F5344CB8AC3E}">
        <p14:creationId xmlns:p14="http://schemas.microsoft.com/office/powerpoint/2010/main" val="2163769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rallelogram 3">
            <a:extLst>
              <a:ext uri="{FF2B5EF4-FFF2-40B4-BE49-F238E27FC236}">
                <a16:creationId xmlns:a16="http://schemas.microsoft.com/office/drawing/2014/main" xmlns="" id="{84D54D7B-F337-BBEB-9CD8-E724D008F0E9}"/>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a:extLst>
              <a:ext uri="{FF2B5EF4-FFF2-40B4-BE49-F238E27FC236}">
                <a16:creationId xmlns:a16="http://schemas.microsoft.com/office/drawing/2014/main" xmlns="" id="{27497A5A-8490-5DD7-219A-D652B7BC3AAA}"/>
              </a:ext>
            </a:extLst>
          </p:cNvPr>
          <p:cNvSpPr>
            <a:spLocks noGrp="1"/>
          </p:cNvSpPr>
          <p:nvPr>
            <p:ph type="title"/>
          </p:nvPr>
        </p:nvSpPr>
        <p:spPr/>
        <p:txBody>
          <a:bodyPr>
            <a:normAutofit/>
          </a:bodyPr>
          <a:lstStyle/>
          <a:p>
            <a:r>
              <a:rPr lang="en-US" sz="4000" b="1" dirty="0">
                <a:solidFill>
                  <a:schemeClr val="bg1"/>
                </a:solidFill>
                <a:latin typeface="Segoe UI"/>
                <a:ea typeface="Calibri Light"/>
                <a:cs typeface="Calibri Light"/>
              </a:rPr>
              <a:t>PROJECT ARCHITECTURE </a:t>
            </a:r>
            <a:endParaRPr lang="en-US" sz="4000" b="1">
              <a:solidFill>
                <a:schemeClr val="bg1"/>
              </a:solidFill>
              <a:latin typeface="Segoe UI"/>
              <a:ea typeface="Calibri"/>
              <a:cs typeface="Calibri"/>
            </a:endParaRPr>
          </a:p>
        </p:txBody>
      </p:sp>
      <p:sp>
        <p:nvSpPr>
          <p:cNvPr id="5" name="TextBox 4">
            <a:extLst>
              <a:ext uri="{FF2B5EF4-FFF2-40B4-BE49-F238E27FC236}">
                <a16:creationId xmlns:a16="http://schemas.microsoft.com/office/drawing/2014/main" xmlns="" id="{BA2C931A-913A-CC34-E0A2-F6D8561EDFED}"/>
              </a:ext>
            </a:extLst>
          </p:cNvPr>
          <p:cNvSpPr txBox="1"/>
          <p:nvPr/>
        </p:nvSpPr>
        <p:spPr>
          <a:xfrm>
            <a:off x="202162" y="2068285"/>
            <a:ext cx="11725469"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Ingestion:</a:t>
            </a:r>
            <a:r>
              <a:rPr lang="en-US" dirty="0">
                <a:ea typeface="+mn-lt"/>
                <a:cs typeface="+mn-lt"/>
              </a:rPr>
              <a:t> An entry layer that loads raw datasets using Python, ensuring that all incoming data adheres to predefined schemas and regional identifiers.</a:t>
            </a:r>
            <a:endParaRPr lang="en-US" dirty="0"/>
          </a:p>
          <a:p>
            <a:pPr marL="285750" indent="-285750">
              <a:buFont typeface="Arial"/>
              <a:buChar char="•"/>
            </a:pPr>
            <a:endParaRPr lang="en-US" dirty="0">
              <a:ea typeface="+mn-lt"/>
              <a:cs typeface="+mn-lt"/>
            </a:endParaRPr>
          </a:p>
          <a:p>
            <a:pPr marL="285750" indent="-285750">
              <a:buFont typeface="Arial"/>
              <a:buChar char="•"/>
            </a:pPr>
            <a:r>
              <a:rPr lang="en-US" b="1" dirty="0">
                <a:ea typeface="+mn-lt"/>
                <a:cs typeface="+mn-lt"/>
              </a:rPr>
              <a:t>Transformation &amp; Cleaning:</a:t>
            </a:r>
            <a:r>
              <a:rPr lang="en-US" dirty="0">
                <a:ea typeface="+mn-lt"/>
                <a:cs typeface="+mn-lt"/>
              </a:rPr>
              <a:t> A data-refining process that cleans inconsistent demographic records and standardizes labels to create high-fidelity aggregated metrics.</a:t>
            </a:r>
            <a:endParaRPr lang="en-US" dirty="0"/>
          </a:p>
          <a:p>
            <a:pPr marL="285750" indent="-285750">
              <a:buFont typeface="Arial"/>
              <a:buChar char="•"/>
            </a:pPr>
            <a:endParaRPr lang="en-US" dirty="0">
              <a:ea typeface="+mn-lt"/>
              <a:cs typeface="+mn-lt"/>
            </a:endParaRPr>
          </a:p>
          <a:p>
            <a:pPr marL="285750" indent="-285750">
              <a:buFont typeface="Arial"/>
              <a:buChar char="•"/>
            </a:pPr>
            <a:r>
              <a:rPr lang="en-US" b="1" dirty="0">
                <a:ea typeface="+mn-lt"/>
                <a:cs typeface="+mn-lt"/>
              </a:rPr>
              <a:t>Data Analytics:</a:t>
            </a:r>
            <a:r>
              <a:rPr lang="en-US" dirty="0">
                <a:ea typeface="+mn-lt"/>
                <a:cs typeface="+mn-lt"/>
              </a:rPr>
              <a:t> A processing layer dedicated to computing complex demographic trends, including population growth, gender distributions, and socio-economic indicators like literacy and employment.</a:t>
            </a:r>
            <a:endParaRPr lang="en-US" dirty="0"/>
          </a:p>
          <a:p>
            <a:pPr marL="285750" indent="-285750">
              <a:buFont typeface="Arial"/>
              <a:buChar char="•"/>
            </a:pPr>
            <a:endParaRPr lang="en-US" dirty="0">
              <a:ea typeface="+mn-lt"/>
              <a:cs typeface="+mn-lt"/>
            </a:endParaRPr>
          </a:p>
          <a:p>
            <a:pPr marL="285750" indent="-285750">
              <a:buFont typeface="Arial"/>
              <a:buChar char="•"/>
            </a:pPr>
            <a:r>
              <a:rPr lang="en-US" b="1" dirty="0">
                <a:ea typeface="+mn-lt"/>
                <a:cs typeface="+mn-lt"/>
              </a:rPr>
              <a:t>Workflow Automation:</a:t>
            </a:r>
            <a:r>
              <a:rPr lang="en-US" dirty="0">
                <a:ea typeface="+mn-lt"/>
                <a:cs typeface="+mn-lt"/>
              </a:rPr>
              <a:t> The </a:t>
            </a:r>
            <a:r>
              <a:rPr lang="en-US" i="1" dirty="0">
                <a:ea typeface="+mn-lt"/>
                <a:cs typeface="+mn-lt"/>
              </a:rPr>
              <a:t>control center</a:t>
            </a:r>
            <a:r>
              <a:rPr lang="en-US" dirty="0">
                <a:ea typeface="+mn-lt"/>
                <a:cs typeface="+mn-lt"/>
              </a:rPr>
              <a:t> powered by Apache Airflow, which manages scheduled ETL pipelines with built-in retries, logging, and performance monitoring.</a:t>
            </a:r>
            <a:endParaRPr lang="en-US" dirty="0"/>
          </a:p>
          <a:p>
            <a:pPr marL="285750" indent="-285750">
              <a:buFont typeface="Arial"/>
              <a:buChar char="•"/>
            </a:pPr>
            <a:endParaRPr lang="en-US" dirty="0">
              <a:ea typeface="+mn-lt"/>
              <a:cs typeface="+mn-lt"/>
            </a:endParaRPr>
          </a:p>
          <a:p>
            <a:pPr marL="285750" indent="-285750">
              <a:buFont typeface="Arial"/>
              <a:buChar char="•"/>
            </a:pPr>
            <a:r>
              <a:rPr lang="en-US" b="1" dirty="0">
                <a:ea typeface="+mn-lt"/>
                <a:cs typeface="+mn-lt"/>
              </a:rPr>
              <a:t>Visualization Layer:</a:t>
            </a:r>
            <a:r>
              <a:rPr lang="en-US" dirty="0">
                <a:ea typeface="+mn-lt"/>
                <a:cs typeface="+mn-lt"/>
              </a:rPr>
              <a:t> The final consumption stage where refined data is visualized through Power BI dashboards, delivering interactive charts and KPIs tailored for evidence-based policymaking.</a:t>
            </a:r>
            <a:endParaRPr lang="en-US" dirty="0"/>
          </a:p>
          <a:p>
            <a:pPr algn="l"/>
            <a:endParaRPr lang="en-US" dirty="0">
              <a:ea typeface="Calibri"/>
              <a:cs typeface="Calibri"/>
            </a:endParaRPr>
          </a:p>
        </p:txBody>
      </p:sp>
    </p:spTree>
    <p:extLst>
      <p:ext uri="{BB962C8B-B14F-4D97-AF65-F5344CB8AC3E}">
        <p14:creationId xmlns:p14="http://schemas.microsoft.com/office/powerpoint/2010/main" val="708612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Title 52" hidden="1">
            <a:extLst>
              <a:ext uri="{FF2B5EF4-FFF2-40B4-BE49-F238E27FC236}">
                <a16:creationId xmlns:a16="http://schemas.microsoft.com/office/drawing/2014/main" xmlns="" id="{6BCAF586-A14B-4A3B-A249-655ADDBB3A4C}"/>
              </a:ext>
            </a:extLst>
          </p:cNvPr>
          <p:cNvSpPr>
            <a:spLocks noGrp="1"/>
          </p:cNvSpPr>
          <p:nvPr>
            <p:ph type="title"/>
          </p:nvPr>
        </p:nvSpPr>
        <p:spPr/>
        <p:txBody>
          <a:bodyPr/>
          <a:lstStyle/>
          <a:p>
            <a:r>
              <a:rPr lang="en-US" dirty="0"/>
              <a:t>Human resources slide 8</a:t>
            </a:r>
          </a:p>
        </p:txBody>
      </p:sp>
      <p:sp>
        <p:nvSpPr>
          <p:cNvPr id="3" name="TextBox 2">
            <a:extLst>
              <a:ext uri="{FF2B5EF4-FFF2-40B4-BE49-F238E27FC236}">
                <a16:creationId xmlns:a16="http://schemas.microsoft.com/office/drawing/2014/main" xmlns="" id="{CE6AF7FE-5978-4B5F-90E1-044AC25EC230}"/>
              </a:ext>
            </a:extLst>
          </p:cNvPr>
          <p:cNvSpPr txBox="1"/>
          <p:nvPr/>
        </p:nvSpPr>
        <p:spPr>
          <a:xfrm>
            <a:off x="726781" y="351307"/>
            <a:ext cx="7359748" cy="972818"/>
          </a:xfrm>
          <a:prstGeom prst="rect">
            <a:avLst/>
          </a:prstGeom>
          <a:noFill/>
        </p:spPr>
        <p:txBody>
          <a:bodyPr wrap="square" lIns="0" tIns="0" rIns="0" bIns="0" rtlCol="0" anchor="t">
            <a:noAutofit/>
          </a:bodyPr>
          <a:lstStyle>
            <a:defPPr>
              <a:defRPr lang="en-US"/>
            </a:defPPr>
            <a:lvl1pPr>
              <a:lnSpc>
                <a:spcPts val="4000"/>
              </a:lnSpc>
              <a:defRPr sz="3600" b="1">
                <a:solidFill>
                  <a:srgbClr val="002060"/>
                </a:solidFill>
                <a:latin typeface="Segoe UI" panose="020B0502040204020203" pitchFamily="34" charset="0"/>
                <a:cs typeface="Segoe UI" panose="020B0502040204020203" pitchFamily="34" charset="0"/>
              </a:defRPr>
            </a:lvl1pPr>
          </a:lstStyle>
          <a:p>
            <a:r>
              <a:rPr lang="en-US" sz="3200" dirty="0">
                <a:latin typeface="Segoe UI"/>
                <a:cs typeface="Segoe UI"/>
              </a:rPr>
              <a:t>THE MEDALLION ARCHITECTURE</a:t>
            </a:r>
            <a:endParaRPr lang="en-US" sz="3200" dirty="0"/>
          </a:p>
        </p:txBody>
      </p:sp>
      <p:sp>
        <p:nvSpPr>
          <p:cNvPr id="5" name="TextBox 4">
            <a:extLst>
              <a:ext uri="{FF2B5EF4-FFF2-40B4-BE49-F238E27FC236}">
                <a16:creationId xmlns:a16="http://schemas.microsoft.com/office/drawing/2014/main" xmlns="" id="{11FEAF3D-6FC9-46CB-B4A4-9B8CA760AE20}"/>
              </a:ext>
            </a:extLst>
          </p:cNvPr>
          <p:cNvSpPr txBox="1"/>
          <p:nvPr/>
        </p:nvSpPr>
        <p:spPr>
          <a:xfrm>
            <a:off x="835638" y="1442366"/>
            <a:ext cx="6395586" cy="2954655"/>
          </a:xfrm>
          <a:prstGeom prst="rect">
            <a:avLst/>
          </a:prstGeom>
        </p:spPr>
        <p:txBody>
          <a:bodyPr wrap="square" lIns="0" tIns="0" rIns="0" bIns="0" anchor="t">
            <a:spAutoFit/>
          </a:bodyPr>
          <a:lstStyle>
            <a:defPPr>
              <a:defRPr lang="en-US"/>
            </a:defPPr>
            <a:lvl1pPr>
              <a:defRPr sz="1600" i="1">
                <a:solidFill>
                  <a:srgbClr val="002060"/>
                </a:solidFill>
                <a:latin typeface="+mj-lt"/>
                <a:cs typeface="Segoe UI" panose="020B0502040204020203" pitchFamily="34" charset="0"/>
              </a:defRPr>
            </a:lvl1pPr>
          </a:lstStyle>
          <a:p>
            <a:r>
              <a:rPr lang="en-US" b="1" i="0" dirty="0">
                <a:ea typeface="+mj-lt"/>
                <a:cs typeface="+mj-lt"/>
              </a:rPr>
              <a:t>1. Bronze Layer:</a:t>
            </a:r>
            <a:endParaRPr lang="en-US" b="1" dirty="0"/>
          </a:p>
          <a:p>
            <a:endParaRPr lang="en-US" i="0" dirty="0">
              <a:ea typeface="+mj-lt"/>
              <a:cs typeface="+mj-lt"/>
            </a:endParaRPr>
          </a:p>
          <a:p>
            <a:r>
              <a:rPr lang="en-US" i="0" dirty="0">
                <a:ea typeface="+mj-lt"/>
                <a:cs typeface="+mj-lt"/>
              </a:rPr>
              <a:t>Immutable Data Capture: It acts as a first target landing area where the census data (CSV/JSON files) is loaded into delta tables with no changes.</a:t>
            </a:r>
            <a:endParaRPr lang="en-US" dirty="0"/>
          </a:p>
          <a:p>
            <a:endParaRPr lang="en-US"/>
          </a:p>
          <a:p>
            <a:r>
              <a:rPr lang="en-US" i="0" dirty="0">
                <a:ea typeface="+mj-lt"/>
                <a:cs typeface="+mj-lt"/>
              </a:rPr>
              <a:t>Auditability &amp; Lineage: It keeps a record of all the source data so that all such data could be traced for audits and even re-computed if the logic changed.</a:t>
            </a:r>
            <a:endParaRPr lang="en-US" dirty="0"/>
          </a:p>
          <a:p>
            <a:endParaRPr lang="en-US"/>
          </a:p>
          <a:p>
            <a:r>
              <a:rPr lang="en-US" i="0" dirty="0">
                <a:ea typeface="+mj-lt"/>
                <a:cs typeface="+mj-lt"/>
              </a:rPr>
              <a:t>Schema On Read: Employs Spark to read large data sets quickly and capture naive region identifiers and demographic variables for validation purposes.</a:t>
            </a:r>
            <a:endParaRPr lang="en-US" dirty="0"/>
          </a:p>
          <a:p>
            <a:endParaRPr lang="en-US"/>
          </a:p>
          <a:p>
            <a:endParaRPr lang="en-US" i="0" dirty="0">
              <a:ea typeface="Calibri Light"/>
              <a:cs typeface="Calibri Light"/>
            </a:endParaRPr>
          </a:p>
        </p:txBody>
      </p:sp>
      <p:sp>
        <p:nvSpPr>
          <p:cNvPr id="52" name="Parallelogram 51">
            <a:extLst>
              <a:ext uri="{FF2B5EF4-FFF2-40B4-BE49-F238E27FC236}">
                <a16:creationId xmlns:a16="http://schemas.microsoft.com/office/drawing/2014/main" xmlns="" id="{574BF90C-CC9A-45B3-E29B-8C16CF364185}"/>
              </a:ext>
              <a:ext uri="{C183D7F6-B498-43B3-948B-1728B52AA6E4}">
                <adec:decorative xmlns:adec="http://schemas.microsoft.com/office/drawing/2017/decorative" xmlns="" val="1"/>
              </a:ext>
            </a:extLst>
          </p:cNvPr>
          <p:cNvSpPr/>
          <p:nvPr/>
        </p:nvSpPr>
        <p:spPr>
          <a:xfrm>
            <a:off x="8314249" y="-3226834"/>
            <a:ext cx="4194319"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54" name="Isosceles Triangle 53">
            <a:extLst>
              <a:ext uri="{FF2B5EF4-FFF2-40B4-BE49-F238E27FC236}">
                <a16:creationId xmlns:a16="http://schemas.microsoft.com/office/drawing/2014/main" xmlns="" id="{356E55CF-6AC1-6144-2714-94DF711F4936}"/>
              </a:ext>
            </a:extLst>
          </p:cNvPr>
          <p:cNvSpPr/>
          <p:nvPr/>
        </p:nvSpPr>
        <p:spPr>
          <a:xfrm>
            <a:off x="8581840" y="1029011"/>
            <a:ext cx="3665499" cy="3285930"/>
          </a:xfrm>
          <a:prstGeom prst="triangle">
            <a:avLst/>
          </a:prstGeom>
          <a:solidFill>
            <a:schemeClr val="bg1"/>
          </a:solidFill>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xmlns="" id="{DEF4633A-03E4-7A17-45C5-8120C4357915}"/>
              </a:ext>
            </a:extLst>
          </p:cNvPr>
          <p:cNvCxnSpPr/>
          <p:nvPr/>
        </p:nvCxnSpPr>
        <p:spPr>
          <a:xfrm>
            <a:off x="9766041" y="2192693"/>
            <a:ext cx="1290734" cy="15551"/>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xmlns="" id="{2292B691-34CD-B984-DD18-F13123ABB10F}"/>
              </a:ext>
            </a:extLst>
          </p:cNvPr>
          <p:cNvCxnSpPr/>
          <p:nvPr/>
        </p:nvCxnSpPr>
        <p:spPr>
          <a:xfrm>
            <a:off x="9206203" y="3203509"/>
            <a:ext cx="2425959" cy="15551"/>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xmlns="" id="{A45A2DF1-8CC1-9060-B1AA-84D7D4D2945A}"/>
              </a:ext>
            </a:extLst>
          </p:cNvPr>
          <p:cNvSpPr txBox="1"/>
          <p:nvPr/>
        </p:nvSpPr>
        <p:spPr>
          <a:xfrm>
            <a:off x="9975979" y="1687286"/>
            <a:ext cx="87863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dirty="0">
                <a:solidFill>
                  <a:srgbClr val="002060"/>
                </a:solidFill>
                <a:latin typeface="Segoe UI"/>
                <a:ea typeface="Calibri"/>
                <a:cs typeface="Calibri"/>
              </a:rPr>
              <a:t>Bronze</a:t>
            </a:r>
            <a:endParaRPr lang="en-US" sz="1600" b="1" dirty="0">
              <a:solidFill>
                <a:srgbClr val="002060"/>
              </a:solidFill>
              <a:latin typeface="Segoe UI"/>
            </a:endParaRPr>
          </a:p>
        </p:txBody>
      </p:sp>
      <p:sp>
        <p:nvSpPr>
          <p:cNvPr id="58" name="TextBox 57">
            <a:extLst>
              <a:ext uri="{FF2B5EF4-FFF2-40B4-BE49-F238E27FC236}">
                <a16:creationId xmlns:a16="http://schemas.microsoft.com/office/drawing/2014/main" xmlns="" id="{6C7E962D-5D19-CFED-147F-58922726F9F3}"/>
              </a:ext>
            </a:extLst>
          </p:cNvPr>
          <p:cNvSpPr txBox="1"/>
          <p:nvPr/>
        </p:nvSpPr>
        <p:spPr>
          <a:xfrm>
            <a:off x="9626081" y="2488163"/>
            <a:ext cx="14073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002060"/>
                </a:solidFill>
                <a:latin typeface="Segoe UI"/>
                <a:ea typeface="Calibri"/>
                <a:cs typeface="Calibri"/>
              </a:rPr>
              <a:t>Silver</a:t>
            </a:r>
          </a:p>
        </p:txBody>
      </p:sp>
      <p:sp>
        <p:nvSpPr>
          <p:cNvPr id="61" name="TextBox 60">
            <a:extLst>
              <a:ext uri="{FF2B5EF4-FFF2-40B4-BE49-F238E27FC236}">
                <a16:creationId xmlns:a16="http://schemas.microsoft.com/office/drawing/2014/main" xmlns="" id="{C3E086C3-9F5B-9724-8FD1-07438751926E}"/>
              </a:ext>
            </a:extLst>
          </p:cNvPr>
          <p:cNvSpPr txBox="1"/>
          <p:nvPr/>
        </p:nvSpPr>
        <p:spPr>
          <a:xfrm>
            <a:off x="9975979" y="3428999"/>
            <a:ext cx="11507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solidFill>
                  <a:srgbClr val="002060"/>
                </a:solidFill>
                <a:latin typeface="Segoe UI"/>
                <a:ea typeface="Calibri"/>
                <a:cs typeface="Calibri"/>
              </a:rPr>
              <a:t>Gold</a:t>
            </a:r>
            <a:endParaRPr lang="en-US" b="1" dirty="0">
              <a:solidFill>
                <a:srgbClr val="002060"/>
              </a:solidFill>
              <a:latin typeface="Segoe UI"/>
            </a:endParaRPr>
          </a:p>
        </p:txBody>
      </p:sp>
    </p:spTree>
    <p:extLst>
      <p:ext uri="{BB962C8B-B14F-4D97-AF65-F5344CB8AC3E}">
        <p14:creationId xmlns:p14="http://schemas.microsoft.com/office/powerpoint/2010/main" val="2225384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598823F-2FE0-B5F7-5DC5-D7C621DA64D6}"/>
            </a:ext>
          </a:extLst>
        </p:cNvPr>
        <p:cNvGrpSpPr/>
        <p:nvPr/>
      </p:nvGrpSpPr>
      <p:grpSpPr>
        <a:xfrm>
          <a:off x="0" y="0"/>
          <a:ext cx="0" cy="0"/>
          <a:chOff x="0" y="0"/>
          <a:chExt cx="0" cy="0"/>
        </a:xfrm>
      </p:grpSpPr>
      <p:sp>
        <p:nvSpPr>
          <p:cNvPr id="53" name="Title 52" hidden="1">
            <a:extLst>
              <a:ext uri="{FF2B5EF4-FFF2-40B4-BE49-F238E27FC236}">
                <a16:creationId xmlns:a16="http://schemas.microsoft.com/office/drawing/2014/main" xmlns="" id="{9B06964C-8CB0-01D7-80FA-F0507E1D0197}"/>
              </a:ext>
            </a:extLst>
          </p:cNvPr>
          <p:cNvSpPr>
            <a:spLocks noGrp="1"/>
          </p:cNvSpPr>
          <p:nvPr>
            <p:ph type="title"/>
          </p:nvPr>
        </p:nvSpPr>
        <p:spPr/>
        <p:txBody>
          <a:bodyPr/>
          <a:lstStyle/>
          <a:p>
            <a:r>
              <a:rPr lang="en-US" dirty="0"/>
              <a:t>Human resources slide 8</a:t>
            </a:r>
          </a:p>
        </p:txBody>
      </p:sp>
      <p:sp>
        <p:nvSpPr>
          <p:cNvPr id="3" name="TextBox 2">
            <a:extLst>
              <a:ext uri="{FF2B5EF4-FFF2-40B4-BE49-F238E27FC236}">
                <a16:creationId xmlns:a16="http://schemas.microsoft.com/office/drawing/2014/main" xmlns="" id="{58F30F4D-BE53-C2AA-80F1-F8D98E4632A5}"/>
              </a:ext>
            </a:extLst>
          </p:cNvPr>
          <p:cNvSpPr txBox="1"/>
          <p:nvPr/>
        </p:nvSpPr>
        <p:spPr>
          <a:xfrm>
            <a:off x="726781" y="351307"/>
            <a:ext cx="7359748" cy="972818"/>
          </a:xfrm>
          <a:prstGeom prst="rect">
            <a:avLst/>
          </a:prstGeom>
          <a:noFill/>
        </p:spPr>
        <p:txBody>
          <a:bodyPr wrap="square" lIns="0" tIns="0" rIns="0" bIns="0" rtlCol="0" anchor="t">
            <a:noAutofit/>
          </a:bodyPr>
          <a:lstStyle>
            <a:defPPr>
              <a:defRPr lang="en-US"/>
            </a:defPPr>
            <a:lvl1pPr>
              <a:lnSpc>
                <a:spcPts val="4000"/>
              </a:lnSpc>
              <a:defRPr sz="3600" b="1">
                <a:solidFill>
                  <a:srgbClr val="002060"/>
                </a:solidFill>
                <a:latin typeface="Segoe UI" panose="020B0502040204020203" pitchFamily="34" charset="0"/>
                <a:cs typeface="Segoe UI" panose="020B0502040204020203" pitchFamily="34" charset="0"/>
              </a:defRPr>
            </a:lvl1pPr>
          </a:lstStyle>
          <a:p>
            <a:r>
              <a:rPr lang="en-US" sz="3200" dirty="0">
                <a:latin typeface="Segoe UI"/>
                <a:cs typeface="Segoe UI"/>
              </a:rPr>
              <a:t>THE MEDALLION ARCHITECTURE</a:t>
            </a:r>
            <a:endParaRPr lang="en-US" sz="3200" dirty="0"/>
          </a:p>
        </p:txBody>
      </p:sp>
      <p:sp>
        <p:nvSpPr>
          <p:cNvPr id="5" name="TextBox 4">
            <a:extLst>
              <a:ext uri="{FF2B5EF4-FFF2-40B4-BE49-F238E27FC236}">
                <a16:creationId xmlns:a16="http://schemas.microsoft.com/office/drawing/2014/main" xmlns="" id="{AD34A4E6-B4E8-A5F0-F158-E92A31E9DB3C}"/>
              </a:ext>
            </a:extLst>
          </p:cNvPr>
          <p:cNvSpPr txBox="1"/>
          <p:nvPr/>
        </p:nvSpPr>
        <p:spPr>
          <a:xfrm>
            <a:off x="835638" y="835877"/>
            <a:ext cx="6698831" cy="5663089"/>
          </a:xfrm>
          <a:prstGeom prst="rect">
            <a:avLst/>
          </a:prstGeom>
        </p:spPr>
        <p:txBody>
          <a:bodyPr wrap="square" lIns="0" tIns="0" rIns="0" bIns="0" anchor="t">
            <a:spAutoFit/>
          </a:bodyPr>
          <a:lstStyle>
            <a:defPPr>
              <a:defRPr lang="en-US"/>
            </a:defPPr>
            <a:lvl1pPr>
              <a:defRPr sz="1600" i="1">
                <a:solidFill>
                  <a:srgbClr val="002060"/>
                </a:solidFill>
                <a:latin typeface="+mj-lt"/>
                <a:cs typeface="Segoe UI" panose="020B0502040204020203" pitchFamily="34" charset="0"/>
              </a:defRPr>
            </a:lvl1pPr>
          </a:lstStyle>
          <a:p>
            <a:endParaRPr lang="en-US" i="0" dirty="0">
              <a:solidFill>
                <a:srgbClr val="000000"/>
              </a:solidFill>
              <a:ea typeface="Calibri Light"/>
              <a:cs typeface="Calibri Light"/>
            </a:endParaRPr>
          </a:p>
          <a:p>
            <a:r>
              <a:rPr lang="en-US" b="1" i="0" dirty="0">
                <a:ea typeface="Calibri Light"/>
                <a:cs typeface="Calibri Light"/>
              </a:rPr>
              <a:t>2. Silver Layer:</a:t>
            </a:r>
            <a:endParaRPr lang="en-US" b="1" i="0" dirty="0">
              <a:solidFill>
                <a:srgbClr val="000000"/>
              </a:solidFill>
              <a:ea typeface="Calibri Light"/>
              <a:cs typeface="Calibri Light"/>
            </a:endParaRPr>
          </a:p>
          <a:p>
            <a:endParaRPr lang="en-US" i="0" dirty="0">
              <a:solidFill>
                <a:srgbClr val="000000"/>
              </a:solidFill>
              <a:ea typeface="Calibri Light"/>
              <a:cs typeface="Calibri Light"/>
            </a:endParaRPr>
          </a:p>
          <a:p>
            <a:r>
              <a:rPr lang="en-US" i="0" dirty="0">
                <a:ea typeface="Calibri Light"/>
                <a:cs typeface="Calibri Light"/>
              </a:rPr>
              <a:t>Data Quality Enforcement:  Enforces strong cleaning rules to deal with missing values, eliminate duplicates, and normalize faulty demographic data.</a:t>
            </a:r>
            <a:endParaRPr lang="en-US" i="0" dirty="0">
              <a:solidFill>
                <a:srgbClr val="000000"/>
              </a:solidFill>
              <a:ea typeface="Calibri Light"/>
              <a:cs typeface="Calibri Light"/>
            </a:endParaRPr>
          </a:p>
          <a:p>
            <a:endParaRPr lang="en-US" i="0" dirty="0">
              <a:solidFill>
                <a:srgbClr val="000000"/>
              </a:solidFill>
              <a:ea typeface="Calibri Light"/>
              <a:cs typeface="Calibri Light"/>
            </a:endParaRPr>
          </a:p>
          <a:p>
            <a:r>
              <a:rPr lang="en-US" i="0" dirty="0">
                <a:ea typeface="Calibri Light"/>
                <a:cs typeface="Calibri Light"/>
              </a:rPr>
              <a:t>Geographic Standardization: This involves the verification of the state and district codes of each area to ensure consistent comparisons.</a:t>
            </a:r>
            <a:endParaRPr lang="en-US" i="0" dirty="0">
              <a:solidFill>
                <a:srgbClr val="000000"/>
              </a:solidFill>
              <a:ea typeface="Calibri Light"/>
              <a:cs typeface="Calibri Light"/>
            </a:endParaRPr>
          </a:p>
          <a:p>
            <a:endParaRPr lang="en-US" i="0" dirty="0">
              <a:ea typeface="Calibri Light"/>
              <a:cs typeface="Calibri Light"/>
            </a:endParaRPr>
          </a:p>
          <a:p>
            <a:r>
              <a:rPr lang="en-US" i="0" dirty="0">
                <a:ea typeface="Calibri Light"/>
                <a:cs typeface="Calibri Light"/>
              </a:rPr>
              <a:t>Intermediate Aggregation: It generates refined </a:t>
            </a:r>
            <a:r>
              <a:rPr lang="en-US" i="0" dirty="0" smtClean="0">
                <a:ea typeface="Calibri Light"/>
                <a:cs typeface="Calibri Light"/>
              </a:rPr>
              <a:t>conformed Silver Aggregation Tables, by considering Year, Literature, and Employment for grouping.</a:t>
            </a:r>
            <a:endParaRPr lang="en-US" i="0" dirty="0">
              <a:solidFill>
                <a:srgbClr val="000000"/>
              </a:solidFill>
              <a:ea typeface="Calibri Light"/>
              <a:cs typeface="Calibri Light"/>
            </a:endParaRPr>
          </a:p>
          <a:p>
            <a:endParaRPr lang="en-US" i="0" dirty="0">
              <a:solidFill>
                <a:srgbClr val="000000"/>
              </a:solidFill>
              <a:ea typeface="Calibri Light"/>
              <a:cs typeface="Calibri Light"/>
            </a:endParaRPr>
          </a:p>
          <a:p>
            <a:r>
              <a:rPr lang="en-US" b="1" i="0" dirty="0">
                <a:ea typeface="Calibri Light"/>
                <a:cs typeface="Calibri Light"/>
              </a:rPr>
              <a:t>3. Gold Layer:</a:t>
            </a:r>
            <a:endParaRPr lang="en-US" b="1" i="0" dirty="0">
              <a:solidFill>
                <a:srgbClr val="000000"/>
              </a:solidFill>
              <a:ea typeface="Calibri Light"/>
              <a:cs typeface="Calibri Light"/>
            </a:endParaRPr>
          </a:p>
          <a:p>
            <a:endParaRPr lang="en-US" i="0" dirty="0">
              <a:solidFill>
                <a:srgbClr val="000000"/>
              </a:solidFill>
              <a:ea typeface="Calibri Light"/>
              <a:cs typeface="Calibri Light"/>
            </a:endParaRPr>
          </a:p>
          <a:p>
            <a:r>
              <a:rPr lang="en-US" i="0" dirty="0">
                <a:ea typeface="Calibri Light"/>
                <a:cs typeface="Calibri Light"/>
              </a:rPr>
              <a:t>KPI Calculation: Implements complex business logic to determine key policy indicators including Gender Ratios, Urbanization percentages, and correlations between Literacy and Employment. </a:t>
            </a:r>
            <a:endParaRPr lang="en-US" dirty="0">
              <a:ea typeface="Calibri Light"/>
            </a:endParaRPr>
          </a:p>
          <a:p>
            <a:endParaRPr lang="en-US" i="0" dirty="0">
              <a:ea typeface="Calibri Light"/>
              <a:cs typeface="Calibri Light"/>
            </a:endParaRPr>
          </a:p>
          <a:p>
            <a:r>
              <a:rPr lang="en-US" i="0" dirty="0">
                <a:ea typeface="Calibri Light"/>
                <a:cs typeface="Calibri Light"/>
              </a:rPr>
              <a:t>Performance Optimization: Builds denormalized, high-speed tables optimized for direct query connectivity with Power BI. </a:t>
            </a:r>
            <a:endParaRPr lang="en-US" dirty="0">
              <a:ea typeface="Calibri Light"/>
            </a:endParaRPr>
          </a:p>
          <a:p>
            <a:endParaRPr lang="en-US" i="0" dirty="0">
              <a:ea typeface="Calibri Light"/>
              <a:cs typeface="Calibri Light"/>
            </a:endParaRPr>
          </a:p>
          <a:p>
            <a:r>
              <a:rPr lang="en-US" i="0" dirty="0">
                <a:ea typeface="Calibri Light"/>
                <a:cs typeface="Calibri Light"/>
              </a:rPr>
              <a:t>Decision Ready Insights: Provides the final single source of truth, that policymakers rely upon to inform</a:t>
            </a:r>
            <a:endParaRPr lang="en-US" dirty="0">
              <a:ea typeface="Calibri Light"/>
            </a:endParaRPr>
          </a:p>
        </p:txBody>
      </p:sp>
      <p:sp>
        <p:nvSpPr>
          <p:cNvPr id="4" name="Parallelogram 3">
            <a:extLst>
              <a:ext uri="{FF2B5EF4-FFF2-40B4-BE49-F238E27FC236}">
                <a16:creationId xmlns:a16="http://schemas.microsoft.com/office/drawing/2014/main" xmlns="" id="{069A1D0F-70A0-535B-A927-A55AA04D450D}"/>
              </a:ext>
              <a:ext uri="{C183D7F6-B498-43B3-948B-1728B52AA6E4}">
                <adec:decorative xmlns:adec="http://schemas.microsoft.com/office/drawing/2017/decorative" xmlns="" val="1"/>
              </a:ext>
            </a:extLst>
          </p:cNvPr>
          <p:cNvSpPr/>
          <p:nvPr/>
        </p:nvSpPr>
        <p:spPr>
          <a:xfrm>
            <a:off x="8314249" y="-3226834"/>
            <a:ext cx="4194319"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7" name="Isosceles Triangle 6">
            <a:extLst>
              <a:ext uri="{FF2B5EF4-FFF2-40B4-BE49-F238E27FC236}">
                <a16:creationId xmlns:a16="http://schemas.microsoft.com/office/drawing/2014/main" xmlns="" id="{729A4F64-F89F-B8E0-8F7C-390761F56EB2}"/>
              </a:ext>
            </a:extLst>
          </p:cNvPr>
          <p:cNvSpPr/>
          <p:nvPr/>
        </p:nvSpPr>
        <p:spPr>
          <a:xfrm>
            <a:off x="8581840" y="1029011"/>
            <a:ext cx="3665499" cy="3285930"/>
          </a:xfrm>
          <a:prstGeom prst="triangle">
            <a:avLst/>
          </a:prstGeom>
          <a:solidFill>
            <a:schemeClr val="bg1"/>
          </a:solidFill>
          <a:effectLst>
            <a:outerShdw blurRad="63500" dist="38100" dir="2700000">
              <a:srgbClr val="000000">
                <a:alpha val="4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xmlns="" id="{4C555075-53A0-4E59-EE49-5AD7D176C374}"/>
              </a:ext>
            </a:extLst>
          </p:cNvPr>
          <p:cNvCxnSpPr/>
          <p:nvPr/>
        </p:nvCxnSpPr>
        <p:spPr>
          <a:xfrm>
            <a:off x="9766041" y="2192693"/>
            <a:ext cx="1290734" cy="15551"/>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xmlns="" id="{3EFD8D32-B3FF-0136-92BF-AE7E592645C3}"/>
              </a:ext>
            </a:extLst>
          </p:cNvPr>
          <p:cNvCxnSpPr/>
          <p:nvPr/>
        </p:nvCxnSpPr>
        <p:spPr>
          <a:xfrm>
            <a:off x="9206203" y="3203509"/>
            <a:ext cx="2425959" cy="15551"/>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xmlns="" id="{225F1838-B518-2DF9-314A-B0D2B16655EB}"/>
              </a:ext>
            </a:extLst>
          </p:cNvPr>
          <p:cNvSpPr txBox="1"/>
          <p:nvPr/>
        </p:nvSpPr>
        <p:spPr>
          <a:xfrm>
            <a:off x="9975979" y="1687286"/>
            <a:ext cx="878631"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600" b="1" dirty="0">
                <a:solidFill>
                  <a:srgbClr val="002060"/>
                </a:solidFill>
                <a:latin typeface="Segoe UI"/>
                <a:ea typeface="Calibri"/>
                <a:cs typeface="Calibri"/>
              </a:rPr>
              <a:t>Bronze</a:t>
            </a:r>
            <a:endParaRPr lang="en-US" sz="1600" b="1" dirty="0">
              <a:solidFill>
                <a:srgbClr val="002060"/>
              </a:solidFill>
              <a:latin typeface="Segoe UI"/>
            </a:endParaRPr>
          </a:p>
        </p:txBody>
      </p:sp>
      <p:sp>
        <p:nvSpPr>
          <p:cNvPr id="15" name="TextBox 14">
            <a:extLst>
              <a:ext uri="{FF2B5EF4-FFF2-40B4-BE49-F238E27FC236}">
                <a16:creationId xmlns:a16="http://schemas.microsoft.com/office/drawing/2014/main" xmlns="" id="{6326A127-FB12-1759-0F09-91487279B486}"/>
              </a:ext>
            </a:extLst>
          </p:cNvPr>
          <p:cNvSpPr txBox="1"/>
          <p:nvPr/>
        </p:nvSpPr>
        <p:spPr>
          <a:xfrm>
            <a:off x="9649408" y="2550367"/>
            <a:ext cx="140736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solidFill>
                  <a:srgbClr val="002060"/>
                </a:solidFill>
                <a:latin typeface="Segoe UI"/>
                <a:ea typeface="Calibri"/>
                <a:cs typeface="Calibri"/>
              </a:rPr>
              <a:t>Silver</a:t>
            </a:r>
          </a:p>
        </p:txBody>
      </p:sp>
      <p:sp>
        <p:nvSpPr>
          <p:cNvPr id="17" name="TextBox 16">
            <a:extLst>
              <a:ext uri="{FF2B5EF4-FFF2-40B4-BE49-F238E27FC236}">
                <a16:creationId xmlns:a16="http://schemas.microsoft.com/office/drawing/2014/main" xmlns="" id="{B874046B-932D-0619-61E3-1942A8C28D75}"/>
              </a:ext>
            </a:extLst>
          </p:cNvPr>
          <p:cNvSpPr txBox="1"/>
          <p:nvPr/>
        </p:nvSpPr>
        <p:spPr>
          <a:xfrm>
            <a:off x="9975979" y="3483428"/>
            <a:ext cx="11507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dirty="0">
                <a:solidFill>
                  <a:srgbClr val="002060"/>
                </a:solidFill>
                <a:latin typeface="Segoe UI"/>
                <a:ea typeface="Calibri"/>
                <a:cs typeface="Calibri"/>
              </a:rPr>
              <a:t>Gold</a:t>
            </a:r>
            <a:endParaRPr lang="en-US" b="1" dirty="0">
              <a:solidFill>
                <a:srgbClr val="002060"/>
              </a:solidFill>
              <a:latin typeface="Segoe UI"/>
            </a:endParaRPr>
          </a:p>
        </p:txBody>
      </p:sp>
    </p:spTree>
    <p:extLst>
      <p:ext uri="{BB962C8B-B14F-4D97-AF65-F5344CB8AC3E}">
        <p14:creationId xmlns:p14="http://schemas.microsoft.com/office/powerpoint/2010/main" val="195942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rallelogram 3">
            <a:extLst>
              <a:ext uri="{FF2B5EF4-FFF2-40B4-BE49-F238E27FC236}">
                <a16:creationId xmlns:a16="http://schemas.microsoft.com/office/drawing/2014/main" xmlns="" id="{57B84B2E-A993-4651-C4F5-B5CC31EF86A9}"/>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a:extLst>
              <a:ext uri="{FF2B5EF4-FFF2-40B4-BE49-F238E27FC236}">
                <a16:creationId xmlns:a16="http://schemas.microsoft.com/office/drawing/2014/main" xmlns="" id="{667F1D5A-2F67-E42F-278B-345A42A5EAFE}"/>
              </a:ext>
            </a:extLst>
          </p:cNvPr>
          <p:cNvSpPr>
            <a:spLocks noGrp="1"/>
          </p:cNvSpPr>
          <p:nvPr>
            <p:ph type="title"/>
          </p:nvPr>
        </p:nvSpPr>
        <p:spPr/>
        <p:txBody>
          <a:bodyPr>
            <a:normAutofit/>
          </a:bodyPr>
          <a:lstStyle/>
          <a:p>
            <a:r>
              <a:rPr lang="en-US" sz="4000" b="1" dirty="0">
                <a:solidFill>
                  <a:schemeClr val="bg1"/>
                </a:solidFill>
                <a:latin typeface="Segoe UI"/>
                <a:ea typeface="Calibri Light"/>
                <a:cs typeface="Calibri Light"/>
              </a:rPr>
              <a:t>WORKFLOW ORCHESTRATION</a:t>
            </a:r>
          </a:p>
        </p:txBody>
      </p:sp>
      <p:sp>
        <p:nvSpPr>
          <p:cNvPr id="7" name="TextBox 6">
            <a:extLst>
              <a:ext uri="{FF2B5EF4-FFF2-40B4-BE49-F238E27FC236}">
                <a16:creationId xmlns:a16="http://schemas.microsoft.com/office/drawing/2014/main" xmlns="" id="{989F6E04-EB1F-D2EB-21C3-CC103D2BDD2C}"/>
              </a:ext>
            </a:extLst>
          </p:cNvPr>
          <p:cNvSpPr txBox="1"/>
          <p:nvPr/>
        </p:nvSpPr>
        <p:spPr>
          <a:xfrm>
            <a:off x="466530" y="2083836"/>
            <a:ext cx="11492204"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sz="1600" b="1" dirty="0">
                <a:ea typeface="+mn-lt"/>
                <a:cs typeface="+mn-lt"/>
              </a:rPr>
              <a:t>Sequential Task Execution:</a:t>
            </a:r>
            <a:r>
              <a:rPr lang="en-US" sz="1600" dirty="0">
                <a:ea typeface="+mn-lt"/>
                <a:cs typeface="+mn-lt"/>
              </a:rPr>
              <a:t> Uses a Directed Acyclic Graph (DAG) to ensure a strict logical flow, preventing downstream transformations from starting until upstream data is validated.</a:t>
            </a:r>
            <a:endParaRPr lang="en-US" sz="1600" dirty="0">
              <a:ea typeface="Calibri"/>
              <a:cs typeface="Calibri"/>
            </a:endParaRPr>
          </a:p>
          <a:p>
            <a:pPr marL="285750" indent="-285750" algn="just">
              <a:buFont typeface="Arial"/>
              <a:buChar char="•"/>
            </a:pPr>
            <a:endParaRPr lang="en-US" sz="1600" dirty="0">
              <a:ea typeface="+mn-lt"/>
              <a:cs typeface="+mn-lt"/>
            </a:endParaRPr>
          </a:p>
          <a:p>
            <a:pPr marL="285750" indent="-285750" algn="just">
              <a:buFont typeface="Arial"/>
              <a:buChar char="•"/>
            </a:pPr>
            <a:r>
              <a:rPr lang="en-US" sz="1600" b="1" dirty="0" err="1">
                <a:ea typeface="+mn-lt"/>
                <a:cs typeface="+mn-lt"/>
              </a:rPr>
              <a:t>Dockerized</a:t>
            </a:r>
            <a:r>
              <a:rPr lang="en-US" sz="1600" b="1" dirty="0">
                <a:ea typeface="+mn-lt"/>
                <a:cs typeface="+mn-lt"/>
              </a:rPr>
              <a:t> Deployment: </a:t>
            </a:r>
            <a:r>
              <a:rPr lang="en-US" sz="1600" dirty="0">
                <a:ea typeface="+mn-lt"/>
                <a:cs typeface="+mn-lt"/>
              </a:rPr>
              <a:t>Orchestration is hosted within a Docker container, providing a portable and consistent environment that isolates the Airflow scheduler from local OS dependencies.</a:t>
            </a:r>
            <a:endParaRPr lang="en-US" sz="1600" dirty="0">
              <a:ea typeface="Calibri"/>
              <a:cs typeface="Calibri"/>
            </a:endParaRPr>
          </a:p>
          <a:p>
            <a:pPr marL="285750" indent="-285750" algn="just">
              <a:buFont typeface="Arial"/>
              <a:buChar char="•"/>
            </a:pPr>
            <a:endParaRPr lang="en-US" sz="1600" dirty="0">
              <a:ea typeface="+mn-lt"/>
              <a:cs typeface="+mn-lt"/>
            </a:endParaRPr>
          </a:p>
          <a:p>
            <a:pPr marL="285750" indent="-285750" algn="just">
              <a:buFont typeface="Arial"/>
              <a:buChar char="•"/>
            </a:pPr>
            <a:r>
              <a:rPr lang="en-US" sz="1600" b="1" dirty="0">
                <a:ea typeface="+mn-lt"/>
                <a:cs typeface="+mn-lt"/>
              </a:rPr>
              <a:t>Hybrid Cloud Integration:</a:t>
            </a:r>
            <a:r>
              <a:rPr lang="en-US" sz="1600" dirty="0">
                <a:ea typeface="+mn-lt"/>
                <a:cs typeface="+mn-lt"/>
              </a:rPr>
              <a:t> Leverages the </a:t>
            </a:r>
            <a:r>
              <a:rPr lang="en-US" sz="1600" err="1">
                <a:latin typeface="Calibri"/>
                <a:ea typeface="Calibri"/>
                <a:cs typeface="Calibri"/>
              </a:rPr>
              <a:t>DatabricksRunNowOperator</a:t>
            </a:r>
            <a:r>
              <a:rPr lang="en-US" sz="1600" dirty="0">
                <a:ea typeface="+mn-lt"/>
                <a:cs typeface="+mn-lt"/>
              </a:rPr>
              <a:t> to bridge the local Airflow environment with the Azure Databricks cloud, triggering Spark jobs via secure API calls.</a:t>
            </a:r>
            <a:endParaRPr lang="en-US" sz="1600" dirty="0">
              <a:ea typeface="Calibri"/>
              <a:cs typeface="Calibri"/>
            </a:endParaRPr>
          </a:p>
          <a:p>
            <a:pPr marL="285750" indent="-285750" algn="just">
              <a:buFont typeface="Arial"/>
              <a:buChar char="•"/>
            </a:pPr>
            <a:endParaRPr lang="en-US" sz="1600" dirty="0">
              <a:ea typeface="+mn-lt"/>
              <a:cs typeface="+mn-lt"/>
            </a:endParaRPr>
          </a:p>
          <a:p>
            <a:pPr marL="285750" indent="-285750" algn="just">
              <a:buFont typeface="Arial"/>
              <a:buChar char="•"/>
            </a:pPr>
            <a:r>
              <a:rPr lang="en-US" sz="1600" b="1" dirty="0">
                <a:ea typeface="+mn-lt"/>
                <a:cs typeface="+mn-lt"/>
              </a:rPr>
              <a:t>Automated Dependency Management:</a:t>
            </a:r>
            <a:r>
              <a:rPr lang="en-US" sz="1600" dirty="0">
                <a:ea typeface="+mn-lt"/>
                <a:cs typeface="+mn-lt"/>
              </a:rPr>
              <a:t> Eliminates manual intervention by automatically triggering the Bronze -&gt; Silver -&gt; Gold layers sequence based on successful completion signals.</a:t>
            </a:r>
            <a:endParaRPr lang="en-US" sz="1600" dirty="0">
              <a:ea typeface="Calibri"/>
              <a:cs typeface="Calibri"/>
            </a:endParaRPr>
          </a:p>
          <a:p>
            <a:pPr marL="285750" indent="-285750" algn="just">
              <a:buFont typeface="Arial"/>
              <a:buChar char="•"/>
            </a:pPr>
            <a:endParaRPr lang="en-US" sz="1600" dirty="0">
              <a:ea typeface="+mn-lt"/>
              <a:cs typeface="+mn-lt"/>
            </a:endParaRPr>
          </a:p>
          <a:p>
            <a:pPr marL="285750" indent="-285750" algn="just">
              <a:buFont typeface="Arial"/>
              <a:buChar char="•"/>
            </a:pPr>
            <a:r>
              <a:rPr lang="en-US" sz="1600" b="1" dirty="0">
                <a:ea typeface="+mn-lt"/>
                <a:cs typeface="+mn-lt"/>
              </a:rPr>
              <a:t>Pipeline Resilience:</a:t>
            </a:r>
            <a:r>
              <a:rPr lang="en-US" sz="1600" dirty="0">
                <a:ea typeface="+mn-lt"/>
                <a:cs typeface="+mn-lt"/>
              </a:rPr>
              <a:t> Features built-in retry logic and error logging, which automatically handles transient network issues and provides detailed audit trails for troubleshooting.</a:t>
            </a:r>
            <a:endParaRPr lang="en-US" sz="1600" dirty="0">
              <a:ea typeface="Calibri"/>
              <a:cs typeface="Calibri"/>
            </a:endParaRPr>
          </a:p>
          <a:p>
            <a:pPr marL="285750" indent="-285750" algn="just">
              <a:buFont typeface="Arial"/>
              <a:buChar char="•"/>
            </a:pPr>
            <a:endParaRPr lang="en-US" sz="1600" b="1" dirty="0">
              <a:ea typeface="+mn-lt"/>
              <a:cs typeface="+mn-lt"/>
            </a:endParaRPr>
          </a:p>
          <a:p>
            <a:pPr marL="285750" indent="-285750" algn="just">
              <a:buFont typeface="Arial"/>
              <a:buChar char="•"/>
            </a:pPr>
            <a:r>
              <a:rPr lang="en-US" sz="1600" b="1" dirty="0">
                <a:ea typeface="+mn-lt"/>
                <a:cs typeface="+mn-lt"/>
              </a:rPr>
              <a:t>Real-Time Monitoring:</a:t>
            </a:r>
            <a:r>
              <a:rPr lang="en-US" sz="1600" dirty="0">
                <a:ea typeface="+mn-lt"/>
                <a:cs typeface="+mn-lt"/>
              </a:rPr>
              <a:t> Utilizes the Airflow Web UI to provide stakeholders with a visual dashboard of pipeline health, task duration, and execution status.</a:t>
            </a:r>
            <a:endParaRPr lang="en-US" sz="1600" dirty="0">
              <a:ea typeface="Calibri"/>
              <a:cs typeface="Calibri"/>
            </a:endParaRPr>
          </a:p>
          <a:p>
            <a:pPr algn="just"/>
            <a:endParaRPr lang="en-US" sz="1600" dirty="0">
              <a:ea typeface="Calibri"/>
              <a:cs typeface="Calibri"/>
            </a:endParaRPr>
          </a:p>
        </p:txBody>
      </p:sp>
    </p:spTree>
    <p:extLst>
      <p:ext uri="{BB962C8B-B14F-4D97-AF65-F5344CB8AC3E}">
        <p14:creationId xmlns:p14="http://schemas.microsoft.com/office/powerpoint/2010/main" val="1473096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rallelogram 3">
            <a:extLst>
              <a:ext uri="{FF2B5EF4-FFF2-40B4-BE49-F238E27FC236}">
                <a16:creationId xmlns:a16="http://schemas.microsoft.com/office/drawing/2014/main" xmlns="" id="{57B84B2E-A993-4651-C4F5-B5CC31EF86A9}"/>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a:extLst>
              <a:ext uri="{FF2B5EF4-FFF2-40B4-BE49-F238E27FC236}">
                <a16:creationId xmlns:a16="http://schemas.microsoft.com/office/drawing/2014/main" xmlns="" id="{667F1D5A-2F67-E42F-278B-345A42A5EAFE}"/>
              </a:ext>
            </a:extLst>
          </p:cNvPr>
          <p:cNvSpPr>
            <a:spLocks noGrp="1"/>
          </p:cNvSpPr>
          <p:nvPr>
            <p:ph type="title"/>
          </p:nvPr>
        </p:nvSpPr>
        <p:spPr/>
        <p:txBody>
          <a:bodyPr>
            <a:normAutofit/>
          </a:bodyPr>
          <a:lstStyle/>
          <a:p>
            <a:r>
              <a:rPr lang="en-US" sz="4000" b="1" dirty="0">
                <a:solidFill>
                  <a:schemeClr val="bg1"/>
                </a:solidFill>
                <a:latin typeface="Segoe UI"/>
                <a:ea typeface="Calibri Light"/>
                <a:cs typeface="Calibri Light"/>
              </a:rPr>
              <a:t>WORKFLOW ORCHESTRATION</a:t>
            </a:r>
          </a:p>
        </p:txBody>
      </p:sp>
      <p:sp>
        <p:nvSpPr>
          <p:cNvPr id="7" name="TextBox 6">
            <a:extLst>
              <a:ext uri="{FF2B5EF4-FFF2-40B4-BE49-F238E27FC236}">
                <a16:creationId xmlns:a16="http://schemas.microsoft.com/office/drawing/2014/main" xmlns="" id="{989F6E04-EB1F-D2EB-21C3-CC103D2BDD2C}"/>
              </a:ext>
            </a:extLst>
          </p:cNvPr>
          <p:cNvSpPr txBox="1"/>
          <p:nvPr/>
        </p:nvSpPr>
        <p:spPr>
          <a:xfrm>
            <a:off x="466530" y="2083836"/>
            <a:ext cx="1149220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dirty="0" smtClean="0">
                <a:ea typeface="Calibri"/>
                <a:cs typeface="Calibri"/>
              </a:rPr>
              <a:t>Outputs</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4201" y="2422390"/>
            <a:ext cx="8756904" cy="4200119"/>
          </a:xfrm>
          <a:prstGeom prst="rect">
            <a:avLst/>
          </a:prstGeom>
        </p:spPr>
      </p:pic>
    </p:spTree>
    <p:extLst>
      <p:ext uri="{BB962C8B-B14F-4D97-AF65-F5344CB8AC3E}">
        <p14:creationId xmlns:p14="http://schemas.microsoft.com/office/powerpoint/2010/main" val="3374185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rallelogram 3">
            <a:extLst>
              <a:ext uri="{FF2B5EF4-FFF2-40B4-BE49-F238E27FC236}">
                <a16:creationId xmlns:a16="http://schemas.microsoft.com/office/drawing/2014/main" xmlns="" id="{57B84B2E-A993-4651-C4F5-B5CC31EF86A9}"/>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a:extLst>
              <a:ext uri="{FF2B5EF4-FFF2-40B4-BE49-F238E27FC236}">
                <a16:creationId xmlns:a16="http://schemas.microsoft.com/office/drawing/2014/main" xmlns="" id="{667F1D5A-2F67-E42F-278B-345A42A5EAFE}"/>
              </a:ext>
            </a:extLst>
          </p:cNvPr>
          <p:cNvSpPr>
            <a:spLocks noGrp="1"/>
          </p:cNvSpPr>
          <p:nvPr>
            <p:ph type="title"/>
          </p:nvPr>
        </p:nvSpPr>
        <p:spPr/>
        <p:txBody>
          <a:bodyPr>
            <a:normAutofit/>
          </a:bodyPr>
          <a:lstStyle/>
          <a:p>
            <a:r>
              <a:rPr lang="en-US" sz="4000" b="1" dirty="0">
                <a:solidFill>
                  <a:schemeClr val="bg1"/>
                </a:solidFill>
                <a:latin typeface="Segoe UI"/>
                <a:ea typeface="Calibri Light"/>
                <a:cs typeface="Calibri Light"/>
              </a:rPr>
              <a:t>WORKFLOW ORCHESTRATION</a:t>
            </a:r>
          </a:p>
        </p:txBody>
      </p:sp>
      <p:sp>
        <p:nvSpPr>
          <p:cNvPr id="7" name="TextBox 6">
            <a:extLst>
              <a:ext uri="{FF2B5EF4-FFF2-40B4-BE49-F238E27FC236}">
                <a16:creationId xmlns:a16="http://schemas.microsoft.com/office/drawing/2014/main" xmlns="" id="{989F6E04-EB1F-D2EB-21C3-CC103D2BDD2C}"/>
              </a:ext>
            </a:extLst>
          </p:cNvPr>
          <p:cNvSpPr txBox="1"/>
          <p:nvPr/>
        </p:nvSpPr>
        <p:spPr>
          <a:xfrm>
            <a:off x="466530" y="2083836"/>
            <a:ext cx="1149220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1600" dirty="0" smtClean="0">
                <a:ea typeface="Calibri"/>
                <a:cs typeface="Calibri"/>
              </a:rPr>
              <a:t>Outputs</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t="9061" b="6919"/>
          <a:stretch/>
        </p:blipFill>
        <p:spPr>
          <a:xfrm>
            <a:off x="2031232" y="2560320"/>
            <a:ext cx="8222841" cy="3886200"/>
          </a:xfrm>
          <a:prstGeom prst="rect">
            <a:avLst/>
          </a:prstGeom>
        </p:spPr>
      </p:pic>
    </p:spTree>
    <p:extLst>
      <p:ext uri="{BB962C8B-B14F-4D97-AF65-F5344CB8AC3E}">
        <p14:creationId xmlns:p14="http://schemas.microsoft.com/office/powerpoint/2010/main" val="667545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165F6D2-CAA6-A45D-4888-C395EAF9BD43}"/>
            </a:ext>
          </a:extLst>
        </p:cNvPr>
        <p:cNvGrpSpPr/>
        <p:nvPr/>
      </p:nvGrpSpPr>
      <p:grpSpPr>
        <a:xfrm>
          <a:off x="0" y="0"/>
          <a:ext cx="0" cy="0"/>
          <a:chOff x="0" y="0"/>
          <a:chExt cx="0" cy="0"/>
        </a:xfrm>
      </p:grpSpPr>
      <p:sp>
        <p:nvSpPr>
          <p:cNvPr id="4" name="Parallelogram 3">
            <a:extLst>
              <a:ext uri="{FF2B5EF4-FFF2-40B4-BE49-F238E27FC236}">
                <a16:creationId xmlns:a16="http://schemas.microsoft.com/office/drawing/2014/main" xmlns="" id="{47DF10A8-193D-4A2C-816E-BB875BD203D4}"/>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a:extLst>
              <a:ext uri="{FF2B5EF4-FFF2-40B4-BE49-F238E27FC236}">
                <a16:creationId xmlns:a16="http://schemas.microsoft.com/office/drawing/2014/main" xmlns="" id="{DB27CDBF-AF85-2A6D-358F-43D3D2E63A67}"/>
              </a:ext>
            </a:extLst>
          </p:cNvPr>
          <p:cNvSpPr>
            <a:spLocks noGrp="1"/>
          </p:cNvSpPr>
          <p:nvPr>
            <p:ph type="title"/>
          </p:nvPr>
        </p:nvSpPr>
        <p:spPr/>
        <p:txBody>
          <a:bodyPr>
            <a:normAutofit/>
          </a:bodyPr>
          <a:lstStyle/>
          <a:p>
            <a:r>
              <a:rPr lang="en-US" sz="4000" b="1" dirty="0">
                <a:solidFill>
                  <a:schemeClr val="bg1"/>
                </a:solidFill>
                <a:latin typeface="Segoe UI"/>
                <a:ea typeface="Calibri Light"/>
                <a:cs typeface="Calibri Light"/>
              </a:rPr>
              <a:t>VISUALIZATIONS</a:t>
            </a:r>
          </a:p>
        </p:txBody>
      </p:sp>
      <p:sp>
        <p:nvSpPr>
          <p:cNvPr id="3" name="TextBox 2"/>
          <p:cNvSpPr txBox="1"/>
          <p:nvPr/>
        </p:nvSpPr>
        <p:spPr>
          <a:xfrm>
            <a:off x="320040" y="2048256"/>
            <a:ext cx="11640312" cy="4278094"/>
          </a:xfrm>
          <a:prstGeom prst="rect">
            <a:avLst/>
          </a:prstGeom>
          <a:noFill/>
        </p:spPr>
        <p:txBody>
          <a:bodyPr wrap="square" rtlCol="0">
            <a:spAutoFit/>
          </a:bodyPr>
          <a:lstStyle/>
          <a:p>
            <a:pPr marL="285750" indent="-285750">
              <a:buFont typeface="Arial" panose="020B0604020202020204" pitchFamily="34" charset="0"/>
              <a:buChar char="•"/>
            </a:pPr>
            <a:r>
              <a:rPr lang="en-US" sz="1600" b="1" dirty="0"/>
              <a:t>Real-time Integration to </a:t>
            </a:r>
            <a:r>
              <a:rPr lang="en-US" sz="1600" b="1" dirty="0" err="1"/>
              <a:t>Databricks</a:t>
            </a:r>
            <a:r>
              <a:rPr lang="en-US" sz="1600" b="1" dirty="0"/>
              <a:t>: </a:t>
            </a:r>
            <a:r>
              <a:rPr lang="en-US" sz="1600" dirty="0"/>
              <a:t>To provide live access to processed Gold-layer census data directly without the need for data duplication, </a:t>
            </a:r>
            <a:r>
              <a:rPr lang="en-US" sz="1600" dirty="0" smtClean="0"/>
              <a:t>a </a:t>
            </a:r>
            <a:r>
              <a:rPr lang="en-US" sz="1600" dirty="0" err="1" smtClean="0"/>
              <a:t>Databricks</a:t>
            </a:r>
            <a:r>
              <a:rPr lang="en-US" sz="1600" dirty="0" smtClean="0"/>
              <a:t> </a:t>
            </a:r>
            <a:r>
              <a:rPr lang="en-US" sz="1600" dirty="0"/>
              <a:t>Power BI Connector </a:t>
            </a:r>
            <a:r>
              <a:rPr lang="en-US" sz="1600" dirty="0" smtClean="0"/>
              <a:t>is utilized with </a:t>
            </a:r>
            <a:r>
              <a:rPr lang="en-US" sz="1600" dirty="0"/>
              <a:t>the </a:t>
            </a:r>
            <a:r>
              <a:rPr lang="en-US" sz="1600" dirty="0" err="1"/>
              <a:t>DirectQuery</a:t>
            </a:r>
            <a:r>
              <a:rPr lang="en-US" sz="1600" dirty="0"/>
              <a:t> mode.</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State-Level Strategic Insights:</a:t>
            </a:r>
            <a:r>
              <a:rPr lang="en-US" sz="1600" dirty="0"/>
              <a:t> Uses </a:t>
            </a:r>
            <a:r>
              <a:rPr lang="en-US" sz="1600" dirty="0" err="1"/>
              <a:t>treemaps</a:t>
            </a:r>
            <a:r>
              <a:rPr lang="en-US" sz="1600" dirty="0"/>
              <a:t> to show the population distribution of a state and donut charts to depict </a:t>
            </a:r>
            <a:r>
              <a:rPr lang="en-US" sz="1600" dirty="0" err="1"/>
              <a:t>sectorwise</a:t>
            </a:r>
            <a:r>
              <a:rPr lang="en-US" sz="1600" dirty="0"/>
              <a:t> proportions of workers. It will be useful for </a:t>
            </a:r>
            <a:r>
              <a:rPr lang="en-US" sz="1600" dirty="0" smtClean="0"/>
              <a:t>high level </a:t>
            </a:r>
            <a:r>
              <a:rPr lang="en-US" sz="1600" dirty="0"/>
              <a:t>executives' decision-making.</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Granular District Drill-Downs: </a:t>
            </a:r>
            <a:r>
              <a:rPr lang="en-US" sz="1600" dirty="0"/>
              <a:t>Includes a District Slicer and local bar charts, which enable administrators to quickly compare a selection of placed regional metrics on urban population and literacy rates.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Demographic Profile Analysis: </a:t>
            </a:r>
            <a:r>
              <a:rPr lang="en-US" sz="1600" dirty="0"/>
              <a:t>The 100% Stacked Bar Chart allows for a comparison across population age groups and gender to observe workforce trends and regional social needs.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Benchmarking operational: </a:t>
            </a:r>
            <a:r>
              <a:rPr lang="en-US" sz="1600" dirty="0"/>
              <a:t>Through Funnel Charts and sorted tables, w can track the Top 10 and Bottom 10 districts to show urgent gaps in literacy and gender parity.</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Silver Layer Data Validation: </a:t>
            </a:r>
            <a:r>
              <a:rPr lang="en-US" sz="1600" dirty="0" smtClean="0"/>
              <a:t>The visualizations </a:t>
            </a:r>
            <a:r>
              <a:rPr lang="en-US" sz="1600" dirty="0"/>
              <a:t>include a specific Silver Aggregates dashboard to monitor the quality of created aggregates.</a:t>
            </a:r>
          </a:p>
        </p:txBody>
      </p:sp>
    </p:spTree>
    <p:extLst>
      <p:ext uri="{BB962C8B-B14F-4D97-AF65-F5344CB8AC3E}">
        <p14:creationId xmlns:p14="http://schemas.microsoft.com/office/powerpoint/2010/main" val="3858307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xmlns="" id="{47DF10A8-193D-4A2C-816E-BB875BD203D4}"/>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p:cNvSpPr>
            <a:spLocks noGrp="1"/>
          </p:cNvSpPr>
          <p:nvPr>
            <p:ph type="title"/>
          </p:nvPr>
        </p:nvSpPr>
        <p:spPr/>
        <p:txBody>
          <a:bodyPr>
            <a:normAutofit/>
          </a:bodyPr>
          <a:lstStyle/>
          <a:p>
            <a:r>
              <a:rPr lang="en-US" sz="4000" b="1" dirty="0" smtClean="0">
                <a:solidFill>
                  <a:schemeClr val="bg1"/>
                </a:solidFill>
                <a:latin typeface="Segoe UI" panose="020B0502040204020203" pitchFamily="34" charset="0"/>
                <a:cs typeface="Segoe UI" panose="020B0502040204020203" pitchFamily="34" charset="0"/>
              </a:rPr>
              <a:t>VISUALIZATIONS</a:t>
            </a:r>
            <a:endParaRPr lang="en-US" sz="4000" b="1" dirty="0">
              <a:solidFill>
                <a:schemeClr val="bg1"/>
              </a:solidFill>
              <a:latin typeface="Segoe UI" panose="020B0502040204020203" pitchFamily="34" charset="0"/>
              <a:cs typeface="Segoe UI" panose="020B0502040204020203" pitchFamily="34" charset="0"/>
            </a:endParaRPr>
          </a:p>
        </p:txBody>
      </p:sp>
      <p:sp>
        <p:nvSpPr>
          <p:cNvPr id="10" name="TextBox 9"/>
          <p:cNvSpPr txBox="1"/>
          <p:nvPr/>
        </p:nvSpPr>
        <p:spPr>
          <a:xfrm>
            <a:off x="338328" y="2020824"/>
            <a:ext cx="5632704" cy="369332"/>
          </a:xfrm>
          <a:prstGeom prst="rect">
            <a:avLst/>
          </a:prstGeom>
          <a:noFill/>
        </p:spPr>
        <p:txBody>
          <a:bodyPr wrap="square" rtlCol="0">
            <a:spAutoFit/>
          </a:bodyPr>
          <a:lstStyle/>
          <a:p>
            <a:r>
              <a:rPr lang="en-US" dirty="0" smtClean="0"/>
              <a:t>District-Wise Visualizations</a:t>
            </a:r>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0909" t="17455" r="9273" b="12404"/>
          <a:stretch/>
        </p:blipFill>
        <p:spPr>
          <a:xfrm>
            <a:off x="2368296" y="2390156"/>
            <a:ext cx="8028432" cy="3968496"/>
          </a:xfrm>
          <a:prstGeom prst="rect">
            <a:avLst/>
          </a:prstGeom>
        </p:spPr>
      </p:pic>
    </p:spTree>
    <p:extLst>
      <p:ext uri="{BB962C8B-B14F-4D97-AF65-F5344CB8AC3E}">
        <p14:creationId xmlns:p14="http://schemas.microsoft.com/office/powerpoint/2010/main" val="1530852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xmlns="" id="{47DF10A8-193D-4A2C-816E-BB875BD203D4}"/>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p:cNvSpPr>
            <a:spLocks noGrp="1"/>
          </p:cNvSpPr>
          <p:nvPr>
            <p:ph type="title"/>
          </p:nvPr>
        </p:nvSpPr>
        <p:spPr/>
        <p:txBody>
          <a:bodyPr>
            <a:normAutofit/>
          </a:bodyPr>
          <a:lstStyle/>
          <a:p>
            <a:r>
              <a:rPr lang="en-US" sz="4000" b="1" dirty="0" smtClean="0">
                <a:solidFill>
                  <a:schemeClr val="bg1"/>
                </a:solidFill>
                <a:latin typeface="Segoe UI" panose="020B0502040204020203" pitchFamily="34" charset="0"/>
                <a:cs typeface="Segoe UI" panose="020B0502040204020203" pitchFamily="34" charset="0"/>
              </a:rPr>
              <a:t>VISUALIZATIONS</a:t>
            </a:r>
            <a:endParaRPr lang="en-US" sz="4000" b="1" dirty="0">
              <a:solidFill>
                <a:schemeClr val="bg1"/>
              </a:solidFill>
              <a:latin typeface="Segoe UI" panose="020B0502040204020203" pitchFamily="34" charset="0"/>
              <a:cs typeface="Segoe UI" panose="020B0502040204020203" pitchFamily="34" charset="0"/>
            </a:endParaRPr>
          </a:p>
        </p:txBody>
      </p:sp>
      <p:sp>
        <p:nvSpPr>
          <p:cNvPr id="10" name="TextBox 9"/>
          <p:cNvSpPr txBox="1"/>
          <p:nvPr/>
        </p:nvSpPr>
        <p:spPr>
          <a:xfrm>
            <a:off x="338328" y="2020824"/>
            <a:ext cx="5632704" cy="369332"/>
          </a:xfrm>
          <a:prstGeom prst="rect">
            <a:avLst/>
          </a:prstGeom>
          <a:noFill/>
        </p:spPr>
        <p:txBody>
          <a:bodyPr wrap="square" rtlCol="0">
            <a:spAutoFit/>
          </a:bodyPr>
          <a:lstStyle/>
          <a:p>
            <a:r>
              <a:rPr lang="en-US" dirty="0" smtClean="0"/>
              <a:t>State-Wise Visualizations</a:t>
            </a:r>
            <a:endParaRPr lang="en-US" dirty="0"/>
          </a:p>
        </p:txBody>
      </p:sp>
      <p:pic>
        <p:nvPicPr>
          <p:cNvPr id="7" name="Picture 6"/>
          <p:cNvPicPr/>
          <p:nvPr/>
        </p:nvPicPr>
        <p:blipFill rotWithShape="1">
          <a:blip r:embed="rId2"/>
          <a:srcRect l="13453" t="19048" r="17262" b="11534"/>
          <a:stretch/>
        </p:blipFill>
        <p:spPr bwMode="auto">
          <a:xfrm>
            <a:off x="338328" y="2562634"/>
            <a:ext cx="5477256" cy="3777729"/>
          </a:xfrm>
          <a:prstGeom prst="rect">
            <a:avLst/>
          </a:prstGeom>
          <a:ln>
            <a:noFill/>
          </a:ln>
          <a:extLst>
            <a:ext uri="{53640926-AAD7-44D8-BBD7-CCE9431645EC}">
              <a14:shadowObscured xmlns:a14="http://schemas.microsoft.com/office/drawing/2010/main"/>
            </a:ext>
          </a:extLst>
        </p:spPr>
      </p:pic>
      <p:pic>
        <p:nvPicPr>
          <p:cNvPr id="8" name="Picture 7"/>
          <p:cNvPicPr/>
          <p:nvPr/>
        </p:nvPicPr>
        <p:blipFill rotWithShape="1">
          <a:blip r:embed="rId3"/>
          <a:srcRect l="13095" t="19047" r="17143" b="11746"/>
          <a:stretch/>
        </p:blipFill>
        <p:spPr bwMode="auto">
          <a:xfrm>
            <a:off x="5971032" y="2562633"/>
            <a:ext cx="6035040" cy="377772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3242850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xmlns="" id="{47DF10A8-193D-4A2C-816E-BB875BD203D4}"/>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p:cNvSpPr>
            <a:spLocks noGrp="1"/>
          </p:cNvSpPr>
          <p:nvPr>
            <p:ph type="title"/>
          </p:nvPr>
        </p:nvSpPr>
        <p:spPr/>
        <p:txBody>
          <a:bodyPr>
            <a:normAutofit/>
          </a:bodyPr>
          <a:lstStyle/>
          <a:p>
            <a:r>
              <a:rPr lang="en-US" sz="4000" b="1" dirty="0" smtClean="0">
                <a:solidFill>
                  <a:schemeClr val="bg1"/>
                </a:solidFill>
                <a:latin typeface="Segoe UI" panose="020B0502040204020203" pitchFamily="34" charset="0"/>
                <a:cs typeface="Segoe UI" panose="020B0502040204020203" pitchFamily="34" charset="0"/>
              </a:rPr>
              <a:t>VISUALIZATIONS</a:t>
            </a:r>
            <a:endParaRPr lang="en-US" sz="4000" b="1" dirty="0">
              <a:solidFill>
                <a:schemeClr val="bg1"/>
              </a:solidFill>
              <a:latin typeface="Segoe UI" panose="020B0502040204020203" pitchFamily="34" charset="0"/>
              <a:cs typeface="Segoe UI" panose="020B0502040204020203" pitchFamily="34" charset="0"/>
            </a:endParaRPr>
          </a:p>
        </p:txBody>
      </p:sp>
      <p:sp>
        <p:nvSpPr>
          <p:cNvPr id="10" name="TextBox 9"/>
          <p:cNvSpPr txBox="1"/>
          <p:nvPr/>
        </p:nvSpPr>
        <p:spPr>
          <a:xfrm>
            <a:off x="311337" y="2026575"/>
            <a:ext cx="5632704" cy="369332"/>
          </a:xfrm>
          <a:prstGeom prst="rect">
            <a:avLst/>
          </a:prstGeom>
          <a:noFill/>
        </p:spPr>
        <p:txBody>
          <a:bodyPr wrap="square" rtlCol="0">
            <a:spAutoFit/>
          </a:bodyPr>
          <a:lstStyle/>
          <a:p>
            <a:r>
              <a:rPr lang="en-US" dirty="0" smtClean="0"/>
              <a:t>Silver Aggregates</a:t>
            </a:r>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2364" t="17778" r="16818" b="11596"/>
          <a:stretch/>
        </p:blipFill>
        <p:spPr>
          <a:xfrm>
            <a:off x="219897" y="2395907"/>
            <a:ext cx="6007167" cy="3995928"/>
          </a:xfrm>
          <a:prstGeom prst="rect">
            <a:avLst/>
          </a:prstGeom>
        </p:spPr>
      </p:pic>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3182" t="19556" r="17000" b="12889"/>
          <a:stretch/>
        </p:blipFill>
        <p:spPr>
          <a:xfrm>
            <a:off x="6227064" y="2395907"/>
            <a:ext cx="5861304" cy="3995928"/>
          </a:xfrm>
          <a:prstGeom prst="rect">
            <a:avLst/>
          </a:prstGeom>
        </p:spPr>
      </p:pic>
    </p:spTree>
    <p:extLst>
      <p:ext uri="{BB962C8B-B14F-4D97-AF65-F5344CB8AC3E}">
        <p14:creationId xmlns:p14="http://schemas.microsoft.com/office/powerpoint/2010/main" val="3712707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F5E46B0-BB2D-4A7A-9758-82F33AF91380}"/>
            </a:ext>
          </a:extLst>
        </p:cNvPr>
        <p:cNvGrpSpPr/>
        <p:nvPr/>
      </p:nvGrpSpPr>
      <p:grpSpPr>
        <a:xfrm>
          <a:off x="0" y="0"/>
          <a:ext cx="0" cy="0"/>
          <a:chOff x="0" y="0"/>
          <a:chExt cx="0" cy="0"/>
        </a:xfrm>
      </p:grpSpPr>
      <p:sp>
        <p:nvSpPr>
          <p:cNvPr id="4" name="Parallelogram 3">
            <a:extLst>
              <a:ext uri="{FF2B5EF4-FFF2-40B4-BE49-F238E27FC236}">
                <a16:creationId xmlns:a16="http://schemas.microsoft.com/office/drawing/2014/main" xmlns="" id="{EBBD2A55-649C-5043-7EA1-E05BFF841A80}"/>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a:extLst>
              <a:ext uri="{FF2B5EF4-FFF2-40B4-BE49-F238E27FC236}">
                <a16:creationId xmlns:a16="http://schemas.microsoft.com/office/drawing/2014/main" xmlns="" id="{20226C47-931B-1011-751D-4EFEFAF50295}"/>
              </a:ext>
            </a:extLst>
          </p:cNvPr>
          <p:cNvSpPr>
            <a:spLocks noGrp="1"/>
          </p:cNvSpPr>
          <p:nvPr>
            <p:ph type="title"/>
          </p:nvPr>
        </p:nvSpPr>
        <p:spPr/>
        <p:txBody>
          <a:bodyPr>
            <a:normAutofit/>
          </a:bodyPr>
          <a:lstStyle/>
          <a:p>
            <a:r>
              <a:rPr lang="en-US" sz="4000" b="1" dirty="0">
                <a:solidFill>
                  <a:schemeClr val="bg1"/>
                </a:solidFill>
                <a:latin typeface="Segoe UI"/>
                <a:ea typeface="Calibri Light"/>
                <a:cs typeface="Calibri Light"/>
              </a:rPr>
              <a:t>USECASES</a:t>
            </a:r>
          </a:p>
        </p:txBody>
      </p:sp>
      <p:sp>
        <p:nvSpPr>
          <p:cNvPr id="7" name="TextBox 6">
            <a:extLst>
              <a:ext uri="{FF2B5EF4-FFF2-40B4-BE49-F238E27FC236}">
                <a16:creationId xmlns:a16="http://schemas.microsoft.com/office/drawing/2014/main" xmlns="" id="{215DE2BE-9771-3BA0-DE8F-12EE2480E2B0}"/>
              </a:ext>
            </a:extLst>
          </p:cNvPr>
          <p:cNvSpPr txBox="1"/>
          <p:nvPr/>
        </p:nvSpPr>
        <p:spPr>
          <a:xfrm>
            <a:off x="466530" y="2083836"/>
            <a:ext cx="1149220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buFont typeface="Arial"/>
              <a:buChar char="•"/>
            </a:pPr>
            <a:endParaRPr lang="en-US" sz="1600" dirty="0">
              <a:ea typeface="Calibri"/>
              <a:cs typeface="Calibri"/>
            </a:endParaRPr>
          </a:p>
        </p:txBody>
      </p:sp>
      <p:sp>
        <p:nvSpPr>
          <p:cNvPr id="5" name="TextBox 4">
            <a:extLst>
              <a:ext uri="{FF2B5EF4-FFF2-40B4-BE49-F238E27FC236}">
                <a16:creationId xmlns:a16="http://schemas.microsoft.com/office/drawing/2014/main" xmlns="" id="{6E817723-7A53-0C5D-A9FB-9307C69C1B76}"/>
              </a:ext>
            </a:extLst>
          </p:cNvPr>
          <p:cNvSpPr txBox="1"/>
          <p:nvPr/>
        </p:nvSpPr>
        <p:spPr>
          <a:xfrm>
            <a:off x="684244" y="2052734"/>
            <a:ext cx="11150081" cy="3378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buFont typeface="Arial"/>
              <a:buChar char="•"/>
            </a:pPr>
            <a:r>
              <a:rPr lang="en-US" sz="1600" b="1" dirty="0">
                <a:ea typeface="+mn-lt"/>
                <a:cs typeface="+mn-lt"/>
              </a:rPr>
              <a:t>Evidence-Based Governance:</a:t>
            </a:r>
            <a:r>
              <a:rPr lang="en-US" sz="1600" dirty="0">
                <a:ea typeface="+mn-lt"/>
                <a:cs typeface="+mn-lt"/>
              </a:rPr>
              <a:t> Enables policymakers to identify literacy gaps and gender imbalances using </a:t>
            </a:r>
            <a:r>
              <a:rPr lang="en-US" sz="1600" dirty="0" err="1">
                <a:ea typeface="+mn-lt"/>
                <a:cs typeface="+mn-lt"/>
              </a:rPr>
              <a:t>Treemaps</a:t>
            </a:r>
            <a:r>
              <a:rPr lang="en-US" sz="1600" dirty="0">
                <a:ea typeface="+mn-lt"/>
                <a:cs typeface="+mn-lt"/>
              </a:rPr>
              <a:t> for targeted funding and social welfare programs.</a:t>
            </a:r>
            <a:endParaRPr lang="en-US" sz="1600" dirty="0">
              <a:ea typeface="Calibri"/>
              <a:cs typeface="Calibri"/>
            </a:endParaRPr>
          </a:p>
          <a:p>
            <a:pPr algn="just">
              <a:lnSpc>
                <a:spcPct val="150000"/>
              </a:lnSpc>
              <a:buFont typeface="Arial"/>
              <a:buChar char="•"/>
            </a:pPr>
            <a:endParaRPr lang="en-US" sz="1600" dirty="0">
              <a:ea typeface="+mn-lt"/>
              <a:cs typeface="+mn-lt"/>
            </a:endParaRPr>
          </a:p>
          <a:p>
            <a:pPr algn="just">
              <a:lnSpc>
                <a:spcPct val="150000"/>
              </a:lnSpc>
              <a:buFont typeface="Arial"/>
              <a:buChar char="•"/>
            </a:pPr>
            <a:r>
              <a:rPr lang="en-US" sz="1600" b="1" dirty="0">
                <a:ea typeface="+mn-lt"/>
                <a:cs typeface="+mn-lt"/>
              </a:rPr>
              <a:t>Infrastructure Optimization:</a:t>
            </a:r>
            <a:r>
              <a:rPr lang="en-US" sz="1600" dirty="0">
                <a:ea typeface="+mn-lt"/>
                <a:cs typeface="+mn-lt"/>
              </a:rPr>
              <a:t> Analyzes population density and age-group distributions to strategically locate hospitals, schools, and public transport routes.</a:t>
            </a:r>
            <a:endParaRPr lang="en-US" sz="1600" dirty="0">
              <a:ea typeface="Calibri" panose="020F0502020204030204"/>
              <a:cs typeface="Calibri" panose="020F0502020204030204"/>
            </a:endParaRPr>
          </a:p>
          <a:p>
            <a:pPr algn="just">
              <a:lnSpc>
                <a:spcPct val="150000"/>
              </a:lnSpc>
              <a:buFont typeface="Arial"/>
              <a:buChar char="•"/>
            </a:pPr>
            <a:endParaRPr lang="en-US" sz="1600" dirty="0">
              <a:ea typeface="+mn-lt"/>
              <a:cs typeface="+mn-lt"/>
            </a:endParaRPr>
          </a:p>
          <a:p>
            <a:pPr algn="just">
              <a:lnSpc>
                <a:spcPct val="150000"/>
              </a:lnSpc>
              <a:buFont typeface="Arial"/>
              <a:buChar char="•"/>
            </a:pPr>
            <a:r>
              <a:rPr lang="en-US" sz="1600" b="1" dirty="0">
                <a:ea typeface="+mn-lt"/>
                <a:cs typeface="+mn-lt"/>
              </a:rPr>
              <a:t>Data Integrity &amp; Scalability:</a:t>
            </a:r>
            <a:r>
              <a:rPr lang="en-US" sz="1600" dirty="0">
                <a:ea typeface="+mn-lt"/>
                <a:cs typeface="+mn-lt"/>
              </a:rPr>
              <a:t> Provides an automated, audit-ready pipeline that can be rapidly adapted for other large-scale data needs, such as economic forecasting or crisis management.</a:t>
            </a:r>
            <a:endParaRPr lang="en-US" sz="1600" dirty="0">
              <a:ea typeface="Calibri"/>
              <a:cs typeface="Calibri"/>
            </a:endParaRPr>
          </a:p>
          <a:p>
            <a:pPr marL="285750" indent="-285750" algn="just">
              <a:lnSpc>
                <a:spcPct val="150000"/>
              </a:lnSpc>
              <a:buFont typeface="Arial"/>
              <a:buChar char="•"/>
            </a:pPr>
            <a:endParaRPr lang="en-US" sz="1600" dirty="0">
              <a:ea typeface="Calibri"/>
              <a:cs typeface="Calibri"/>
            </a:endParaRPr>
          </a:p>
        </p:txBody>
      </p:sp>
    </p:spTree>
    <p:extLst>
      <p:ext uri="{BB962C8B-B14F-4D97-AF65-F5344CB8AC3E}">
        <p14:creationId xmlns:p14="http://schemas.microsoft.com/office/powerpoint/2010/main" val="2010557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xmlns="" id="{47DF10A8-193D-4A2C-816E-BB875BD203D4}"/>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p:cNvSpPr>
            <a:spLocks noGrp="1"/>
          </p:cNvSpPr>
          <p:nvPr>
            <p:ph type="title"/>
          </p:nvPr>
        </p:nvSpPr>
        <p:spPr/>
        <p:txBody>
          <a:bodyPr>
            <a:normAutofit/>
          </a:bodyPr>
          <a:lstStyle/>
          <a:p>
            <a:r>
              <a:rPr lang="en-US" sz="4000" b="1" dirty="0" smtClean="0">
                <a:solidFill>
                  <a:schemeClr val="bg1"/>
                </a:solidFill>
                <a:latin typeface="Segoe UI" panose="020B0502040204020203" pitchFamily="34" charset="0"/>
                <a:cs typeface="Segoe UI" panose="020B0502040204020203" pitchFamily="34" charset="0"/>
              </a:rPr>
              <a:t>LIMITATIONS</a:t>
            </a:r>
            <a:endParaRPr lang="en-US" sz="4000" b="1" dirty="0">
              <a:solidFill>
                <a:schemeClr val="bg1"/>
              </a:solidFill>
              <a:latin typeface="Segoe UI" panose="020B0502040204020203" pitchFamily="34" charset="0"/>
              <a:cs typeface="Segoe UI" panose="020B0502040204020203" pitchFamily="34" charset="0"/>
            </a:endParaRPr>
          </a:p>
        </p:txBody>
      </p:sp>
      <p:sp>
        <p:nvSpPr>
          <p:cNvPr id="10" name="TextBox 9"/>
          <p:cNvSpPr txBox="1"/>
          <p:nvPr/>
        </p:nvSpPr>
        <p:spPr>
          <a:xfrm>
            <a:off x="311336" y="2026574"/>
            <a:ext cx="11042464" cy="3416320"/>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n-US" sz="1600" b="1" dirty="0"/>
              <a:t>Real-Time Processing: </a:t>
            </a:r>
            <a:r>
              <a:rPr lang="en-US" sz="1600" dirty="0"/>
              <a:t>The pipeline is currently batch-oriented; implementing Structured Streaming would allow for real-time administrative data ingestion</a:t>
            </a:r>
            <a:r>
              <a:rPr lang="en-US" sz="1600" dirty="0" smtClean="0"/>
              <a:t>.</a:t>
            </a:r>
          </a:p>
          <a:p>
            <a:pPr marL="285750" lvl="0" indent="-285750" algn="just">
              <a:lnSpc>
                <a:spcPct val="150000"/>
              </a:lnSpc>
              <a:buFont typeface="Arial" panose="020B0604020202020204" pitchFamily="34" charset="0"/>
              <a:buChar char="•"/>
            </a:pPr>
            <a:endParaRPr lang="en-US" sz="1600" dirty="0"/>
          </a:p>
          <a:p>
            <a:pPr marL="285750" lvl="0" indent="-285750" algn="just">
              <a:lnSpc>
                <a:spcPct val="150000"/>
              </a:lnSpc>
              <a:buFont typeface="Arial" panose="020B0604020202020204" pitchFamily="34" charset="0"/>
              <a:buChar char="•"/>
            </a:pPr>
            <a:r>
              <a:rPr lang="en-US" sz="1600" b="1" dirty="0"/>
              <a:t>Automated Alerting: </a:t>
            </a:r>
            <a:r>
              <a:rPr lang="en-US" sz="1600" dirty="0"/>
              <a:t>Integrating Slack or Email notifications into the Airflow DAG would proactively alert stakeholders when KPIs cross critical thresholds</a:t>
            </a:r>
            <a:r>
              <a:rPr lang="en-US" sz="1600" dirty="0" smtClean="0"/>
              <a:t>.</a:t>
            </a:r>
          </a:p>
          <a:p>
            <a:pPr marL="285750" lvl="0" indent="-285750" algn="just">
              <a:lnSpc>
                <a:spcPct val="150000"/>
              </a:lnSpc>
              <a:buFont typeface="Arial" panose="020B0604020202020204" pitchFamily="34" charset="0"/>
              <a:buChar char="•"/>
            </a:pPr>
            <a:endParaRPr lang="en-US" sz="1600" dirty="0"/>
          </a:p>
          <a:p>
            <a:pPr marL="285750" lvl="0" indent="-285750" algn="just">
              <a:lnSpc>
                <a:spcPct val="150000"/>
              </a:lnSpc>
              <a:buFont typeface="Arial" panose="020B0604020202020204" pitchFamily="34" charset="0"/>
              <a:buChar char="•"/>
            </a:pPr>
            <a:r>
              <a:rPr lang="en-US" sz="1600" b="1" dirty="0"/>
              <a:t>Data Integration:</a:t>
            </a:r>
            <a:r>
              <a:rPr lang="en-US" sz="1600" dirty="0"/>
              <a:t> Expanding the model to include climate and infrastructure spending data would provide a more comprehensive socio-economic view. </a:t>
            </a:r>
          </a:p>
          <a:p>
            <a:pPr algn="just">
              <a:lnSpc>
                <a:spcPct val="150000"/>
              </a:lnSpc>
            </a:pPr>
            <a:endParaRPr lang="en-US" sz="1600" dirty="0" smtClean="0"/>
          </a:p>
        </p:txBody>
      </p:sp>
    </p:spTree>
    <p:extLst>
      <p:ext uri="{BB962C8B-B14F-4D97-AF65-F5344CB8AC3E}">
        <p14:creationId xmlns:p14="http://schemas.microsoft.com/office/powerpoint/2010/main" val="26686752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D48CD92-F5D4-14A8-EE04-FC0770218640}"/>
            </a:ext>
          </a:extLst>
        </p:cNvPr>
        <p:cNvGrpSpPr/>
        <p:nvPr/>
      </p:nvGrpSpPr>
      <p:grpSpPr>
        <a:xfrm>
          <a:off x="0" y="0"/>
          <a:ext cx="0" cy="0"/>
          <a:chOff x="0" y="0"/>
          <a:chExt cx="0" cy="0"/>
        </a:xfrm>
      </p:grpSpPr>
      <p:sp>
        <p:nvSpPr>
          <p:cNvPr id="4" name="Parallelogram 3">
            <a:extLst>
              <a:ext uri="{FF2B5EF4-FFF2-40B4-BE49-F238E27FC236}">
                <a16:creationId xmlns:a16="http://schemas.microsoft.com/office/drawing/2014/main" xmlns="" id="{803BB88D-8594-B8E9-3EC9-D407117D004E}"/>
              </a:ext>
              <a:ext uri="{C183D7F6-B498-43B3-948B-1728B52AA6E4}">
                <adec:decorative xmlns:adec="http://schemas.microsoft.com/office/drawing/2017/decorative" xmlns="" val="1"/>
              </a:ext>
            </a:extLst>
          </p:cNvPr>
          <p:cNvSpPr/>
          <p:nvPr/>
        </p:nvSpPr>
        <p:spPr>
          <a:xfrm rot="16200000">
            <a:off x="5219596" y="-5217365"/>
            <a:ext cx="1846115" cy="12285304"/>
          </a:xfrm>
          <a:prstGeom prst="parallelogram">
            <a:avLst>
              <a:gd name="adj" fmla="val 0"/>
            </a:avLst>
          </a:prstGeom>
          <a:gradFill>
            <a:gsLst>
              <a:gs pos="0">
                <a:srgbClr val="7CEFD8"/>
              </a:gs>
              <a:gs pos="7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solidFill>
                <a:schemeClr val="tx1"/>
              </a:solidFill>
            </a:endParaRPr>
          </a:p>
        </p:txBody>
      </p:sp>
      <p:sp>
        <p:nvSpPr>
          <p:cNvPr id="2" name="Title 1">
            <a:extLst>
              <a:ext uri="{FF2B5EF4-FFF2-40B4-BE49-F238E27FC236}">
                <a16:creationId xmlns:a16="http://schemas.microsoft.com/office/drawing/2014/main" xmlns="" id="{6FD2ACFC-F555-3C53-D433-FE376742F664}"/>
              </a:ext>
            </a:extLst>
          </p:cNvPr>
          <p:cNvSpPr>
            <a:spLocks noGrp="1"/>
          </p:cNvSpPr>
          <p:nvPr>
            <p:ph type="title"/>
          </p:nvPr>
        </p:nvSpPr>
        <p:spPr/>
        <p:txBody>
          <a:bodyPr>
            <a:normAutofit/>
          </a:bodyPr>
          <a:lstStyle/>
          <a:p>
            <a:r>
              <a:rPr lang="en-US" sz="4000" b="1" dirty="0">
                <a:solidFill>
                  <a:schemeClr val="bg1"/>
                </a:solidFill>
                <a:latin typeface="Segoe UI"/>
                <a:ea typeface="Calibri Light"/>
                <a:cs typeface="Calibri Light"/>
              </a:rPr>
              <a:t>CONCLUSION</a:t>
            </a:r>
          </a:p>
        </p:txBody>
      </p:sp>
      <p:sp>
        <p:nvSpPr>
          <p:cNvPr id="7" name="TextBox 6">
            <a:extLst>
              <a:ext uri="{FF2B5EF4-FFF2-40B4-BE49-F238E27FC236}">
                <a16:creationId xmlns:a16="http://schemas.microsoft.com/office/drawing/2014/main" xmlns="" id="{71AE3E10-3BD7-2315-BFAC-AE3B4343C10E}"/>
              </a:ext>
            </a:extLst>
          </p:cNvPr>
          <p:cNvSpPr txBox="1"/>
          <p:nvPr/>
        </p:nvSpPr>
        <p:spPr>
          <a:xfrm>
            <a:off x="466530" y="2083836"/>
            <a:ext cx="11492204"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buFont typeface="Arial"/>
              <a:buChar char="•"/>
            </a:pPr>
            <a:endParaRPr lang="en-US" sz="1600" dirty="0">
              <a:ea typeface="Calibri"/>
              <a:cs typeface="Calibri"/>
            </a:endParaRPr>
          </a:p>
        </p:txBody>
      </p:sp>
      <p:sp>
        <p:nvSpPr>
          <p:cNvPr id="5" name="TextBox 4">
            <a:extLst>
              <a:ext uri="{FF2B5EF4-FFF2-40B4-BE49-F238E27FC236}">
                <a16:creationId xmlns:a16="http://schemas.microsoft.com/office/drawing/2014/main" xmlns="" id="{BFCD1FF4-483E-A512-AA83-31D6A1CC4EA9}"/>
              </a:ext>
            </a:extLst>
          </p:cNvPr>
          <p:cNvSpPr txBox="1"/>
          <p:nvPr/>
        </p:nvSpPr>
        <p:spPr>
          <a:xfrm>
            <a:off x="684244" y="2052734"/>
            <a:ext cx="11150081" cy="3378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lnSpc>
                <a:spcPct val="150000"/>
              </a:lnSpc>
              <a:buFont typeface="Arial"/>
              <a:buChar char="•"/>
            </a:pPr>
            <a:r>
              <a:rPr lang="en-US" sz="1600" b="1" dirty="0">
                <a:ea typeface="+mn-lt"/>
                <a:cs typeface="+mn-lt"/>
              </a:rPr>
              <a:t>End-to-End Automation:</a:t>
            </a:r>
            <a:r>
              <a:rPr lang="en-US" sz="1600" dirty="0">
                <a:ea typeface="+mn-lt"/>
                <a:cs typeface="+mn-lt"/>
              </a:rPr>
              <a:t> Successfully engineered a production-grade pipeline that automates the journey of raw census data from ingestion to interactive visualization with zero manual intervention.</a:t>
            </a:r>
            <a:endParaRPr lang="en-US" sz="1600" dirty="0">
              <a:ea typeface="Calibri" panose="020F0502020204030204"/>
              <a:cs typeface="Calibri" panose="020F0502020204030204"/>
            </a:endParaRPr>
          </a:p>
          <a:p>
            <a:pPr marL="285750" indent="-285750" algn="just">
              <a:lnSpc>
                <a:spcPct val="150000"/>
              </a:lnSpc>
              <a:buFont typeface="Arial"/>
              <a:buChar char="•"/>
            </a:pPr>
            <a:endParaRPr lang="en-US" sz="1600" dirty="0">
              <a:ea typeface="+mn-lt"/>
              <a:cs typeface="+mn-lt"/>
            </a:endParaRPr>
          </a:p>
          <a:p>
            <a:pPr marL="285750" indent="-285750" algn="just">
              <a:lnSpc>
                <a:spcPct val="150000"/>
              </a:lnSpc>
              <a:buFont typeface="Arial"/>
              <a:buChar char="•"/>
            </a:pPr>
            <a:r>
              <a:rPr lang="en-US" sz="1600" b="1" dirty="0">
                <a:ea typeface="+mn-lt"/>
                <a:cs typeface="+mn-lt"/>
              </a:rPr>
              <a:t>Architecture Integrity:</a:t>
            </a:r>
            <a:r>
              <a:rPr lang="en-US" sz="1600" dirty="0">
                <a:ea typeface="+mn-lt"/>
                <a:cs typeface="+mn-lt"/>
              </a:rPr>
              <a:t> Implemented a robust </a:t>
            </a:r>
            <a:r>
              <a:rPr lang="en-US" sz="1600" b="1" dirty="0">
                <a:ea typeface="+mn-lt"/>
                <a:cs typeface="+mn-lt"/>
              </a:rPr>
              <a:t>Medallion Architecture</a:t>
            </a:r>
            <a:r>
              <a:rPr lang="en-US" sz="1600" dirty="0">
                <a:ea typeface="+mn-lt"/>
                <a:cs typeface="+mn-lt"/>
              </a:rPr>
              <a:t> using Delta Lake, ensuring that data is cleaned, standardized, and validated through three distinct hops for maximum reliability.</a:t>
            </a:r>
            <a:endParaRPr lang="en-US" sz="1600" dirty="0">
              <a:ea typeface="Calibri" panose="020F0502020204030204"/>
              <a:cs typeface="Calibri" panose="020F0502020204030204"/>
            </a:endParaRPr>
          </a:p>
          <a:p>
            <a:pPr marL="285750" indent="-285750" algn="just">
              <a:lnSpc>
                <a:spcPct val="150000"/>
              </a:lnSpc>
              <a:buFont typeface="Arial"/>
              <a:buChar char="•"/>
            </a:pPr>
            <a:endParaRPr lang="en-US" sz="1600" dirty="0">
              <a:ea typeface="+mn-lt"/>
              <a:cs typeface="+mn-lt"/>
            </a:endParaRPr>
          </a:p>
          <a:p>
            <a:pPr marL="285750" indent="-285750" algn="just">
              <a:lnSpc>
                <a:spcPct val="150000"/>
              </a:lnSpc>
              <a:buFont typeface="Arial"/>
              <a:buChar char="•"/>
            </a:pPr>
            <a:r>
              <a:rPr lang="en-US" sz="1600" b="1" dirty="0">
                <a:ea typeface="+mn-lt"/>
                <a:cs typeface="+mn-lt"/>
              </a:rPr>
              <a:t>Unified Intelligence:</a:t>
            </a:r>
            <a:r>
              <a:rPr lang="en-US" sz="1600" dirty="0">
                <a:ea typeface="+mn-lt"/>
                <a:cs typeface="+mn-lt"/>
              </a:rPr>
              <a:t> Developed a suite of high-performance dashboards that bridge the gap between complex big data engineering and actionable policy insights for national and local stakeholders.</a:t>
            </a:r>
            <a:endParaRPr lang="en-US" sz="1600" dirty="0">
              <a:ea typeface="Calibri"/>
              <a:cs typeface="Calibri"/>
            </a:endParaRPr>
          </a:p>
          <a:p>
            <a:pPr algn="just">
              <a:lnSpc>
                <a:spcPct val="150000"/>
              </a:lnSpc>
            </a:pPr>
            <a:endParaRPr lang="en-US" sz="1600" dirty="0">
              <a:ea typeface="Calibri"/>
              <a:cs typeface="Calibri"/>
            </a:endParaRPr>
          </a:p>
        </p:txBody>
      </p:sp>
    </p:spTree>
    <p:extLst>
      <p:ext uri="{BB962C8B-B14F-4D97-AF65-F5344CB8AC3E}">
        <p14:creationId xmlns:p14="http://schemas.microsoft.com/office/powerpoint/2010/main" val="9657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hidden="1">
            <a:extLst>
              <a:ext uri="{FF2B5EF4-FFF2-40B4-BE49-F238E27FC236}">
                <a16:creationId xmlns:a16="http://schemas.microsoft.com/office/drawing/2014/main" xmlns="" id="{24922840-A8AD-427F-889C-2B79CACC872F}"/>
              </a:ext>
            </a:extLst>
          </p:cNvPr>
          <p:cNvSpPr>
            <a:spLocks noGrp="1"/>
          </p:cNvSpPr>
          <p:nvPr>
            <p:ph type="title"/>
          </p:nvPr>
        </p:nvSpPr>
        <p:spPr/>
        <p:txBody>
          <a:bodyPr/>
          <a:lstStyle/>
          <a:p>
            <a:r>
              <a:rPr lang="en-US" dirty="0"/>
              <a:t>Human resources slide 10</a:t>
            </a:r>
          </a:p>
        </p:txBody>
      </p:sp>
      <p:grpSp>
        <p:nvGrpSpPr>
          <p:cNvPr id="5" name="Group 4" descr="This image is an icon of three human beings. ">
            <a:extLst>
              <a:ext uri="{FF2B5EF4-FFF2-40B4-BE49-F238E27FC236}">
                <a16:creationId xmlns:a16="http://schemas.microsoft.com/office/drawing/2014/main" xmlns="" id="{5D1C056A-1D7A-4D89-A2E0-446D9944C6FB}"/>
              </a:ext>
            </a:extLst>
          </p:cNvPr>
          <p:cNvGrpSpPr/>
          <p:nvPr/>
        </p:nvGrpSpPr>
        <p:grpSpPr>
          <a:xfrm>
            <a:off x="791651" y="3549996"/>
            <a:ext cx="569186" cy="530997"/>
            <a:chOff x="-27444701" y="-10180638"/>
            <a:chExt cx="10883901" cy="10153650"/>
          </a:xfrm>
          <a:solidFill>
            <a:schemeClr val="bg1">
              <a:lumMod val="50000"/>
            </a:schemeClr>
          </a:solidFill>
        </p:grpSpPr>
        <p:sp>
          <p:nvSpPr>
            <p:cNvPr id="6" name="Freeform 35">
              <a:extLst>
                <a:ext uri="{FF2B5EF4-FFF2-40B4-BE49-F238E27FC236}">
                  <a16:creationId xmlns:a16="http://schemas.microsoft.com/office/drawing/2014/main" xmlns="" id="{C9FAB44B-F1A9-406C-8DC0-7BC29AA64A5B}"/>
                </a:ext>
              </a:extLst>
            </p:cNvPr>
            <p:cNvSpPr>
              <a:spLocks/>
            </p:cNvSpPr>
            <p:nvPr/>
          </p:nvSpPr>
          <p:spPr bwMode="auto">
            <a:xfrm>
              <a:off x="-22969538" y="-10180638"/>
              <a:ext cx="1906588" cy="1978025"/>
            </a:xfrm>
            <a:custGeom>
              <a:avLst/>
              <a:gdLst>
                <a:gd name="T0" fmla="*/ 554 w 639"/>
                <a:gd name="T1" fmla="*/ 327 h 664"/>
                <a:gd name="T2" fmla="*/ 438 w 639"/>
                <a:gd name="T3" fmla="*/ 526 h 664"/>
                <a:gd name="T4" fmla="*/ 204 w 639"/>
                <a:gd name="T5" fmla="*/ 521 h 664"/>
                <a:gd name="T6" fmla="*/ 97 w 639"/>
                <a:gd name="T7" fmla="*/ 316 h 664"/>
                <a:gd name="T8" fmla="*/ 222 w 639"/>
                <a:gd name="T9" fmla="*/ 123 h 664"/>
                <a:gd name="T10" fmla="*/ 447 w 639"/>
                <a:gd name="T11" fmla="*/ 133 h 664"/>
                <a:gd name="T12" fmla="*/ 554 w 639"/>
                <a:gd name="T13" fmla="*/ 327 h 664"/>
                <a:gd name="T14" fmla="*/ 638 w 639"/>
                <a:gd name="T15" fmla="*/ 327 h 664"/>
                <a:gd name="T16" fmla="*/ 519 w 639"/>
                <a:gd name="T17" fmla="*/ 82 h 664"/>
                <a:gd name="T18" fmla="*/ 244 w 639"/>
                <a:gd name="T19" fmla="*/ 25 h 664"/>
                <a:gd name="T20" fmla="*/ 39 w 639"/>
                <a:gd name="T21" fmla="*/ 200 h 664"/>
                <a:gd name="T22" fmla="*/ 53 w 639"/>
                <a:gd name="T23" fmla="*/ 482 h 664"/>
                <a:gd name="T24" fmla="*/ 407 w 639"/>
                <a:gd name="T25" fmla="*/ 629 h 664"/>
                <a:gd name="T26" fmla="*/ 638 w 639"/>
                <a:gd name="T27" fmla="*/ 327 h 664"/>
                <a:gd name="T28" fmla="*/ 554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4" y="327"/>
                  </a:moveTo>
                  <a:cubicBezTo>
                    <a:pt x="553" y="410"/>
                    <a:pt x="510" y="485"/>
                    <a:pt x="438" y="526"/>
                  </a:cubicBezTo>
                  <a:cubicBezTo>
                    <a:pt x="365" y="569"/>
                    <a:pt x="275" y="564"/>
                    <a:pt x="204" y="521"/>
                  </a:cubicBezTo>
                  <a:cubicBezTo>
                    <a:pt x="133" y="478"/>
                    <a:pt x="94" y="398"/>
                    <a:pt x="97" y="316"/>
                  </a:cubicBezTo>
                  <a:cubicBezTo>
                    <a:pt x="99" y="234"/>
                    <a:pt x="150" y="161"/>
                    <a:pt x="222" y="123"/>
                  </a:cubicBezTo>
                  <a:cubicBezTo>
                    <a:pt x="292" y="85"/>
                    <a:pt x="379" y="92"/>
                    <a:pt x="447" y="133"/>
                  </a:cubicBezTo>
                  <a:cubicBezTo>
                    <a:pt x="514" y="174"/>
                    <a:pt x="553" y="249"/>
                    <a:pt x="554" y="327"/>
                  </a:cubicBezTo>
                  <a:cubicBezTo>
                    <a:pt x="555" y="381"/>
                    <a:pt x="639" y="381"/>
                    <a:pt x="638" y="327"/>
                  </a:cubicBezTo>
                  <a:cubicBezTo>
                    <a:pt x="637" y="232"/>
                    <a:pt x="594" y="141"/>
                    <a:pt x="519" y="82"/>
                  </a:cubicBezTo>
                  <a:cubicBezTo>
                    <a:pt x="441" y="21"/>
                    <a:pt x="340" y="0"/>
                    <a:pt x="244" y="25"/>
                  </a:cubicBezTo>
                  <a:cubicBezTo>
                    <a:pt x="154" y="48"/>
                    <a:pt x="76" y="116"/>
                    <a:pt x="39" y="200"/>
                  </a:cubicBezTo>
                  <a:cubicBezTo>
                    <a:pt x="0" y="292"/>
                    <a:pt x="5" y="395"/>
                    <a:pt x="53" y="482"/>
                  </a:cubicBezTo>
                  <a:cubicBezTo>
                    <a:pt x="122" y="606"/>
                    <a:pt x="271" y="664"/>
                    <a:pt x="407" y="629"/>
                  </a:cubicBezTo>
                  <a:cubicBezTo>
                    <a:pt x="543" y="594"/>
                    <a:pt x="637" y="466"/>
                    <a:pt x="638" y="327"/>
                  </a:cubicBezTo>
                  <a:cubicBezTo>
                    <a:pt x="639" y="273"/>
                    <a:pt x="555"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7" name="Freeform 36">
              <a:extLst>
                <a:ext uri="{FF2B5EF4-FFF2-40B4-BE49-F238E27FC236}">
                  <a16:creationId xmlns:a16="http://schemas.microsoft.com/office/drawing/2014/main" xmlns="" id="{12B0F9D4-64CB-42CD-88AA-7E8CAD1F1229}"/>
                </a:ext>
              </a:extLst>
            </p:cNvPr>
            <p:cNvSpPr>
              <a:spLocks/>
            </p:cNvSpPr>
            <p:nvPr/>
          </p:nvSpPr>
          <p:spPr bwMode="auto">
            <a:xfrm>
              <a:off x="-23596600" y="-8610601"/>
              <a:ext cx="3186113" cy="2139950"/>
            </a:xfrm>
            <a:custGeom>
              <a:avLst/>
              <a:gdLst>
                <a:gd name="T0" fmla="*/ 846 w 1068"/>
                <a:gd name="T1" fmla="*/ 102 h 718"/>
                <a:gd name="T2" fmla="*/ 981 w 1068"/>
                <a:gd name="T3" fmla="*/ 330 h 718"/>
                <a:gd name="T4" fmla="*/ 981 w 1068"/>
                <a:gd name="T5" fmla="*/ 480 h 718"/>
                <a:gd name="T6" fmla="*/ 981 w 1068"/>
                <a:gd name="T7" fmla="*/ 559 h 718"/>
                <a:gd name="T8" fmla="*/ 961 w 1068"/>
                <a:gd name="T9" fmla="*/ 618 h 718"/>
                <a:gd name="T10" fmla="*/ 882 w 1068"/>
                <a:gd name="T11" fmla="*/ 634 h 718"/>
                <a:gd name="T12" fmla="*/ 214 w 1068"/>
                <a:gd name="T13" fmla="*/ 634 h 718"/>
                <a:gd name="T14" fmla="*/ 152 w 1068"/>
                <a:gd name="T15" fmla="*/ 634 h 718"/>
                <a:gd name="T16" fmla="*/ 90 w 1068"/>
                <a:gd name="T17" fmla="*/ 571 h 718"/>
                <a:gd name="T18" fmla="*/ 90 w 1068"/>
                <a:gd name="T19" fmla="*/ 524 h 718"/>
                <a:gd name="T20" fmla="*/ 90 w 1068"/>
                <a:gd name="T21" fmla="*/ 355 h 718"/>
                <a:gd name="T22" fmla="*/ 173 w 1068"/>
                <a:gd name="T23" fmla="*/ 144 h 718"/>
                <a:gd name="T24" fmla="*/ 222 w 1068"/>
                <a:gd name="T25" fmla="*/ 104 h 718"/>
                <a:gd name="T26" fmla="*/ 180 w 1068"/>
                <a:gd name="T27" fmla="*/ 31 h 718"/>
                <a:gd name="T28" fmla="*/ 13 w 1068"/>
                <a:gd name="T29" fmla="*/ 277 h 718"/>
                <a:gd name="T30" fmla="*/ 6 w 1068"/>
                <a:gd name="T31" fmla="*/ 448 h 718"/>
                <a:gd name="T32" fmla="*/ 9 w 1068"/>
                <a:gd name="T33" fmla="*/ 604 h 718"/>
                <a:gd name="T34" fmla="*/ 161 w 1068"/>
                <a:gd name="T35" fmla="*/ 718 h 718"/>
                <a:gd name="T36" fmla="*/ 805 w 1068"/>
                <a:gd name="T37" fmla="*/ 718 h 718"/>
                <a:gd name="T38" fmla="*/ 908 w 1068"/>
                <a:gd name="T39" fmla="*/ 718 h 718"/>
                <a:gd name="T40" fmla="*/ 1059 w 1068"/>
                <a:gd name="T41" fmla="*/ 615 h 718"/>
                <a:gd name="T42" fmla="*/ 1065 w 1068"/>
                <a:gd name="T43" fmla="*/ 545 h 718"/>
                <a:gd name="T44" fmla="*/ 1065 w 1068"/>
                <a:gd name="T45" fmla="*/ 456 h 718"/>
                <a:gd name="T46" fmla="*/ 1060 w 1068"/>
                <a:gd name="T47" fmla="*/ 288 h 718"/>
                <a:gd name="T48" fmla="*/ 888 w 1068"/>
                <a:gd name="T49" fmla="*/ 30 h 718"/>
                <a:gd name="T50" fmla="*/ 846 w 1068"/>
                <a:gd name="T51" fmla="*/ 102 h 7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8">
                  <a:moveTo>
                    <a:pt x="846" y="102"/>
                  </a:moveTo>
                  <a:cubicBezTo>
                    <a:pt x="924" y="152"/>
                    <a:pt x="975" y="237"/>
                    <a:pt x="981" y="330"/>
                  </a:cubicBezTo>
                  <a:cubicBezTo>
                    <a:pt x="984" y="379"/>
                    <a:pt x="981" y="430"/>
                    <a:pt x="981" y="480"/>
                  </a:cubicBezTo>
                  <a:cubicBezTo>
                    <a:pt x="981" y="506"/>
                    <a:pt x="981" y="533"/>
                    <a:pt x="981" y="559"/>
                  </a:cubicBezTo>
                  <a:cubicBezTo>
                    <a:pt x="981" y="583"/>
                    <a:pt x="978" y="601"/>
                    <a:pt x="961" y="618"/>
                  </a:cubicBezTo>
                  <a:cubicBezTo>
                    <a:pt x="941" y="638"/>
                    <a:pt x="910" y="634"/>
                    <a:pt x="882" y="634"/>
                  </a:cubicBezTo>
                  <a:cubicBezTo>
                    <a:pt x="659" y="634"/>
                    <a:pt x="436" y="634"/>
                    <a:pt x="214" y="634"/>
                  </a:cubicBezTo>
                  <a:cubicBezTo>
                    <a:pt x="193" y="634"/>
                    <a:pt x="173" y="634"/>
                    <a:pt x="152" y="634"/>
                  </a:cubicBezTo>
                  <a:cubicBezTo>
                    <a:pt x="117" y="634"/>
                    <a:pt x="90" y="606"/>
                    <a:pt x="90" y="571"/>
                  </a:cubicBezTo>
                  <a:cubicBezTo>
                    <a:pt x="89" y="556"/>
                    <a:pt x="90" y="540"/>
                    <a:pt x="90" y="524"/>
                  </a:cubicBezTo>
                  <a:cubicBezTo>
                    <a:pt x="90" y="468"/>
                    <a:pt x="90" y="412"/>
                    <a:pt x="90" y="355"/>
                  </a:cubicBezTo>
                  <a:cubicBezTo>
                    <a:pt x="90" y="276"/>
                    <a:pt x="117" y="202"/>
                    <a:pt x="173" y="144"/>
                  </a:cubicBezTo>
                  <a:cubicBezTo>
                    <a:pt x="188" y="129"/>
                    <a:pt x="204" y="116"/>
                    <a:pt x="222" y="104"/>
                  </a:cubicBezTo>
                  <a:cubicBezTo>
                    <a:pt x="267" y="74"/>
                    <a:pt x="225" y="2"/>
                    <a:pt x="180" y="31"/>
                  </a:cubicBezTo>
                  <a:cubicBezTo>
                    <a:pt x="94" y="88"/>
                    <a:pt x="32" y="175"/>
                    <a:pt x="13" y="277"/>
                  </a:cubicBezTo>
                  <a:cubicBezTo>
                    <a:pt x="2" y="333"/>
                    <a:pt x="6" y="391"/>
                    <a:pt x="6" y="448"/>
                  </a:cubicBezTo>
                  <a:cubicBezTo>
                    <a:pt x="6" y="499"/>
                    <a:pt x="0" y="554"/>
                    <a:pt x="9" y="604"/>
                  </a:cubicBezTo>
                  <a:cubicBezTo>
                    <a:pt x="23" y="676"/>
                    <a:pt x="92" y="718"/>
                    <a:pt x="161" y="718"/>
                  </a:cubicBezTo>
                  <a:cubicBezTo>
                    <a:pt x="375" y="718"/>
                    <a:pt x="590" y="718"/>
                    <a:pt x="805" y="718"/>
                  </a:cubicBezTo>
                  <a:cubicBezTo>
                    <a:pt x="839" y="718"/>
                    <a:pt x="873" y="718"/>
                    <a:pt x="908" y="718"/>
                  </a:cubicBezTo>
                  <a:cubicBezTo>
                    <a:pt x="977" y="718"/>
                    <a:pt x="1035" y="682"/>
                    <a:pt x="1059" y="615"/>
                  </a:cubicBezTo>
                  <a:cubicBezTo>
                    <a:pt x="1066" y="593"/>
                    <a:pt x="1065" y="568"/>
                    <a:pt x="1065" y="545"/>
                  </a:cubicBezTo>
                  <a:cubicBezTo>
                    <a:pt x="1065" y="515"/>
                    <a:pt x="1065" y="486"/>
                    <a:pt x="1065" y="456"/>
                  </a:cubicBezTo>
                  <a:cubicBezTo>
                    <a:pt x="1065" y="400"/>
                    <a:pt x="1068" y="344"/>
                    <a:pt x="1060" y="288"/>
                  </a:cubicBezTo>
                  <a:cubicBezTo>
                    <a:pt x="1045" y="182"/>
                    <a:pt x="978" y="87"/>
                    <a:pt x="888" y="30"/>
                  </a:cubicBezTo>
                  <a:cubicBezTo>
                    <a:pt x="843" y="0"/>
                    <a:pt x="801" y="73"/>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8" name="Freeform 37">
              <a:extLst>
                <a:ext uri="{FF2B5EF4-FFF2-40B4-BE49-F238E27FC236}">
                  <a16:creationId xmlns:a16="http://schemas.microsoft.com/office/drawing/2014/main" xmlns="" id="{0FD5A500-BBCF-4857-86E7-EBF5AA53DDB4}"/>
                </a:ext>
              </a:extLst>
            </p:cNvPr>
            <p:cNvSpPr>
              <a:spLocks/>
            </p:cNvSpPr>
            <p:nvPr/>
          </p:nvSpPr>
          <p:spPr bwMode="auto">
            <a:xfrm>
              <a:off x="-26819225" y="-3736976"/>
              <a:ext cx="1903413" cy="1978025"/>
            </a:xfrm>
            <a:custGeom>
              <a:avLst/>
              <a:gdLst>
                <a:gd name="T0" fmla="*/ 554 w 638"/>
                <a:gd name="T1" fmla="*/ 327 h 664"/>
                <a:gd name="T2" fmla="*/ 437 w 638"/>
                <a:gd name="T3" fmla="*/ 527 h 664"/>
                <a:gd name="T4" fmla="*/ 203 w 638"/>
                <a:gd name="T5" fmla="*/ 521 h 664"/>
                <a:gd name="T6" fmla="*/ 96 w 638"/>
                <a:gd name="T7" fmla="*/ 316 h 664"/>
                <a:gd name="T8" fmla="*/ 222 w 638"/>
                <a:gd name="T9" fmla="*/ 123 h 664"/>
                <a:gd name="T10" fmla="*/ 446 w 638"/>
                <a:gd name="T11" fmla="*/ 133 h 664"/>
                <a:gd name="T12" fmla="*/ 554 w 638"/>
                <a:gd name="T13" fmla="*/ 327 h 664"/>
                <a:gd name="T14" fmla="*/ 638 w 638"/>
                <a:gd name="T15" fmla="*/ 327 h 664"/>
                <a:gd name="T16" fmla="*/ 519 w 638"/>
                <a:gd name="T17" fmla="*/ 82 h 664"/>
                <a:gd name="T18" fmla="*/ 244 w 638"/>
                <a:gd name="T19" fmla="*/ 25 h 664"/>
                <a:gd name="T20" fmla="*/ 39 w 638"/>
                <a:gd name="T21" fmla="*/ 201 h 664"/>
                <a:gd name="T22" fmla="*/ 53 w 638"/>
                <a:gd name="T23" fmla="*/ 482 h 664"/>
                <a:gd name="T24" fmla="*/ 406 w 638"/>
                <a:gd name="T25" fmla="*/ 630 h 664"/>
                <a:gd name="T26" fmla="*/ 638 w 638"/>
                <a:gd name="T27" fmla="*/ 327 h 664"/>
                <a:gd name="T28" fmla="*/ 554 w 638"/>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8" h="664">
                  <a:moveTo>
                    <a:pt x="554" y="327"/>
                  </a:moveTo>
                  <a:cubicBezTo>
                    <a:pt x="553" y="410"/>
                    <a:pt x="509" y="485"/>
                    <a:pt x="437" y="527"/>
                  </a:cubicBezTo>
                  <a:cubicBezTo>
                    <a:pt x="365" y="569"/>
                    <a:pt x="274" y="564"/>
                    <a:pt x="203" y="521"/>
                  </a:cubicBezTo>
                  <a:cubicBezTo>
                    <a:pt x="133" y="478"/>
                    <a:pt x="94" y="398"/>
                    <a:pt x="96" y="316"/>
                  </a:cubicBezTo>
                  <a:cubicBezTo>
                    <a:pt x="99" y="234"/>
                    <a:pt x="150" y="161"/>
                    <a:pt x="222" y="123"/>
                  </a:cubicBezTo>
                  <a:cubicBezTo>
                    <a:pt x="292" y="86"/>
                    <a:pt x="379" y="92"/>
                    <a:pt x="446" y="133"/>
                  </a:cubicBezTo>
                  <a:cubicBezTo>
                    <a:pt x="514" y="174"/>
                    <a:pt x="553" y="250"/>
                    <a:pt x="554" y="327"/>
                  </a:cubicBezTo>
                  <a:cubicBezTo>
                    <a:pt x="554" y="381"/>
                    <a:pt x="638" y="382"/>
                    <a:pt x="638" y="327"/>
                  </a:cubicBezTo>
                  <a:cubicBezTo>
                    <a:pt x="637" y="232"/>
                    <a:pt x="594" y="141"/>
                    <a:pt x="519" y="82"/>
                  </a:cubicBezTo>
                  <a:cubicBezTo>
                    <a:pt x="441" y="21"/>
                    <a:pt x="340" y="0"/>
                    <a:pt x="244" y="25"/>
                  </a:cubicBezTo>
                  <a:cubicBezTo>
                    <a:pt x="154" y="48"/>
                    <a:pt x="76" y="116"/>
                    <a:pt x="39" y="201"/>
                  </a:cubicBezTo>
                  <a:cubicBezTo>
                    <a:pt x="0" y="292"/>
                    <a:pt x="5" y="395"/>
                    <a:pt x="53" y="482"/>
                  </a:cubicBezTo>
                  <a:cubicBezTo>
                    <a:pt x="122" y="606"/>
                    <a:pt x="271" y="664"/>
                    <a:pt x="406" y="630"/>
                  </a:cubicBezTo>
                  <a:cubicBezTo>
                    <a:pt x="542" y="595"/>
                    <a:pt x="636" y="466"/>
                    <a:pt x="638" y="327"/>
                  </a:cubicBezTo>
                  <a:cubicBezTo>
                    <a:pt x="638" y="273"/>
                    <a:pt x="554" y="273"/>
                    <a:pt x="554"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9" name="Freeform 38">
              <a:extLst>
                <a:ext uri="{FF2B5EF4-FFF2-40B4-BE49-F238E27FC236}">
                  <a16:creationId xmlns:a16="http://schemas.microsoft.com/office/drawing/2014/main" xmlns="" id="{443598C0-BD9C-4522-87F3-C9C8F628EF08}"/>
                </a:ext>
              </a:extLst>
            </p:cNvPr>
            <p:cNvSpPr>
              <a:spLocks/>
            </p:cNvSpPr>
            <p:nvPr/>
          </p:nvSpPr>
          <p:spPr bwMode="auto">
            <a:xfrm>
              <a:off x="-27444701" y="-2163763"/>
              <a:ext cx="3182938" cy="2136775"/>
            </a:xfrm>
            <a:custGeom>
              <a:avLst/>
              <a:gdLst>
                <a:gd name="T0" fmla="*/ 846 w 1067"/>
                <a:gd name="T1" fmla="*/ 102 h 717"/>
                <a:gd name="T2" fmla="*/ 980 w 1067"/>
                <a:gd name="T3" fmla="*/ 329 h 717"/>
                <a:gd name="T4" fmla="*/ 981 w 1067"/>
                <a:gd name="T5" fmla="*/ 479 h 717"/>
                <a:gd name="T6" fmla="*/ 981 w 1067"/>
                <a:gd name="T7" fmla="*/ 558 h 717"/>
                <a:gd name="T8" fmla="*/ 961 w 1067"/>
                <a:gd name="T9" fmla="*/ 617 h 717"/>
                <a:gd name="T10" fmla="*/ 882 w 1067"/>
                <a:gd name="T11" fmla="*/ 633 h 717"/>
                <a:gd name="T12" fmla="*/ 213 w 1067"/>
                <a:gd name="T13" fmla="*/ 633 h 717"/>
                <a:gd name="T14" fmla="*/ 152 w 1067"/>
                <a:gd name="T15" fmla="*/ 633 h 717"/>
                <a:gd name="T16" fmla="*/ 89 w 1067"/>
                <a:gd name="T17" fmla="*/ 571 h 717"/>
                <a:gd name="T18" fmla="*/ 89 w 1067"/>
                <a:gd name="T19" fmla="*/ 523 h 717"/>
                <a:gd name="T20" fmla="*/ 89 w 1067"/>
                <a:gd name="T21" fmla="*/ 355 h 717"/>
                <a:gd name="T22" fmla="*/ 172 w 1067"/>
                <a:gd name="T23" fmla="*/ 144 h 717"/>
                <a:gd name="T24" fmla="*/ 222 w 1067"/>
                <a:gd name="T25" fmla="*/ 103 h 717"/>
                <a:gd name="T26" fmla="*/ 179 w 1067"/>
                <a:gd name="T27" fmla="*/ 31 h 717"/>
                <a:gd name="T28" fmla="*/ 12 w 1067"/>
                <a:gd name="T29" fmla="*/ 276 h 717"/>
                <a:gd name="T30" fmla="*/ 5 w 1067"/>
                <a:gd name="T31" fmla="*/ 447 h 717"/>
                <a:gd name="T32" fmla="*/ 9 w 1067"/>
                <a:gd name="T33" fmla="*/ 604 h 717"/>
                <a:gd name="T34" fmla="*/ 161 w 1067"/>
                <a:gd name="T35" fmla="*/ 717 h 717"/>
                <a:gd name="T36" fmla="*/ 804 w 1067"/>
                <a:gd name="T37" fmla="*/ 717 h 717"/>
                <a:gd name="T38" fmla="*/ 907 w 1067"/>
                <a:gd name="T39" fmla="*/ 717 h 717"/>
                <a:gd name="T40" fmla="*/ 1058 w 1067"/>
                <a:gd name="T41" fmla="*/ 614 h 717"/>
                <a:gd name="T42" fmla="*/ 1065 w 1067"/>
                <a:gd name="T43" fmla="*/ 544 h 717"/>
                <a:gd name="T44" fmla="*/ 1065 w 1067"/>
                <a:gd name="T45" fmla="*/ 455 h 717"/>
                <a:gd name="T46" fmla="*/ 1060 w 1067"/>
                <a:gd name="T47" fmla="*/ 287 h 717"/>
                <a:gd name="T48" fmla="*/ 888 w 1067"/>
                <a:gd name="T49" fmla="*/ 29 h 717"/>
                <a:gd name="T50" fmla="*/ 846 w 1067"/>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7" h="717">
                  <a:moveTo>
                    <a:pt x="846" y="102"/>
                  </a:moveTo>
                  <a:cubicBezTo>
                    <a:pt x="924" y="152"/>
                    <a:pt x="974" y="236"/>
                    <a:pt x="980" y="329"/>
                  </a:cubicBezTo>
                  <a:cubicBezTo>
                    <a:pt x="983" y="379"/>
                    <a:pt x="981" y="429"/>
                    <a:pt x="981" y="479"/>
                  </a:cubicBezTo>
                  <a:cubicBezTo>
                    <a:pt x="981" y="505"/>
                    <a:pt x="981" y="532"/>
                    <a:pt x="981" y="558"/>
                  </a:cubicBezTo>
                  <a:cubicBezTo>
                    <a:pt x="981" y="582"/>
                    <a:pt x="978" y="600"/>
                    <a:pt x="961" y="617"/>
                  </a:cubicBezTo>
                  <a:cubicBezTo>
                    <a:pt x="940" y="637"/>
                    <a:pt x="910" y="633"/>
                    <a:pt x="882" y="633"/>
                  </a:cubicBezTo>
                  <a:cubicBezTo>
                    <a:pt x="659" y="633"/>
                    <a:pt x="436" y="633"/>
                    <a:pt x="213" y="633"/>
                  </a:cubicBezTo>
                  <a:cubicBezTo>
                    <a:pt x="193" y="633"/>
                    <a:pt x="172" y="633"/>
                    <a:pt x="152" y="633"/>
                  </a:cubicBezTo>
                  <a:cubicBezTo>
                    <a:pt x="117" y="633"/>
                    <a:pt x="90" y="605"/>
                    <a:pt x="89" y="571"/>
                  </a:cubicBezTo>
                  <a:cubicBezTo>
                    <a:pt x="89" y="555"/>
                    <a:pt x="89" y="539"/>
                    <a:pt x="89" y="523"/>
                  </a:cubicBezTo>
                  <a:cubicBezTo>
                    <a:pt x="89" y="467"/>
                    <a:pt x="89" y="411"/>
                    <a:pt x="89" y="355"/>
                  </a:cubicBezTo>
                  <a:cubicBezTo>
                    <a:pt x="89" y="275"/>
                    <a:pt x="117" y="201"/>
                    <a:pt x="172" y="144"/>
                  </a:cubicBezTo>
                  <a:cubicBezTo>
                    <a:pt x="187" y="128"/>
                    <a:pt x="204" y="115"/>
                    <a:pt x="222" y="103"/>
                  </a:cubicBezTo>
                  <a:cubicBezTo>
                    <a:pt x="267" y="74"/>
                    <a:pt x="225" y="1"/>
                    <a:pt x="179" y="31"/>
                  </a:cubicBezTo>
                  <a:cubicBezTo>
                    <a:pt x="93" y="87"/>
                    <a:pt x="32" y="174"/>
                    <a:pt x="12" y="276"/>
                  </a:cubicBezTo>
                  <a:cubicBezTo>
                    <a:pt x="1" y="332"/>
                    <a:pt x="5" y="391"/>
                    <a:pt x="5" y="447"/>
                  </a:cubicBezTo>
                  <a:cubicBezTo>
                    <a:pt x="5" y="498"/>
                    <a:pt x="0" y="553"/>
                    <a:pt x="9" y="604"/>
                  </a:cubicBezTo>
                  <a:cubicBezTo>
                    <a:pt x="22" y="675"/>
                    <a:pt x="92" y="717"/>
                    <a:pt x="161" y="717"/>
                  </a:cubicBezTo>
                  <a:cubicBezTo>
                    <a:pt x="375" y="717"/>
                    <a:pt x="590" y="717"/>
                    <a:pt x="804" y="717"/>
                  </a:cubicBezTo>
                  <a:cubicBezTo>
                    <a:pt x="839" y="717"/>
                    <a:pt x="873" y="717"/>
                    <a:pt x="907" y="717"/>
                  </a:cubicBezTo>
                  <a:cubicBezTo>
                    <a:pt x="977" y="717"/>
                    <a:pt x="1035" y="681"/>
                    <a:pt x="1058" y="614"/>
                  </a:cubicBezTo>
                  <a:cubicBezTo>
                    <a:pt x="1066" y="592"/>
                    <a:pt x="1065" y="568"/>
                    <a:pt x="1065" y="544"/>
                  </a:cubicBezTo>
                  <a:cubicBezTo>
                    <a:pt x="1065" y="515"/>
                    <a:pt x="1065" y="485"/>
                    <a:pt x="1065" y="455"/>
                  </a:cubicBezTo>
                  <a:cubicBezTo>
                    <a:pt x="1065" y="399"/>
                    <a:pt x="1067" y="343"/>
                    <a:pt x="1060" y="287"/>
                  </a:cubicBezTo>
                  <a:cubicBezTo>
                    <a:pt x="1045" y="181"/>
                    <a:pt x="977" y="86"/>
                    <a:pt x="888" y="29"/>
                  </a:cubicBezTo>
                  <a:cubicBezTo>
                    <a:pt x="842" y="0"/>
                    <a:pt x="800"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0" name="Freeform 39">
              <a:extLst>
                <a:ext uri="{FF2B5EF4-FFF2-40B4-BE49-F238E27FC236}">
                  <a16:creationId xmlns:a16="http://schemas.microsoft.com/office/drawing/2014/main" xmlns="" id="{426B4897-8470-4A76-9FA9-4E7CD62BFE0C}"/>
                </a:ext>
              </a:extLst>
            </p:cNvPr>
            <p:cNvSpPr>
              <a:spLocks/>
            </p:cNvSpPr>
            <p:nvPr/>
          </p:nvSpPr>
          <p:spPr bwMode="auto">
            <a:xfrm>
              <a:off x="-19121438" y="-3736976"/>
              <a:ext cx="1906588" cy="1978025"/>
            </a:xfrm>
            <a:custGeom>
              <a:avLst/>
              <a:gdLst>
                <a:gd name="T0" fmla="*/ 555 w 639"/>
                <a:gd name="T1" fmla="*/ 327 h 664"/>
                <a:gd name="T2" fmla="*/ 438 w 639"/>
                <a:gd name="T3" fmla="*/ 527 h 664"/>
                <a:gd name="T4" fmla="*/ 204 w 639"/>
                <a:gd name="T5" fmla="*/ 521 h 664"/>
                <a:gd name="T6" fmla="*/ 97 w 639"/>
                <a:gd name="T7" fmla="*/ 316 h 664"/>
                <a:gd name="T8" fmla="*/ 222 w 639"/>
                <a:gd name="T9" fmla="*/ 123 h 664"/>
                <a:gd name="T10" fmla="*/ 447 w 639"/>
                <a:gd name="T11" fmla="*/ 133 h 664"/>
                <a:gd name="T12" fmla="*/ 555 w 639"/>
                <a:gd name="T13" fmla="*/ 327 h 664"/>
                <a:gd name="T14" fmla="*/ 639 w 639"/>
                <a:gd name="T15" fmla="*/ 327 h 664"/>
                <a:gd name="T16" fmla="*/ 519 w 639"/>
                <a:gd name="T17" fmla="*/ 82 h 664"/>
                <a:gd name="T18" fmla="*/ 244 w 639"/>
                <a:gd name="T19" fmla="*/ 25 h 664"/>
                <a:gd name="T20" fmla="*/ 40 w 639"/>
                <a:gd name="T21" fmla="*/ 201 h 664"/>
                <a:gd name="T22" fmla="*/ 54 w 639"/>
                <a:gd name="T23" fmla="*/ 482 h 664"/>
                <a:gd name="T24" fmla="*/ 407 w 639"/>
                <a:gd name="T25" fmla="*/ 630 h 664"/>
                <a:gd name="T26" fmla="*/ 639 w 639"/>
                <a:gd name="T27" fmla="*/ 327 h 664"/>
                <a:gd name="T28" fmla="*/ 555 w 639"/>
                <a:gd name="T29" fmla="*/ 327 h 6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39" h="664">
                  <a:moveTo>
                    <a:pt x="555" y="327"/>
                  </a:moveTo>
                  <a:cubicBezTo>
                    <a:pt x="554" y="410"/>
                    <a:pt x="510" y="485"/>
                    <a:pt x="438" y="527"/>
                  </a:cubicBezTo>
                  <a:cubicBezTo>
                    <a:pt x="366" y="569"/>
                    <a:pt x="275" y="564"/>
                    <a:pt x="204" y="521"/>
                  </a:cubicBezTo>
                  <a:cubicBezTo>
                    <a:pt x="133" y="478"/>
                    <a:pt x="95" y="398"/>
                    <a:pt x="97" y="316"/>
                  </a:cubicBezTo>
                  <a:cubicBezTo>
                    <a:pt x="100" y="234"/>
                    <a:pt x="151" y="161"/>
                    <a:pt x="222" y="123"/>
                  </a:cubicBezTo>
                  <a:cubicBezTo>
                    <a:pt x="293" y="86"/>
                    <a:pt x="380" y="92"/>
                    <a:pt x="447" y="133"/>
                  </a:cubicBezTo>
                  <a:cubicBezTo>
                    <a:pt x="514" y="174"/>
                    <a:pt x="554" y="250"/>
                    <a:pt x="555" y="327"/>
                  </a:cubicBezTo>
                  <a:cubicBezTo>
                    <a:pt x="555" y="381"/>
                    <a:pt x="639" y="382"/>
                    <a:pt x="639" y="327"/>
                  </a:cubicBezTo>
                  <a:cubicBezTo>
                    <a:pt x="638" y="232"/>
                    <a:pt x="595" y="141"/>
                    <a:pt x="519" y="82"/>
                  </a:cubicBezTo>
                  <a:cubicBezTo>
                    <a:pt x="441" y="21"/>
                    <a:pt x="340" y="0"/>
                    <a:pt x="244" y="25"/>
                  </a:cubicBezTo>
                  <a:cubicBezTo>
                    <a:pt x="154" y="48"/>
                    <a:pt x="77" y="116"/>
                    <a:pt x="40" y="201"/>
                  </a:cubicBezTo>
                  <a:cubicBezTo>
                    <a:pt x="0" y="292"/>
                    <a:pt x="5" y="395"/>
                    <a:pt x="54" y="482"/>
                  </a:cubicBezTo>
                  <a:cubicBezTo>
                    <a:pt x="123" y="606"/>
                    <a:pt x="272" y="664"/>
                    <a:pt x="407" y="630"/>
                  </a:cubicBezTo>
                  <a:cubicBezTo>
                    <a:pt x="543" y="595"/>
                    <a:pt x="637" y="466"/>
                    <a:pt x="639" y="327"/>
                  </a:cubicBezTo>
                  <a:cubicBezTo>
                    <a:pt x="639" y="273"/>
                    <a:pt x="555" y="273"/>
                    <a:pt x="555"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1" name="Freeform 40">
              <a:extLst>
                <a:ext uri="{FF2B5EF4-FFF2-40B4-BE49-F238E27FC236}">
                  <a16:creationId xmlns:a16="http://schemas.microsoft.com/office/drawing/2014/main" xmlns="" id="{08884941-111D-4BB6-BD63-1DA532A17165}"/>
                </a:ext>
              </a:extLst>
            </p:cNvPr>
            <p:cNvSpPr>
              <a:spLocks/>
            </p:cNvSpPr>
            <p:nvPr/>
          </p:nvSpPr>
          <p:spPr bwMode="auto">
            <a:xfrm>
              <a:off x="-19746913" y="-2163763"/>
              <a:ext cx="3186113" cy="2136775"/>
            </a:xfrm>
            <a:custGeom>
              <a:avLst/>
              <a:gdLst>
                <a:gd name="T0" fmla="*/ 846 w 1068"/>
                <a:gd name="T1" fmla="*/ 102 h 717"/>
                <a:gd name="T2" fmla="*/ 981 w 1068"/>
                <a:gd name="T3" fmla="*/ 329 h 717"/>
                <a:gd name="T4" fmla="*/ 981 w 1068"/>
                <a:gd name="T5" fmla="*/ 479 h 717"/>
                <a:gd name="T6" fmla="*/ 981 w 1068"/>
                <a:gd name="T7" fmla="*/ 558 h 717"/>
                <a:gd name="T8" fmla="*/ 961 w 1068"/>
                <a:gd name="T9" fmla="*/ 617 h 717"/>
                <a:gd name="T10" fmla="*/ 882 w 1068"/>
                <a:gd name="T11" fmla="*/ 633 h 717"/>
                <a:gd name="T12" fmla="*/ 214 w 1068"/>
                <a:gd name="T13" fmla="*/ 633 h 717"/>
                <a:gd name="T14" fmla="*/ 153 w 1068"/>
                <a:gd name="T15" fmla="*/ 633 h 717"/>
                <a:gd name="T16" fmla="*/ 90 w 1068"/>
                <a:gd name="T17" fmla="*/ 571 h 717"/>
                <a:gd name="T18" fmla="*/ 90 w 1068"/>
                <a:gd name="T19" fmla="*/ 523 h 717"/>
                <a:gd name="T20" fmla="*/ 90 w 1068"/>
                <a:gd name="T21" fmla="*/ 355 h 717"/>
                <a:gd name="T22" fmla="*/ 173 w 1068"/>
                <a:gd name="T23" fmla="*/ 144 h 717"/>
                <a:gd name="T24" fmla="*/ 222 w 1068"/>
                <a:gd name="T25" fmla="*/ 103 h 717"/>
                <a:gd name="T26" fmla="*/ 180 w 1068"/>
                <a:gd name="T27" fmla="*/ 31 h 717"/>
                <a:gd name="T28" fmla="*/ 13 w 1068"/>
                <a:gd name="T29" fmla="*/ 276 h 717"/>
                <a:gd name="T30" fmla="*/ 6 w 1068"/>
                <a:gd name="T31" fmla="*/ 447 h 717"/>
                <a:gd name="T32" fmla="*/ 10 w 1068"/>
                <a:gd name="T33" fmla="*/ 604 h 717"/>
                <a:gd name="T34" fmla="*/ 161 w 1068"/>
                <a:gd name="T35" fmla="*/ 717 h 717"/>
                <a:gd name="T36" fmla="*/ 805 w 1068"/>
                <a:gd name="T37" fmla="*/ 717 h 717"/>
                <a:gd name="T38" fmla="*/ 908 w 1068"/>
                <a:gd name="T39" fmla="*/ 717 h 717"/>
                <a:gd name="T40" fmla="*/ 1059 w 1068"/>
                <a:gd name="T41" fmla="*/ 614 h 717"/>
                <a:gd name="T42" fmla="*/ 1065 w 1068"/>
                <a:gd name="T43" fmla="*/ 544 h 717"/>
                <a:gd name="T44" fmla="*/ 1065 w 1068"/>
                <a:gd name="T45" fmla="*/ 455 h 717"/>
                <a:gd name="T46" fmla="*/ 1060 w 1068"/>
                <a:gd name="T47" fmla="*/ 287 h 717"/>
                <a:gd name="T48" fmla="*/ 889 w 1068"/>
                <a:gd name="T49" fmla="*/ 29 h 717"/>
                <a:gd name="T50" fmla="*/ 846 w 1068"/>
                <a:gd name="T51" fmla="*/ 102 h 7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068" h="717">
                  <a:moveTo>
                    <a:pt x="846" y="102"/>
                  </a:moveTo>
                  <a:cubicBezTo>
                    <a:pt x="924" y="152"/>
                    <a:pt x="975" y="236"/>
                    <a:pt x="981" y="329"/>
                  </a:cubicBezTo>
                  <a:cubicBezTo>
                    <a:pt x="984" y="379"/>
                    <a:pt x="981" y="429"/>
                    <a:pt x="981" y="479"/>
                  </a:cubicBezTo>
                  <a:cubicBezTo>
                    <a:pt x="981" y="505"/>
                    <a:pt x="981" y="532"/>
                    <a:pt x="981" y="558"/>
                  </a:cubicBezTo>
                  <a:cubicBezTo>
                    <a:pt x="981" y="582"/>
                    <a:pt x="978" y="600"/>
                    <a:pt x="961" y="617"/>
                  </a:cubicBezTo>
                  <a:cubicBezTo>
                    <a:pt x="941" y="637"/>
                    <a:pt x="911" y="633"/>
                    <a:pt x="882" y="633"/>
                  </a:cubicBezTo>
                  <a:cubicBezTo>
                    <a:pt x="659" y="633"/>
                    <a:pt x="437" y="633"/>
                    <a:pt x="214" y="633"/>
                  </a:cubicBezTo>
                  <a:cubicBezTo>
                    <a:pt x="193" y="633"/>
                    <a:pt x="173" y="633"/>
                    <a:pt x="153" y="633"/>
                  </a:cubicBezTo>
                  <a:cubicBezTo>
                    <a:pt x="118" y="633"/>
                    <a:pt x="91" y="605"/>
                    <a:pt x="90" y="571"/>
                  </a:cubicBezTo>
                  <a:cubicBezTo>
                    <a:pt x="89" y="555"/>
                    <a:pt x="90" y="539"/>
                    <a:pt x="90" y="523"/>
                  </a:cubicBezTo>
                  <a:cubicBezTo>
                    <a:pt x="90" y="467"/>
                    <a:pt x="90" y="411"/>
                    <a:pt x="90" y="355"/>
                  </a:cubicBezTo>
                  <a:cubicBezTo>
                    <a:pt x="90" y="275"/>
                    <a:pt x="117" y="201"/>
                    <a:pt x="173" y="144"/>
                  </a:cubicBezTo>
                  <a:cubicBezTo>
                    <a:pt x="188" y="128"/>
                    <a:pt x="204" y="115"/>
                    <a:pt x="222" y="103"/>
                  </a:cubicBezTo>
                  <a:cubicBezTo>
                    <a:pt x="267" y="74"/>
                    <a:pt x="225" y="1"/>
                    <a:pt x="180" y="31"/>
                  </a:cubicBezTo>
                  <a:cubicBezTo>
                    <a:pt x="94" y="87"/>
                    <a:pt x="32" y="174"/>
                    <a:pt x="13" y="276"/>
                  </a:cubicBezTo>
                  <a:cubicBezTo>
                    <a:pt x="2" y="332"/>
                    <a:pt x="6" y="391"/>
                    <a:pt x="6" y="447"/>
                  </a:cubicBezTo>
                  <a:cubicBezTo>
                    <a:pt x="6" y="498"/>
                    <a:pt x="0" y="553"/>
                    <a:pt x="10" y="604"/>
                  </a:cubicBezTo>
                  <a:cubicBezTo>
                    <a:pt x="23" y="675"/>
                    <a:pt x="93" y="717"/>
                    <a:pt x="161" y="717"/>
                  </a:cubicBezTo>
                  <a:cubicBezTo>
                    <a:pt x="376" y="717"/>
                    <a:pt x="590" y="717"/>
                    <a:pt x="805" y="717"/>
                  </a:cubicBezTo>
                  <a:cubicBezTo>
                    <a:pt x="839" y="717"/>
                    <a:pt x="874" y="717"/>
                    <a:pt x="908" y="717"/>
                  </a:cubicBezTo>
                  <a:cubicBezTo>
                    <a:pt x="978" y="717"/>
                    <a:pt x="1036" y="681"/>
                    <a:pt x="1059" y="614"/>
                  </a:cubicBezTo>
                  <a:cubicBezTo>
                    <a:pt x="1067" y="592"/>
                    <a:pt x="1065" y="568"/>
                    <a:pt x="1065" y="544"/>
                  </a:cubicBezTo>
                  <a:cubicBezTo>
                    <a:pt x="1065" y="515"/>
                    <a:pt x="1065" y="485"/>
                    <a:pt x="1065" y="455"/>
                  </a:cubicBezTo>
                  <a:cubicBezTo>
                    <a:pt x="1065" y="399"/>
                    <a:pt x="1068" y="343"/>
                    <a:pt x="1060" y="287"/>
                  </a:cubicBezTo>
                  <a:cubicBezTo>
                    <a:pt x="1046" y="181"/>
                    <a:pt x="978" y="86"/>
                    <a:pt x="889" y="29"/>
                  </a:cubicBezTo>
                  <a:cubicBezTo>
                    <a:pt x="843" y="0"/>
                    <a:pt x="801" y="72"/>
                    <a:pt x="846"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2" name="Freeform 41">
              <a:extLst>
                <a:ext uri="{FF2B5EF4-FFF2-40B4-BE49-F238E27FC236}">
                  <a16:creationId xmlns:a16="http://schemas.microsoft.com/office/drawing/2014/main" xmlns="" id="{0E89D6C0-E5F8-47FF-8190-4361ED777159}"/>
                </a:ext>
              </a:extLst>
            </p:cNvPr>
            <p:cNvSpPr>
              <a:spLocks/>
            </p:cNvSpPr>
            <p:nvPr/>
          </p:nvSpPr>
          <p:spPr bwMode="auto">
            <a:xfrm>
              <a:off x="-22120225" y="-5770563"/>
              <a:ext cx="250825" cy="2101850"/>
            </a:xfrm>
            <a:custGeom>
              <a:avLst/>
              <a:gdLst>
                <a:gd name="T0" fmla="*/ 0 w 84"/>
                <a:gd name="T1" fmla="*/ 54 h 705"/>
                <a:gd name="T2" fmla="*/ 0 w 84"/>
                <a:gd name="T3" fmla="*/ 631 h 705"/>
                <a:gd name="T4" fmla="*/ 0 w 84"/>
                <a:gd name="T5" fmla="*/ 650 h 705"/>
                <a:gd name="T6" fmla="*/ 84 w 84"/>
                <a:gd name="T7" fmla="*/ 650 h 705"/>
                <a:gd name="T8" fmla="*/ 84 w 84"/>
                <a:gd name="T9" fmla="*/ 73 h 705"/>
                <a:gd name="T10" fmla="*/ 84 w 84"/>
                <a:gd name="T11" fmla="*/ 54 h 705"/>
                <a:gd name="T12" fmla="*/ 0 w 84"/>
                <a:gd name="T13" fmla="*/ 54 h 705"/>
              </a:gdLst>
              <a:ahLst/>
              <a:cxnLst>
                <a:cxn ang="0">
                  <a:pos x="T0" y="T1"/>
                </a:cxn>
                <a:cxn ang="0">
                  <a:pos x="T2" y="T3"/>
                </a:cxn>
                <a:cxn ang="0">
                  <a:pos x="T4" y="T5"/>
                </a:cxn>
                <a:cxn ang="0">
                  <a:pos x="T6" y="T7"/>
                </a:cxn>
                <a:cxn ang="0">
                  <a:pos x="T8" y="T9"/>
                </a:cxn>
                <a:cxn ang="0">
                  <a:pos x="T10" y="T11"/>
                </a:cxn>
                <a:cxn ang="0">
                  <a:pos x="T12" y="T13"/>
                </a:cxn>
              </a:cxnLst>
              <a:rect l="0" t="0" r="r" b="b"/>
              <a:pathLst>
                <a:path w="84" h="705">
                  <a:moveTo>
                    <a:pt x="0" y="54"/>
                  </a:moveTo>
                  <a:cubicBezTo>
                    <a:pt x="0" y="247"/>
                    <a:pt x="0" y="439"/>
                    <a:pt x="0" y="631"/>
                  </a:cubicBezTo>
                  <a:cubicBezTo>
                    <a:pt x="0" y="638"/>
                    <a:pt x="0" y="644"/>
                    <a:pt x="0" y="650"/>
                  </a:cubicBezTo>
                  <a:cubicBezTo>
                    <a:pt x="0" y="705"/>
                    <a:pt x="84" y="705"/>
                    <a:pt x="84" y="650"/>
                  </a:cubicBezTo>
                  <a:cubicBezTo>
                    <a:pt x="84" y="458"/>
                    <a:pt x="84" y="266"/>
                    <a:pt x="84" y="73"/>
                  </a:cubicBezTo>
                  <a:cubicBezTo>
                    <a:pt x="84" y="67"/>
                    <a:pt x="84" y="61"/>
                    <a:pt x="84" y="54"/>
                  </a:cubicBezTo>
                  <a:cubicBezTo>
                    <a:pt x="84" y="0"/>
                    <a:pt x="0" y="0"/>
                    <a:pt x="0"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3" name="Freeform 42">
              <a:extLst>
                <a:ext uri="{FF2B5EF4-FFF2-40B4-BE49-F238E27FC236}">
                  <a16:creationId xmlns:a16="http://schemas.microsoft.com/office/drawing/2014/main" xmlns="" id="{F2B683ED-11A9-4ED1-A941-C7F0C5096E24}"/>
                </a:ext>
              </a:extLst>
            </p:cNvPr>
            <p:cNvSpPr>
              <a:spLocks/>
            </p:cNvSpPr>
            <p:nvPr/>
          </p:nvSpPr>
          <p:spPr bwMode="auto">
            <a:xfrm>
              <a:off x="-23742650" y="-4017963"/>
              <a:ext cx="1944688" cy="1266825"/>
            </a:xfrm>
            <a:custGeom>
              <a:avLst/>
              <a:gdLst>
                <a:gd name="T0" fmla="*/ 89 w 652"/>
                <a:gd name="T1" fmla="*/ 398 h 425"/>
                <a:gd name="T2" fmla="*/ 589 w 652"/>
                <a:gd name="T3" fmla="*/ 109 h 425"/>
                <a:gd name="T4" fmla="*/ 605 w 652"/>
                <a:gd name="T5" fmla="*/ 100 h 425"/>
                <a:gd name="T6" fmla="*/ 563 w 652"/>
                <a:gd name="T7" fmla="*/ 27 h 425"/>
                <a:gd name="T8" fmla="*/ 63 w 652"/>
                <a:gd name="T9" fmla="*/ 316 h 425"/>
                <a:gd name="T10" fmla="*/ 47 w 652"/>
                <a:gd name="T11" fmla="*/ 325 h 425"/>
                <a:gd name="T12" fmla="*/ 89 w 652"/>
                <a:gd name="T13" fmla="*/ 398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89" y="398"/>
                  </a:moveTo>
                  <a:cubicBezTo>
                    <a:pt x="256" y="302"/>
                    <a:pt x="422" y="205"/>
                    <a:pt x="589" y="109"/>
                  </a:cubicBezTo>
                  <a:cubicBezTo>
                    <a:pt x="594" y="106"/>
                    <a:pt x="600" y="103"/>
                    <a:pt x="605" y="100"/>
                  </a:cubicBezTo>
                  <a:cubicBezTo>
                    <a:pt x="652" y="73"/>
                    <a:pt x="610" y="0"/>
                    <a:pt x="563" y="27"/>
                  </a:cubicBezTo>
                  <a:cubicBezTo>
                    <a:pt x="396" y="123"/>
                    <a:pt x="230" y="219"/>
                    <a:pt x="63" y="316"/>
                  </a:cubicBezTo>
                  <a:cubicBezTo>
                    <a:pt x="58" y="319"/>
                    <a:pt x="52" y="322"/>
                    <a:pt x="47" y="325"/>
                  </a:cubicBezTo>
                  <a:cubicBezTo>
                    <a:pt x="0" y="352"/>
                    <a:pt x="42" y="425"/>
                    <a:pt x="89" y="3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sp>
          <p:nvSpPr>
            <p:cNvPr id="14" name="Freeform 43">
              <a:extLst>
                <a:ext uri="{FF2B5EF4-FFF2-40B4-BE49-F238E27FC236}">
                  <a16:creationId xmlns:a16="http://schemas.microsoft.com/office/drawing/2014/main" xmlns="" id="{5F24A4C5-7DDA-4711-B85E-9A4348702CB8}"/>
                </a:ext>
              </a:extLst>
            </p:cNvPr>
            <p:cNvSpPr>
              <a:spLocks/>
            </p:cNvSpPr>
            <p:nvPr/>
          </p:nvSpPr>
          <p:spPr bwMode="auto">
            <a:xfrm>
              <a:off x="-22191663" y="-4017963"/>
              <a:ext cx="1946275" cy="1266825"/>
            </a:xfrm>
            <a:custGeom>
              <a:avLst/>
              <a:gdLst>
                <a:gd name="T0" fmla="*/ 605 w 652"/>
                <a:gd name="T1" fmla="*/ 325 h 425"/>
                <a:gd name="T2" fmla="*/ 106 w 652"/>
                <a:gd name="T3" fmla="*/ 37 h 425"/>
                <a:gd name="T4" fmla="*/ 89 w 652"/>
                <a:gd name="T5" fmla="*/ 27 h 425"/>
                <a:gd name="T6" fmla="*/ 47 w 652"/>
                <a:gd name="T7" fmla="*/ 100 h 425"/>
                <a:gd name="T8" fmla="*/ 546 w 652"/>
                <a:gd name="T9" fmla="*/ 388 h 425"/>
                <a:gd name="T10" fmla="*/ 563 w 652"/>
                <a:gd name="T11" fmla="*/ 398 h 425"/>
                <a:gd name="T12" fmla="*/ 605 w 652"/>
                <a:gd name="T13" fmla="*/ 325 h 425"/>
              </a:gdLst>
              <a:ahLst/>
              <a:cxnLst>
                <a:cxn ang="0">
                  <a:pos x="T0" y="T1"/>
                </a:cxn>
                <a:cxn ang="0">
                  <a:pos x="T2" y="T3"/>
                </a:cxn>
                <a:cxn ang="0">
                  <a:pos x="T4" y="T5"/>
                </a:cxn>
                <a:cxn ang="0">
                  <a:pos x="T6" y="T7"/>
                </a:cxn>
                <a:cxn ang="0">
                  <a:pos x="T8" y="T9"/>
                </a:cxn>
                <a:cxn ang="0">
                  <a:pos x="T10" y="T11"/>
                </a:cxn>
                <a:cxn ang="0">
                  <a:pos x="T12" y="T13"/>
                </a:cxn>
              </a:cxnLst>
              <a:rect l="0" t="0" r="r" b="b"/>
              <a:pathLst>
                <a:path w="652" h="425">
                  <a:moveTo>
                    <a:pt x="605" y="325"/>
                  </a:moveTo>
                  <a:cubicBezTo>
                    <a:pt x="439" y="229"/>
                    <a:pt x="272" y="133"/>
                    <a:pt x="106" y="37"/>
                  </a:cubicBezTo>
                  <a:cubicBezTo>
                    <a:pt x="100" y="33"/>
                    <a:pt x="95" y="30"/>
                    <a:pt x="89" y="27"/>
                  </a:cubicBezTo>
                  <a:cubicBezTo>
                    <a:pt x="42" y="0"/>
                    <a:pt x="0" y="73"/>
                    <a:pt x="47" y="100"/>
                  </a:cubicBezTo>
                  <a:cubicBezTo>
                    <a:pt x="213" y="196"/>
                    <a:pt x="380" y="292"/>
                    <a:pt x="546" y="388"/>
                  </a:cubicBezTo>
                  <a:cubicBezTo>
                    <a:pt x="552" y="391"/>
                    <a:pt x="557" y="395"/>
                    <a:pt x="563" y="398"/>
                  </a:cubicBezTo>
                  <a:cubicBezTo>
                    <a:pt x="610" y="425"/>
                    <a:pt x="652" y="352"/>
                    <a:pt x="605" y="3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002060"/>
                </a:solidFill>
              </a:endParaRPr>
            </a:p>
          </p:txBody>
        </p:sp>
      </p:grpSp>
      <p:sp>
        <p:nvSpPr>
          <p:cNvPr id="3" name="TextBox 2">
            <a:extLst>
              <a:ext uri="{FF2B5EF4-FFF2-40B4-BE49-F238E27FC236}">
                <a16:creationId xmlns:a16="http://schemas.microsoft.com/office/drawing/2014/main" xmlns="" id="{9436B850-15F2-41BC-A54E-6E0F332F011D}"/>
              </a:ext>
            </a:extLst>
          </p:cNvPr>
          <p:cNvSpPr txBox="1"/>
          <p:nvPr/>
        </p:nvSpPr>
        <p:spPr>
          <a:xfrm>
            <a:off x="733192" y="4331033"/>
            <a:ext cx="4845708" cy="830997"/>
          </a:xfrm>
          <a:prstGeom prst="rect">
            <a:avLst/>
          </a:prstGeom>
          <a:noFill/>
        </p:spPr>
        <p:txBody>
          <a:bodyPr wrap="square" lIns="0" tIns="0" rIns="0" bIns="0" rtlCol="0">
            <a:spAutoFit/>
          </a:bodyPr>
          <a:lstStyle/>
          <a:p>
            <a:r>
              <a:rPr lang="en-US" sz="5400" b="1" dirty="0">
                <a:solidFill>
                  <a:srgbClr val="002060"/>
                </a:solidFill>
                <a:latin typeface="Segoe UI" panose="020B0502040204020203" pitchFamily="34" charset="0"/>
                <a:cs typeface="Segoe UI" panose="020B0502040204020203" pitchFamily="34" charset="0"/>
              </a:rPr>
              <a:t>Thank You</a:t>
            </a:r>
          </a:p>
        </p:txBody>
      </p:sp>
      <p:sp>
        <p:nvSpPr>
          <p:cNvPr id="4" name="Rectangle 3">
            <a:extLst>
              <a:ext uri="{FF2B5EF4-FFF2-40B4-BE49-F238E27FC236}">
                <a16:creationId xmlns:a16="http://schemas.microsoft.com/office/drawing/2014/main" xmlns="" id="{A9B74FAF-1757-48A8-BBFB-722E8E1D6FA4}"/>
              </a:ext>
            </a:extLst>
          </p:cNvPr>
          <p:cNvSpPr/>
          <p:nvPr/>
        </p:nvSpPr>
        <p:spPr>
          <a:xfrm>
            <a:off x="733192" y="5358396"/>
            <a:ext cx="3536195" cy="246221"/>
          </a:xfrm>
          <a:prstGeom prst="rect">
            <a:avLst/>
          </a:prstGeom>
        </p:spPr>
        <p:txBody>
          <a:bodyPr wrap="square" lIns="0" tIns="0" rIns="0" bIns="0" anchor="t">
            <a:spAutoFit/>
          </a:bodyPr>
          <a:lstStyle/>
          <a:p>
            <a:endParaRPr lang="en-US" sz="1600" dirty="0">
              <a:solidFill>
                <a:srgbClr val="000000"/>
              </a:solidFill>
              <a:latin typeface="+mj-lt"/>
              <a:ea typeface="Calibri Light"/>
              <a:cs typeface="Calibri Light"/>
            </a:endParaRPr>
          </a:p>
        </p:txBody>
      </p:sp>
      <p:grpSp>
        <p:nvGrpSpPr>
          <p:cNvPr id="23" name="Group 22" descr="This image is of an abstract shape. ">
            <a:extLst>
              <a:ext uri="{FF2B5EF4-FFF2-40B4-BE49-F238E27FC236}">
                <a16:creationId xmlns:a16="http://schemas.microsoft.com/office/drawing/2014/main" xmlns="" id="{C5C1EC81-7459-4B76-B0C8-CF221BB21A2F}"/>
              </a:ext>
            </a:extLst>
          </p:cNvPr>
          <p:cNvGrpSpPr/>
          <p:nvPr/>
        </p:nvGrpSpPr>
        <p:grpSpPr>
          <a:xfrm>
            <a:off x="4855953" y="-2833465"/>
            <a:ext cx="8948964" cy="12105059"/>
            <a:chOff x="4855953" y="-2833465"/>
            <a:chExt cx="8948964" cy="12105059"/>
          </a:xfrm>
        </p:grpSpPr>
        <p:sp>
          <p:nvSpPr>
            <p:cNvPr id="20" name="Freeform 10">
              <a:extLst>
                <a:ext uri="{FF2B5EF4-FFF2-40B4-BE49-F238E27FC236}">
                  <a16:creationId xmlns:a16="http://schemas.microsoft.com/office/drawing/2014/main" xmlns="" id="{6067105C-8C4E-4F4D-AF25-4E9E7FEE0199}"/>
                </a:ext>
              </a:extLst>
            </p:cNvPr>
            <p:cNvSpPr>
              <a:spLocks/>
            </p:cNvSpPr>
            <p:nvPr/>
          </p:nvSpPr>
          <p:spPr bwMode="auto">
            <a:xfrm rot="9420272">
              <a:off x="4855953" y="-2246936"/>
              <a:ext cx="8673602" cy="11518530"/>
            </a:xfrm>
            <a:custGeom>
              <a:avLst/>
              <a:gdLst>
                <a:gd name="T0" fmla="*/ 1166 w 2492"/>
                <a:gd name="T1" fmla="*/ 2419 h 3315"/>
                <a:gd name="T2" fmla="*/ 243 w 2492"/>
                <a:gd name="T3" fmla="*/ 912 h 3315"/>
                <a:gd name="T4" fmla="*/ 449 w 2492"/>
                <a:gd name="T5" fmla="*/ 15 h 3315"/>
                <a:gd name="T6" fmla="*/ 766 w 2492"/>
                <a:gd name="T7" fmla="*/ 302 h 3315"/>
                <a:gd name="T8" fmla="*/ 1651 w 2492"/>
                <a:gd name="T9" fmla="*/ 481 h 3315"/>
                <a:gd name="T10" fmla="*/ 2239 w 2492"/>
                <a:gd name="T11" fmla="*/ 1238 h 3315"/>
                <a:gd name="T12" fmla="*/ 2186 w 2492"/>
                <a:gd name="T13" fmla="*/ 2201 h 3315"/>
                <a:gd name="T14" fmla="*/ 2165 w 2492"/>
                <a:gd name="T15" fmla="*/ 2928 h 3315"/>
                <a:gd name="T16" fmla="*/ 1400 w 2492"/>
                <a:gd name="T17" fmla="*/ 3100 h 3315"/>
                <a:gd name="T18" fmla="*/ 1166 w 2492"/>
                <a:gd name="T19" fmla="*/ 2419 h 3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92" h="3315">
                  <a:moveTo>
                    <a:pt x="1166" y="2419"/>
                  </a:moveTo>
                  <a:cubicBezTo>
                    <a:pt x="1505" y="1277"/>
                    <a:pt x="486" y="1533"/>
                    <a:pt x="243" y="912"/>
                  </a:cubicBezTo>
                  <a:cubicBezTo>
                    <a:pt x="0" y="292"/>
                    <a:pt x="291" y="31"/>
                    <a:pt x="449" y="15"/>
                  </a:cubicBezTo>
                  <a:cubicBezTo>
                    <a:pt x="607" y="0"/>
                    <a:pt x="716" y="54"/>
                    <a:pt x="766" y="302"/>
                  </a:cubicBezTo>
                  <a:cubicBezTo>
                    <a:pt x="817" y="551"/>
                    <a:pt x="1312" y="508"/>
                    <a:pt x="1651" y="481"/>
                  </a:cubicBezTo>
                  <a:cubicBezTo>
                    <a:pt x="1989" y="454"/>
                    <a:pt x="2492" y="733"/>
                    <a:pt x="2239" y="1238"/>
                  </a:cubicBezTo>
                  <a:cubicBezTo>
                    <a:pt x="1986" y="1743"/>
                    <a:pt x="2000" y="1716"/>
                    <a:pt x="2186" y="2201"/>
                  </a:cubicBezTo>
                  <a:cubicBezTo>
                    <a:pt x="2372" y="2685"/>
                    <a:pt x="2165" y="2928"/>
                    <a:pt x="2165" y="2928"/>
                  </a:cubicBezTo>
                  <a:cubicBezTo>
                    <a:pt x="2165" y="2928"/>
                    <a:pt x="1791" y="3315"/>
                    <a:pt x="1400" y="3100"/>
                  </a:cubicBezTo>
                  <a:cubicBezTo>
                    <a:pt x="1008" y="2885"/>
                    <a:pt x="1166" y="2419"/>
                    <a:pt x="1166" y="2419"/>
                  </a:cubicBezTo>
                  <a:close/>
                </a:path>
              </a:pathLst>
            </a:custGeom>
            <a:gradFill>
              <a:gsLst>
                <a:gs pos="0">
                  <a:srgbClr val="80DEDE"/>
                </a:gs>
                <a:gs pos="53500">
                  <a:srgbClr val="85C1E7"/>
                </a:gs>
                <a:gs pos="100000">
                  <a:srgbClr val="878CFF"/>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1" name="Freeform 11">
              <a:extLst>
                <a:ext uri="{FF2B5EF4-FFF2-40B4-BE49-F238E27FC236}">
                  <a16:creationId xmlns:a16="http://schemas.microsoft.com/office/drawing/2014/main" xmlns="" id="{70B75532-3E3F-4E79-89ED-8E7671BB9C68}"/>
                </a:ext>
              </a:extLst>
            </p:cNvPr>
            <p:cNvSpPr>
              <a:spLocks/>
            </p:cNvSpPr>
            <p:nvPr/>
          </p:nvSpPr>
          <p:spPr bwMode="auto">
            <a:xfrm rot="9420272">
              <a:off x="5048022" y="-2833465"/>
              <a:ext cx="8756895" cy="10755934"/>
            </a:xfrm>
            <a:custGeom>
              <a:avLst/>
              <a:gdLst>
                <a:gd name="T0" fmla="*/ 1504 w 2516"/>
                <a:gd name="T1" fmla="*/ 2980 h 3095"/>
                <a:gd name="T2" fmla="*/ 2237 w 2516"/>
                <a:gd name="T3" fmla="*/ 2283 h 3095"/>
                <a:gd name="T4" fmla="*/ 1468 w 2516"/>
                <a:gd name="T5" fmla="*/ 1052 h 3095"/>
                <a:gd name="T6" fmla="*/ 979 w 2516"/>
                <a:gd name="T7" fmla="*/ 648 h 3095"/>
                <a:gd name="T8" fmla="*/ 411 w 2516"/>
                <a:gd name="T9" fmla="*/ 195 h 3095"/>
                <a:gd name="T10" fmla="*/ 397 w 2516"/>
                <a:gd name="T11" fmla="*/ 1117 h 3095"/>
                <a:gd name="T12" fmla="*/ 194 w 2516"/>
                <a:gd name="T13" fmla="*/ 1767 h 3095"/>
                <a:gd name="T14" fmla="*/ 866 w 2516"/>
                <a:gd name="T15" fmla="*/ 2349 h 3095"/>
                <a:gd name="T16" fmla="*/ 1275 w 2516"/>
                <a:gd name="T17" fmla="*/ 2766 h 3095"/>
                <a:gd name="T18" fmla="*/ 1504 w 2516"/>
                <a:gd name="T19" fmla="*/ 2980 h 30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16" h="3095">
                  <a:moveTo>
                    <a:pt x="1504" y="2980"/>
                  </a:moveTo>
                  <a:cubicBezTo>
                    <a:pt x="1504" y="2980"/>
                    <a:pt x="1958" y="3095"/>
                    <a:pt x="2237" y="2283"/>
                  </a:cubicBezTo>
                  <a:cubicBezTo>
                    <a:pt x="2516" y="1472"/>
                    <a:pt x="1745" y="1159"/>
                    <a:pt x="1468" y="1052"/>
                  </a:cubicBezTo>
                  <a:cubicBezTo>
                    <a:pt x="1191" y="945"/>
                    <a:pt x="1126" y="907"/>
                    <a:pt x="979" y="648"/>
                  </a:cubicBezTo>
                  <a:cubicBezTo>
                    <a:pt x="832" y="389"/>
                    <a:pt x="822" y="0"/>
                    <a:pt x="411" y="195"/>
                  </a:cubicBezTo>
                  <a:cubicBezTo>
                    <a:pt x="0" y="391"/>
                    <a:pt x="384" y="948"/>
                    <a:pt x="397" y="1117"/>
                  </a:cubicBezTo>
                  <a:cubicBezTo>
                    <a:pt x="411" y="1286"/>
                    <a:pt x="128" y="1580"/>
                    <a:pt x="194" y="1767"/>
                  </a:cubicBezTo>
                  <a:cubicBezTo>
                    <a:pt x="259" y="1954"/>
                    <a:pt x="273" y="2154"/>
                    <a:pt x="866" y="2349"/>
                  </a:cubicBezTo>
                  <a:cubicBezTo>
                    <a:pt x="866" y="2349"/>
                    <a:pt x="1186" y="2374"/>
                    <a:pt x="1275" y="2766"/>
                  </a:cubicBezTo>
                  <a:cubicBezTo>
                    <a:pt x="1275" y="2766"/>
                    <a:pt x="1340" y="2988"/>
                    <a:pt x="1504" y="2980"/>
                  </a:cubicBezTo>
                  <a:close/>
                </a:path>
              </a:pathLst>
            </a:custGeom>
            <a:gradFill>
              <a:gsLst>
                <a:gs pos="0">
                  <a:srgbClr val="7CEFD8"/>
                </a:gs>
                <a:gs pos="51000">
                  <a:srgbClr val="6672E4"/>
                </a:gs>
                <a:gs pos="100000">
                  <a:srgbClr val="882BE5"/>
                </a:gs>
              </a:gsLst>
              <a:lin ang="5400000" scaled="1"/>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22" name="Freeform 12">
              <a:extLst>
                <a:ext uri="{FF2B5EF4-FFF2-40B4-BE49-F238E27FC236}">
                  <a16:creationId xmlns:a16="http://schemas.microsoft.com/office/drawing/2014/main" xmlns="" id="{517F7404-4FD2-4A56-9BC1-55945A2E0042}"/>
                </a:ext>
              </a:extLst>
            </p:cNvPr>
            <p:cNvSpPr>
              <a:spLocks/>
            </p:cNvSpPr>
            <p:nvPr/>
          </p:nvSpPr>
          <p:spPr bwMode="auto">
            <a:xfrm rot="9420272">
              <a:off x="5218811" y="-1993836"/>
              <a:ext cx="7570428" cy="10122905"/>
            </a:xfrm>
            <a:custGeom>
              <a:avLst/>
              <a:gdLst>
                <a:gd name="T0" fmla="*/ 1896 w 2175"/>
                <a:gd name="T1" fmla="*/ 2283 h 2913"/>
                <a:gd name="T2" fmla="*/ 1467 w 2175"/>
                <a:gd name="T3" fmla="*/ 2913 h 2913"/>
                <a:gd name="T4" fmla="*/ 1250 w 2175"/>
                <a:gd name="T5" fmla="*/ 2849 h 2913"/>
                <a:gd name="T6" fmla="*/ 1016 w 2175"/>
                <a:gd name="T7" fmla="*/ 2168 h 2913"/>
                <a:gd name="T8" fmla="*/ 93 w 2175"/>
                <a:gd name="T9" fmla="*/ 661 h 2913"/>
                <a:gd name="T10" fmla="*/ 0 w 2175"/>
                <a:gd name="T11" fmla="*/ 238 h 2913"/>
                <a:gd name="T12" fmla="*/ 70 w 2175"/>
                <a:gd name="T13" fmla="*/ 195 h 2913"/>
                <a:gd name="T14" fmla="*/ 638 w 2175"/>
                <a:gd name="T15" fmla="*/ 648 h 2913"/>
                <a:gd name="T16" fmla="*/ 1127 w 2175"/>
                <a:gd name="T17" fmla="*/ 1052 h 2913"/>
                <a:gd name="T18" fmla="*/ 1896 w 2175"/>
                <a:gd name="T19" fmla="*/ 2283 h 2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75" h="2913">
                  <a:moveTo>
                    <a:pt x="1896" y="2283"/>
                  </a:moveTo>
                  <a:cubicBezTo>
                    <a:pt x="1770" y="2651"/>
                    <a:pt x="1607" y="2829"/>
                    <a:pt x="1467" y="2913"/>
                  </a:cubicBezTo>
                  <a:cubicBezTo>
                    <a:pt x="1397" y="2909"/>
                    <a:pt x="1324" y="2889"/>
                    <a:pt x="1250" y="2849"/>
                  </a:cubicBezTo>
                  <a:cubicBezTo>
                    <a:pt x="858" y="2634"/>
                    <a:pt x="1016" y="2168"/>
                    <a:pt x="1016" y="2168"/>
                  </a:cubicBezTo>
                  <a:cubicBezTo>
                    <a:pt x="1354" y="1026"/>
                    <a:pt x="336" y="1282"/>
                    <a:pt x="93" y="661"/>
                  </a:cubicBezTo>
                  <a:cubicBezTo>
                    <a:pt x="28" y="495"/>
                    <a:pt x="1" y="354"/>
                    <a:pt x="0" y="238"/>
                  </a:cubicBezTo>
                  <a:cubicBezTo>
                    <a:pt x="20" y="222"/>
                    <a:pt x="44" y="208"/>
                    <a:pt x="70" y="195"/>
                  </a:cubicBezTo>
                  <a:cubicBezTo>
                    <a:pt x="481" y="0"/>
                    <a:pt x="491" y="389"/>
                    <a:pt x="638" y="648"/>
                  </a:cubicBezTo>
                  <a:cubicBezTo>
                    <a:pt x="785" y="907"/>
                    <a:pt x="850" y="945"/>
                    <a:pt x="1127" y="1052"/>
                  </a:cubicBezTo>
                  <a:cubicBezTo>
                    <a:pt x="1404" y="1159"/>
                    <a:pt x="2175" y="1472"/>
                    <a:pt x="1896" y="2283"/>
                  </a:cubicBezTo>
                  <a:close/>
                </a:path>
              </a:pathLst>
            </a:custGeom>
            <a:gradFill>
              <a:gsLst>
                <a:gs pos="100000">
                  <a:srgbClr val="7CEFD8"/>
                </a:gs>
                <a:gs pos="19000">
                  <a:srgbClr val="6672E4"/>
                </a:gs>
                <a:gs pos="0">
                  <a:srgbClr val="882BE5"/>
                </a:gs>
              </a:gsLst>
              <a:lin ang="10200000" scaled="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3525685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33668227_win32_fixed" id="{17DD1A52-D3DE-4BC7-AB4E-5ED952CBB3F4}" vid="{D8C85220-06A0-4E3D-954C-BC12E2647B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271421E6-0B73-4301-8D1C-0131DB42FA7F}">
  <ds:schemaRefs>
    <ds:schemaRef ds:uri="http://schemas.microsoft.com/sharepoint/v3/contenttype/forms"/>
  </ds:schemaRefs>
</ds:datastoreItem>
</file>

<file path=customXml/itemProps2.xml><?xml version="1.0" encoding="utf-8"?>
<ds:datastoreItem xmlns:ds="http://schemas.openxmlformats.org/officeDocument/2006/customXml" ds:itemID="{10CA4BDF-ECBC-4F8E-8F31-E58428FA4B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9900F64-9193-44F8-BD63-E681103777C8}">
  <ds:schemaRefs>
    <ds:schemaRef ds:uri="http://schemas.openxmlformats.org/package/2006/metadata/core-properties"/>
    <ds:schemaRef ds:uri="71af3243-3dd4-4a8d-8c0d-dd76da1f02a5"/>
    <ds:schemaRef ds:uri="http://purl.org/dc/terms/"/>
    <ds:schemaRef ds:uri="http://schemas.microsoft.com/sharepoint/v3"/>
    <ds:schemaRef ds:uri="http://purl.org/dc/dcmitype/"/>
    <ds:schemaRef ds:uri="http://purl.org/dc/elements/1.1/"/>
    <ds:schemaRef ds:uri="http://schemas.microsoft.com/office/2006/metadata/properties"/>
    <ds:schemaRef ds:uri="http://schemas.microsoft.com/office/infopath/2007/PartnerControls"/>
    <ds:schemaRef ds:uri="http://schemas.microsoft.com/office/2006/documentManagement/types"/>
    <ds:schemaRef ds:uri="230e9df3-be65-4c73-a93b-d1236ebd677e"/>
    <ds:schemaRef ds:uri="16c05727-aa75-4e4a-9b5f-8a80a1165891"/>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279</TotalTime>
  <Words>1152</Words>
  <Application>Microsoft Office PowerPoint</Application>
  <PresentationFormat>Widescreen</PresentationFormat>
  <Paragraphs>228</Paragraphs>
  <Slides>25</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Angsana New</vt:lpstr>
      <vt:lpstr>Aptos Display</vt:lpstr>
      <vt:lpstr>Arial</vt:lpstr>
      <vt:lpstr>Calibri</vt:lpstr>
      <vt:lpstr>Calibri Light</vt:lpstr>
      <vt:lpstr>Segoe UI</vt:lpstr>
      <vt:lpstr>Office Theme</vt:lpstr>
      <vt:lpstr>Human resources slide 1</vt:lpstr>
      <vt:lpstr>Human resources slide 2</vt:lpstr>
      <vt:lpstr>Human resources slide 3</vt:lpstr>
      <vt:lpstr>Human resources slide 4</vt:lpstr>
      <vt:lpstr>Human resources slide 4</vt:lpstr>
      <vt:lpstr>Human resources slide 5</vt:lpstr>
      <vt:lpstr>DATASETS DESCRIPTION</vt:lpstr>
      <vt:lpstr>DATASETS DESCRIPTION</vt:lpstr>
      <vt:lpstr>DATASETS DESCRIPTION</vt:lpstr>
      <vt:lpstr>DATASETS DESCRIPTION</vt:lpstr>
      <vt:lpstr>Human resources slide 7</vt:lpstr>
      <vt:lpstr>PROJECT ARCHITECTURE </vt:lpstr>
      <vt:lpstr>Human resources slide 8</vt:lpstr>
      <vt:lpstr>Human resources slide 8</vt:lpstr>
      <vt:lpstr>WORKFLOW ORCHESTRATION</vt:lpstr>
      <vt:lpstr>WORKFLOW ORCHESTRATION</vt:lpstr>
      <vt:lpstr>WORKFLOW ORCHESTRATION</vt:lpstr>
      <vt:lpstr>VISUALIZATIONS</vt:lpstr>
      <vt:lpstr>VISUALIZATIONS</vt:lpstr>
      <vt:lpstr>VISUALIZATIONS</vt:lpstr>
      <vt:lpstr>VISUALIZATIONS</vt:lpstr>
      <vt:lpstr>USECASES</vt:lpstr>
      <vt:lpstr>LIMITATIONS</vt:lpstr>
      <vt:lpstr>CONCLUSION</vt:lpstr>
      <vt:lpstr>Human resources slide 10</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 resources slide 1</dc:title>
  <dc:creator>niharika kakumani</dc:creator>
  <cp:lastModifiedBy>niharika kakumani</cp:lastModifiedBy>
  <cp:revision>717</cp:revision>
  <dcterms:created xsi:type="dcterms:W3CDTF">2026-01-04T07:02:38Z</dcterms:created>
  <dcterms:modified xsi:type="dcterms:W3CDTF">2026-01-06T12:41:51Z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